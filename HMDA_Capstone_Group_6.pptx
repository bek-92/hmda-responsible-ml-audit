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3.xml"/>
  <Override ContentType="application/vnd.openxmlformats-officedocument.drawingml.chart+xml" PartName="/ppt/charts/chart2.xml"/>
  <Override ContentType="application/vnd.openxmlformats-officedocument.drawingml.chart+xml" PartName="/ppt/charts/chart4.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3" roundtripDataSignature="AMtx7miZ2w7DNOoIddE5iHrY2ykdV6xg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E8012B9-8EC4-40CB-9E28-2F91E47B8B41}">
  <a:tblStyle styleId="{DE8012B9-8EC4-40CB-9E28-2F91E47B8B41}"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customschemas.google.com/relationships/presentationmetadata" Target="meta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c:v>
                </c:pt>
              </c:strCache>
            </c:strRef>
          </c:tx>
          <c:spPr>
            <a:solidFill>
              <a:srgbClr val="1B6CA8"/>
            </a:solidFill>
            <a:effectLst/>
          </c:spPr>
          <c:invertIfNegative val="0"/>
          <c:dPt>
            <c:idx val="0"/>
            <c:invertIfNegative val="0"/>
            <c:bubble3D val="0"/>
            <c:extLst>
              <c:ext xmlns:c16="http://schemas.microsoft.com/office/drawing/2014/chart" uri="{C3380CC4-5D6E-409C-BE32-E72D297353CC}">
                <c16:uniqueId val="{00000001-F0F3-DB4F-A7A9-81940BFBF3F5}"/>
              </c:ext>
            </c:extLst>
          </c:dPt>
          <c:dPt>
            <c:idx val="1"/>
            <c:invertIfNegative val="0"/>
            <c:bubble3D val="0"/>
            <c:spPr>
              <a:solidFill>
                <a:srgbClr val="3A86C8"/>
              </a:solidFill>
              <a:effectLst/>
            </c:spPr>
            <c:extLst>
              <c:ext xmlns:c16="http://schemas.microsoft.com/office/drawing/2014/chart" uri="{C3380CC4-5D6E-409C-BE32-E72D297353CC}">
                <c16:uniqueId val="{00000003-F0F3-DB4F-A7A9-81940BFBF3F5}"/>
              </c:ext>
            </c:extLst>
          </c:dPt>
          <c:dPt>
            <c:idx val="2"/>
            <c:invertIfNegative val="0"/>
            <c:bubble3D val="0"/>
            <c:spPr>
              <a:solidFill>
                <a:srgbClr val="E8A020"/>
              </a:solidFill>
              <a:effectLst/>
            </c:spPr>
            <c:extLst>
              <c:ext xmlns:c16="http://schemas.microsoft.com/office/drawing/2014/chart" uri="{C3380CC4-5D6E-409C-BE32-E72D297353CC}">
                <c16:uniqueId val="{00000005-F0F3-DB4F-A7A9-81940BFBF3F5}"/>
              </c:ext>
            </c:extLst>
          </c:dPt>
          <c:dPt>
            <c:idx val="3"/>
            <c:invertIfNegative val="0"/>
            <c:bubble3D val="0"/>
            <c:spPr>
              <a:solidFill>
                <a:srgbClr val="4A6070"/>
              </a:solidFill>
              <a:effectLst/>
            </c:spPr>
            <c:extLst>
              <c:ext xmlns:c16="http://schemas.microsoft.com/office/drawing/2014/chart" uri="{C3380CC4-5D6E-409C-BE32-E72D297353CC}">
                <c16:uniqueId val="{00000007-F0F3-DB4F-A7A9-81940BFBF3F5}"/>
              </c:ext>
            </c:extLst>
          </c:dPt>
          <c:dPt>
            <c:idx val="4"/>
            <c:invertIfNegative val="0"/>
            <c:bubble3D val="0"/>
            <c:spPr>
              <a:solidFill>
                <a:srgbClr val="8096A8"/>
              </a:solidFill>
              <a:effectLst/>
            </c:spPr>
            <c:extLst>
              <c:ext xmlns:c16="http://schemas.microsoft.com/office/drawing/2014/chart" uri="{C3380CC4-5D6E-409C-BE32-E72D297353CC}">
                <c16:uniqueId val="{00000009-F0F3-DB4F-A7A9-81940BFBF3F5}"/>
              </c:ext>
            </c:extLst>
          </c:dPt>
          <c:dLbls>
            <c:numFmt formatCode="#,##0" sourceLinked="0"/>
            <c:spPr>
              <a:noFill/>
              <a:ln>
                <a:noFill/>
              </a:ln>
              <a:effectLst/>
            </c:spPr>
            <c:txPr>
              <a:bodyPr/>
              <a:lstStyle/>
              <a:p>
                <a:pPr>
                  <a:defRPr sz="9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White
(Non-Hisp.)</c:v>
                </c:pt>
                <c:pt idx="1">
                  <c:v>Hispanic</c:v>
                </c:pt>
                <c:pt idx="2">
                  <c:v>Black/AA</c:v>
                </c:pt>
                <c:pt idx="3">
                  <c:v>Asian</c:v>
                </c:pt>
                <c:pt idx="4">
                  <c:v>Other</c:v>
                </c:pt>
              </c:strCache>
            </c:strRef>
          </c:cat>
          <c:val>
            <c:numRef>
              <c:f>Sheet1!$B$2:$B$6</c:f>
              <c:numCache>
                <c:formatCode>General</c:formatCode>
                <c:ptCount val="5"/>
                <c:pt idx="0">
                  <c:v>61.75</c:v>
                </c:pt>
                <c:pt idx="1">
                  <c:v>15.37</c:v>
                </c:pt>
                <c:pt idx="2">
                  <c:v>13.29</c:v>
                </c:pt>
                <c:pt idx="3">
                  <c:v>8.06</c:v>
                </c:pt>
                <c:pt idx="4">
                  <c:v>1.53</c:v>
                </c:pt>
              </c:numCache>
            </c:numRef>
          </c:val>
          <c:extLst>
            <c:ext xmlns:c16="http://schemas.microsoft.com/office/drawing/2014/chart" uri="{C3380CC4-5D6E-409C-BE32-E72D297353CC}">
              <c16:uniqueId val="{0000000A-F0F3-DB4F-A7A9-81940BFBF3F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2"/>
        <c:crosses val="autoZero"/>
        <c:auto val="1"/>
        <c:lblAlgn val="ctr"/>
        <c:lblOffset val="100"/>
        <c:noMultiLvlLbl val="1"/>
      </c:catAx>
      <c:valAx>
        <c:axId val="2094734552"/>
        <c:scaling>
          <c:orientation val="minMax"/>
          <c:max val="7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FPR</c:v>
                </c:pt>
              </c:strCache>
            </c:strRef>
          </c:tx>
          <c:spPr>
            <a:solidFill>
              <a:srgbClr val="1B6CA8"/>
            </a:solidFill>
            <a:effectLst/>
          </c:spPr>
          <c:invertIfNegative val="0"/>
          <c:dLbls>
            <c:delete val="1"/>
          </c:dLbls>
          <c:cat>
            <c:strRef>
              <c:f>Sheet1!$A$2:$A$3</c:f>
              <c:strCache>
                <c:ptCount val="2"/>
                <c:pt idx="0">
                  <c:v>Male</c:v>
                </c:pt>
                <c:pt idx="1">
                  <c:v>Female</c:v>
                </c:pt>
              </c:strCache>
            </c:strRef>
          </c:cat>
          <c:val>
            <c:numRef>
              <c:f>Sheet1!$B$2:$B$3</c:f>
              <c:numCache>
                <c:formatCode>General</c:formatCode>
                <c:ptCount val="2"/>
                <c:pt idx="0">
                  <c:v>0.22700000000000001</c:v>
                </c:pt>
                <c:pt idx="1">
                  <c:v>0.186</c:v>
                </c:pt>
              </c:numCache>
            </c:numRef>
          </c:val>
          <c:extLst>
            <c:ext xmlns:c16="http://schemas.microsoft.com/office/drawing/2014/chart" uri="{C3380CC4-5D6E-409C-BE32-E72D297353CC}">
              <c16:uniqueId val="{00000000-C555-0340-8E99-17D68E4A60D6}"/>
            </c:ext>
          </c:extLst>
        </c:ser>
        <c:ser>
          <c:idx val="1"/>
          <c:order val="1"/>
          <c:tx>
            <c:strRef>
              <c:f>Sheet1!$C$1</c:f>
              <c:strCache>
                <c:ptCount val="1"/>
                <c:pt idx="0">
                  <c:v>FNR</c:v>
                </c:pt>
              </c:strCache>
            </c:strRef>
          </c:tx>
          <c:spPr>
            <a:solidFill>
              <a:srgbClr val="E8A020"/>
            </a:solidFill>
            <a:effectLst/>
          </c:spPr>
          <c:invertIfNegative val="0"/>
          <c:dLbls>
            <c:delete val="1"/>
          </c:dLbls>
          <c:cat>
            <c:strRef>
              <c:f>Sheet1!$A$2:$A$3</c:f>
              <c:strCache>
                <c:ptCount val="2"/>
                <c:pt idx="0">
                  <c:v>Male</c:v>
                </c:pt>
                <c:pt idx="1">
                  <c:v>Female</c:v>
                </c:pt>
              </c:strCache>
            </c:strRef>
          </c:cat>
          <c:val>
            <c:numRef>
              <c:f>Sheet1!$C$2:$C$3</c:f>
              <c:numCache>
                <c:formatCode>General</c:formatCode>
                <c:ptCount val="2"/>
                <c:pt idx="0">
                  <c:v>0.29699999999999999</c:v>
                </c:pt>
                <c:pt idx="1">
                  <c:v>0.318</c:v>
                </c:pt>
              </c:numCache>
            </c:numRef>
          </c:val>
          <c:extLst>
            <c:ext xmlns:c16="http://schemas.microsoft.com/office/drawing/2014/chart" uri="{C3380CC4-5D6E-409C-BE32-E72D297353CC}">
              <c16:uniqueId val="{00000001-C555-0340-8E99-17D68E4A60D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2"/>
        <c:crosses val="autoZero"/>
        <c:auto val="1"/>
        <c:lblAlgn val="ctr"/>
        <c:lblOffset val="100"/>
        <c:noMultiLvlLbl val="1"/>
      </c:catAx>
      <c:valAx>
        <c:axId val="2094734552"/>
        <c:scaling>
          <c:orientation val="minMax"/>
          <c:max val="0.4"/>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AIR</c:v>
                </c:pt>
              </c:strCache>
            </c:strRef>
          </c:tx>
          <c:spPr>
            <a:solidFill>
              <a:srgbClr val="3A86C8"/>
            </a:solidFill>
            <a:effectLst/>
          </c:spPr>
          <c:invertIfNegative val="0"/>
          <c:dPt>
            <c:idx val="0"/>
            <c:invertIfNegative val="0"/>
            <c:bubble3D val="0"/>
            <c:extLst>
              <c:ext xmlns:c16="http://schemas.microsoft.com/office/drawing/2014/chart" uri="{C3380CC4-5D6E-409C-BE32-E72D297353CC}">
                <c16:uniqueId val="{00000001-A1C4-C544-A482-D06C7A5B0F05}"/>
              </c:ext>
            </c:extLst>
          </c:dPt>
          <c:dPt>
            <c:idx val="1"/>
            <c:invertIfNegative val="0"/>
            <c:bubble3D val="0"/>
            <c:extLst>
              <c:ext xmlns:c16="http://schemas.microsoft.com/office/drawing/2014/chart" uri="{C3380CC4-5D6E-409C-BE32-E72D297353CC}">
                <c16:uniqueId val="{00000003-A1C4-C544-A482-D06C7A5B0F05}"/>
              </c:ext>
            </c:extLst>
          </c:dPt>
          <c:dPt>
            <c:idx val="2"/>
            <c:invertIfNegative val="0"/>
            <c:bubble3D val="0"/>
            <c:extLst>
              <c:ext xmlns:c16="http://schemas.microsoft.com/office/drawing/2014/chart" uri="{C3380CC4-5D6E-409C-BE32-E72D297353CC}">
                <c16:uniqueId val="{00000005-A1C4-C544-A482-D06C7A5B0F05}"/>
              </c:ext>
            </c:extLst>
          </c:dPt>
          <c:dPt>
            <c:idx val="3"/>
            <c:invertIfNegative val="0"/>
            <c:bubble3D val="0"/>
            <c:spPr>
              <a:solidFill>
                <a:srgbClr val="1B6CA8"/>
              </a:solidFill>
              <a:effectLst/>
            </c:spPr>
            <c:extLst>
              <c:ext xmlns:c16="http://schemas.microsoft.com/office/drawing/2014/chart" uri="{C3380CC4-5D6E-409C-BE32-E72D297353CC}">
                <c16:uniqueId val="{00000007-A1C4-C544-A482-D06C7A5B0F05}"/>
              </c:ext>
            </c:extLst>
          </c:dPt>
          <c:dPt>
            <c:idx val="4"/>
            <c:invertIfNegative val="0"/>
            <c:bubble3D val="0"/>
            <c:spPr>
              <a:solidFill>
                <a:srgbClr val="E8A020"/>
              </a:solidFill>
              <a:effectLst/>
            </c:spPr>
            <c:extLst>
              <c:ext xmlns:c16="http://schemas.microsoft.com/office/drawing/2014/chart" uri="{C3380CC4-5D6E-409C-BE32-E72D297353CC}">
                <c16:uniqueId val="{00000009-A1C4-C544-A482-D06C7A5B0F05}"/>
              </c:ext>
            </c:extLst>
          </c:dPt>
          <c:dPt>
            <c:idx val="5"/>
            <c:invertIfNegative val="0"/>
            <c:bubble3D val="0"/>
            <c:spPr>
              <a:solidFill>
                <a:srgbClr val="C0392B"/>
              </a:solidFill>
              <a:effectLst/>
            </c:spPr>
            <c:extLst>
              <c:ext xmlns:c16="http://schemas.microsoft.com/office/drawing/2014/chart" uri="{C3380CC4-5D6E-409C-BE32-E72D297353CC}">
                <c16:uniqueId val="{0000000B-A1C4-C544-A482-D06C7A5B0F05}"/>
              </c:ext>
            </c:extLst>
          </c:dPt>
          <c:dPt>
            <c:idx val="6"/>
            <c:invertIfNegative val="0"/>
            <c:bubble3D val="0"/>
            <c:spPr>
              <a:solidFill>
                <a:srgbClr val="C0392B"/>
              </a:solidFill>
              <a:effectLst/>
            </c:spPr>
            <c:extLst>
              <c:ext xmlns:c16="http://schemas.microsoft.com/office/drawing/2014/chart" uri="{C3380CC4-5D6E-409C-BE32-E72D297353CC}">
                <c16:uniqueId val="{0000000D-A1C4-C544-A482-D06C7A5B0F05}"/>
              </c:ext>
            </c:extLst>
          </c:dPt>
          <c:dLbls>
            <c:delete val="1"/>
          </c:dLbls>
          <c:cat>
            <c:strRef>
              <c:f>Sheet1!$A$2:$A$8</c:f>
              <c:strCache>
                <c:ptCount val="7"/>
                <c:pt idx="0">
                  <c:v>&lt;25</c:v>
                </c:pt>
                <c:pt idx="1">
                  <c:v>25-34</c:v>
                </c:pt>
                <c:pt idx="2">
                  <c:v>35-44</c:v>
                </c:pt>
                <c:pt idx="3">
                  <c:v>45-54
(Ref)</c:v>
                </c:pt>
                <c:pt idx="4">
                  <c:v>55-64</c:v>
                </c:pt>
                <c:pt idx="5">
                  <c:v>65-74</c:v>
                </c:pt>
                <c:pt idx="6">
                  <c:v>&gt;74</c:v>
                </c:pt>
              </c:strCache>
            </c:strRef>
          </c:cat>
          <c:val>
            <c:numRef>
              <c:f>Sheet1!$B$2:$B$8</c:f>
              <c:numCache>
                <c:formatCode>General</c:formatCode>
                <c:ptCount val="7"/>
                <c:pt idx="0">
                  <c:v>1.0509999999999999</c:v>
                </c:pt>
                <c:pt idx="1">
                  <c:v>1.0580000000000001</c:v>
                </c:pt>
                <c:pt idx="2">
                  <c:v>1.0229999999999999</c:v>
                </c:pt>
                <c:pt idx="3">
                  <c:v>1</c:v>
                </c:pt>
                <c:pt idx="4">
                  <c:v>0.97099999999999997</c:v>
                </c:pt>
                <c:pt idx="5">
                  <c:v>0.93400000000000005</c:v>
                </c:pt>
                <c:pt idx="6">
                  <c:v>0.89800000000000002</c:v>
                </c:pt>
              </c:numCache>
            </c:numRef>
          </c:val>
          <c:extLst>
            <c:ext xmlns:c16="http://schemas.microsoft.com/office/drawing/2014/chart" uri="{C3380CC4-5D6E-409C-BE32-E72D297353CC}">
              <c16:uniqueId val="{0000000E-A1C4-C544-A482-D06C7A5B0F0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2"/>
        <c:crosses val="autoZero"/>
        <c:auto val="1"/>
        <c:lblAlgn val="ctr"/>
        <c:lblOffset val="100"/>
        <c:noMultiLvlLbl val="1"/>
      </c:catAx>
      <c:valAx>
        <c:axId val="2094734552"/>
        <c:scaling>
          <c:orientation val="minMax"/>
          <c:max val="1.1000000000000001"/>
          <c:min val="0.85"/>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GBT FPR</c:v>
                </c:pt>
              </c:strCache>
            </c:strRef>
          </c:tx>
          <c:spPr>
            <a:solidFill>
              <a:srgbClr val="1B6CA8"/>
            </a:solidFill>
            <a:effectLst/>
          </c:spPr>
          <c:invertIfNegative val="0"/>
          <c:dLbls>
            <c:delete val="1"/>
          </c:dLbls>
          <c:cat>
            <c:strRef>
              <c:f>Sheet1!$A$2:$A$7</c:f>
              <c:strCache>
                <c:ptCount val="6"/>
                <c:pt idx="0">
                  <c:v>White</c:v>
                </c:pt>
                <c:pt idx="1">
                  <c:v>Hispanic</c:v>
                </c:pt>
                <c:pt idx="2">
                  <c:v>Black/AA</c:v>
                </c:pt>
                <c:pt idx="3">
                  <c:v>Asian</c:v>
                </c:pt>
                <c:pt idx="4">
                  <c:v>Am.Indian</c:v>
                </c:pt>
                <c:pt idx="5">
                  <c:v>Nat.Haw.</c:v>
                </c:pt>
              </c:strCache>
            </c:strRef>
          </c:cat>
          <c:val>
            <c:numRef>
              <c:f>Sheet1!$B$2:$B$7</c:f>
              <c:numCache>
                <c:formatCode>General</c:formatCode>
                <c:ptCount val="6"/>
                <c:pt idx="0">
                  <c:v>0.184</c:v>
                </c:pt>
                <c:pt idx="1">
                  <c:v>0.22</c:v>
                </c:pt>
                <c:pt idx="2">
                  <c:v>0.20599999999999999</c:v>
                </c:pt>
                <c:pt idx="3">
                  <c:v>0.25800000000000001</c:v>
                </c:pt>
                <c:pt idx="4">
                  <c:v>0.158</c:v>
                </c:pt>
                <c:pt idx="5">
                  <c:v>0.187</c:v>
                </c:pt>
              </c:numCache>
            </c:numRef>
          </c:val>
          <c:extLst>
            <c:ext xmlns:c16="http://schemas.microsoft.com/office/drawing/2014/chart" uri="{C3380CC4-5D6E-409C-BE32-E72D297353CC}">
              <c16:uniqueId val="{00000000-8D6C-954B-91E9-D660CCF64FA8}"/>
            </c:ext>
          </c:extLst>
        </c:ser>
        <c:ser>
          <c:idx val="1"/>
          <c:order val="1"/>
          <c:tx>
            <c:strRef>
              <c:f>Sheet1!$C$1</c:f>
              <c:strCache>
                <c:ptCount val="1"/>
                <c:pt idx="0">
                  <c:v>LR FPR</c:v>
                </c:pt>
              </c:strCache>
            </c:strRef>
          </c:tx>
          <c:spPr>
            <a:solidFill>
              <a:srgbClr val="3A86C8"/>
            </a:solidFill>
            <a:effectLst/>
          </c:spPr>
          <c:invertIfNegative val="0"/>
          <c:dLbls>
            <c:delete val="1"/>
          </c:dLbls>
          <c:cat>
            <c:strRef>
              <c:f>Sheet1!$A$2:$A$7</c:f>
              <c:strCache>
                <c:ptCount val="6"/>
                <c:pt idx="0">
                  <c:v>White</c:v>
                </c:pt>
                <c:pt idx="1">
                  <c:v>Hispanic</c:v>
                </c:pt>
                <c:pt idx="2">
                  <c:v>Black/AA</c:v>
                </c:pt>
                <c:pt idx="3">
                  <c:v>Asian</c:v>
                </c:pt>
                <c:pt idx="4">
                  <c:v>Am.Indian</c:v>
                </c:pt>
                <c:pt idx="5">
                  <c:v>Nat.Haw.</c:v>
                </c:pt>
              </c:strCache>
            </c:strRef>
          </c:cat>
          <c:val>
            <c:numRef>
              <c:f>Sheet1!$C$2:$C$7</c:f>
              <c:numCache>
                <c:formatCode>General</c:formatCode>
                <c:ptCount val="6"/>
                <c:pt idx="0">
                  <c:v>0.23899999999999999</c:v>
                </c:pt>
                <c:pt idx="1">
                  <c:v>0.24299999999999999</c:v>
                </c:pt>
                <c:pt idx="2">
                  <c:v>0.254</c:v>
                </c:pt>
                <c:pt idx="3">
                  <c:v>0.28299999999999997</c:v>
                </c:pt>
                <c:pt idx="4">
                  <c:v>0.23499999999999999</c:v>
                </c:pt>
                <c:pt idx="5">
                  <c:v>0.22800000000000001</c:v>
                </c:pt>
              </c:numCache>
            </c:numRef>
          </c:val>
          <c:extLst>
            <c:ext xmlns:c16="http://schemas.microsoft.com/office/drawing/2014/chart" uri="{C3380CC4-5D6E-409C-BE32-E72D297353CC}">
              <c16:uniqueId val="{00000001-8D6C-954B-91E9-D660CCF64FA8}"/>
            </c:ext>
          </c:extLst>
        </c:ser>
        <c:ser>
          <c:idx val="2"/>
          <c:order val="2"/>
          <c:tx>
            <c:strRef>
              <c:f>Sheet1!$D$1</c:f>
              <c:strCache>
                <c:ptCount val="1"/>
                <c:pt idx="0">
                  <c:v>RF FPR</c:v>
                </c:pt>
              </c:strCache>
            </c:strRef>
          </c:tx>
          <c:spPr>
            <a:solidFill>
              <a:srgbClr val="E8A020"/>
            </a:solidFill>
            <a:effectLst/>
          </c:spPr>
          <c:invertIfNegative val="0"/>
          <c:dLbls>
            <c:delete val="1"/>
          </c:dLbls>
          <c:cat>
            <c:strRef>
              <c:f>Sheet1!$A$2:$A$7</c:f>
              <c:strCache>
                <c:ptCount val="6"/>
                <c:pt idx="0">
                  <c:v>White</c:v>
                </c:pt>
                <c:pt idx="1">
                  <c:v>Hispanic</c:v>
                </c:pt>
                <c:pt idx="2">
                  <c:v>Black/AA</c:v>
                </c:pt>
                <c:pt idx="3">
                  <c:v>Asian</c:v>
                </c:pt>
                <c:pt idx="4">
                  <c:v>Am.Indian</c:v>
                </c:pt>
                <c:pt idx="5">
                  <c:v>Nat.Haw.</c:v>
                </c:pt>
              </c:strCache>
            </c:strRef>
          </c:cat>
          <c:val>
            <c:numRef>
              <c:f>Sheet1!$D$2:$D$7</c:f>
              <c:numCache>
                <c:formatCode>General</c:formatCode>
                <c:ptCount val="6"/>
                <c:pt idx="0">
                  <c:v>0.254</c:v>
                </c:pt>
                <c:pt idx="1">
                  <c:v>0.24099999999999999</c:v>
                </c:pt>
                <c:pt idx="2">
                  <c:v>0.23599999999999999</c:v>
                </c:pt>
                <c:pt idx="3">
                  <c:v>0.27300000000000002</c:v>
                </c:pt>
                <c:pt idx="4">
                  <c:v>0.20799999999999999</c:v>
                </c:pt>
                <c:pt idx="5">
                  <c:v>0.23599999999999999</c:v>
                </c:pt>
              </c:numCache>
            </c:numRef>
          </c:val>
          <c:extLst>
            <c:ext xmlns:c16="http://schemas.microsoft.com/office/drawing/2014/chart" uri="{C3380CC4-5D6E-409C-BE32-E72D297353CC}">
              <c16:uniqueId val="{00000002-8D6C-954B-91E9-D660CCF64FA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60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857400" y="685800"/>
            <a:ext cx="342915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514350" y="4343400"/>
            <a:ext cx="41148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 name="Google Shape;27;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Jenny</a:t>
            </a:r>
            <a:endParaRPr sz="1200">
              <a:solidFill>
                <a:schemeClr val="dk1"/>
              </a:solidFill>
              <a:latin typeface="Arial"/>
              <a:ea typeface="Arial"/>
              <a:cs typeface="Arial"/>
              <a:sym typeface="Arial"/>
            </a:endParaRPr>
          </a:p>
        </p:txBody>
      </p:sp>
      <p:sp>
        <p:nvSpPr>
          <p:cNvPr id="28" name="Google Shape;28;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Jenny</a:t>
            </a:r>
            <a:endParaRPr sz="1200">
              <a:solidFill>
                <a:schemeClr val="dk1"/>
              </a:solidFill>
              <a:latin typeface="Arial"/>
              <a:ea typeface="Arial"/>
              <a:cs typeface="Arial"/>
              <a:sym typeface="Arial"/>
            </a:endParaRPr>
          </a:p>
        </p:txBody>
      </p:sp>
      <p:sp>
        <p:nvSpPr>
          <p:cNvPr id="57" name="Google Shape;57;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Jenny</a:t>
            </a:r>
            <a:endParaRPr sz="1200">
              <a:solidFill>
                <a:schemeClr val="dk1"/>
              </a:solidFill>
              <a:latin typeface="Arial"/>
              <a:ea typeface="Arial"/>
              <a:cs typeface="Arial"/>
              <a:sym typeface="Arial"/>
            </a:endParaRPr>
          </a:p>
        </p:txBody>
      </p:sp>
      <p:sp>
        <p:nvSpPr>
          <p:cNvPr id="91" name="Google Shape;9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def50e1049_3_16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g3def50e1049_3_16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Franbon</a:t>
            </a:r>
            <a:endParaRPr sz="1200">
              <a:solidFill>
                <a:schemeClr val="dk1"/>
              </a:solidFill>
              <a:latin typeface="Arial"/>
              <a:ea typeface="Arial"/>
              <a:cs typeface="Arial"/>
              <a:sym typeface="Arial"/>
            </a:endParaRPr>
          </a:p>
        </p:txBody>
      </p:sp>
      <p:sp>
        <p:nvSpPr>
          <p:cNvPr id="123" name="Google Shape;123;g3def50e1049_3_16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5" name="Google Shape;13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Franbon</a:t>
            </a:r>
            <a:endParaRPr sz="1200">
              <a:solidFill>
                <a:schemeClr val="dk1"/>
              </a:solidFill>
              <a:latin typeface="Arial"/>
              <a:ea typeface="Arial"/>
              <a:cs typeface="Arial"/>
              <a:sym typeface="Arial"/>
            </a:endParaRPr>
          </a:p>
        </p:txBody>
      </p:sp>
      <p:sp>
        <p:nvSpPr>
          <p:cNvPr id="136" name="Google Shape;136;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Nick</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When performing Lime and SHAP for the GBT model, we noticed that loan purpose, debt to income ratio, income, and property value are the main drivers of prediction. Globally, through SHAP, we see that that smaller predictors, like construction method and business/commercial purpose, are less significant predictors, but do act as supplemental information to inform the decision of application approval. We see that the DTI is also the strongest predictor on SHAP, having extremely strong importance to predicting approval and denials. </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We see the LIME capture the middle approved applicants for both White (Non-Hispanic) and Black applicants. A few things to point out. One, the loan purpose being less than 0 has more of a negative weight on the black applicant than the white applicant by 0.01. However, it is notable that DTI has a larger positive weight for the Black applicant than the White applicant, which aligns with the fact that applicants with a lower DTI should be more inclined to be approved for a loan. </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We also wanted to point out the significance of proxy risk that can be revealed by these tests. Tract_minority_population (</a:t>
            </a:r>
            <a:r>
              <a:rPr lang="en-US" sz="1200">
                <a:solidFill>
                  <a:schemeClr val="dk1"/>
                </a:solidFill>
                <a:highlight>
                  <a:srgbClr val="F4CCCC"/>
                </a:highlight>
              </a:rPr>
              <a:t>Percentage of minority population to total population for tract, rounded to two decimal places)</a:t>
            </a:r>
            <a:r>
              <a:rPr lang="en-US" sz="1200">
                <a:solidFill>
                  <a:schemeClr val="dk1"/>
                </a:solidFill>
              </a:rPr>
              <a:t>, for instance, can indicate whether minority dense populations are an influence in predicting a loan. We also noticed that proxies such as tract_to_msa_income_percentage, derived_msa_md are proxy variables that should be excluded from the model.  </a:t>
            </a:r>
            <a:endParaRPr sz="1200">
              <a:solidFill>
                <a:schemeClr val="dk1"/>
              </a:solidFill>
            </a:endParaRPr>
          </a:p>
        </p:txBody>
      </p:sp>
      <p:sp>
        <p:nvSpPr>
          <p:cNvPr id="146" name="Google Shape;146;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sz="1200">
                <a:solidFill>
                  <a:schemeClr val="dk1"/>
                </a:solidFill>
              </a:rPr>
              <a:t>Nick</a:t>
            </a:r>
            <a:endParaRPr sz="1200">
              <a:solidFill>
                <a:schemeClr val="dk1"/>
              </a:solidFill>
            </a:endParaRPr>
          </a:p>
          <a:p>
            <a:pPr indent="0" lvl="0" marL="0" rtl="0" algn="l">
              <a:spcBef>
                <a:spcPts val="0"/>
              </a:spcBef>
              <a:spcAft>
                <a:spcPts val="0"/>
              </a:spcAft>
              <a:buClr>
                <a:schemeClr val="dk1"/>
              </a:buClr>
              <a:buFont typeface="Arial"/>
              <a:buNone/>
            </a:pPr>
            <a:r>
              <a:t/>
            </a:r>
            <a:endParaRPr sz="1200">
              <a:solidFill>
                <a:schemeClr val="dk1"/>
              </a:solidFill>
            </a:endParaRPr>
          </a:p>
          <a:p>
            <a:pPr indent="0" lvl="0" marL="0" rtl="0" algn="l">
              <a:spcBef>
                <a:spcPts val="0"/>
              </a:spcBef>
              <a:spcAft>
                <a:spcPts val="0"/>
              </a:spcAft>
              <a:buClr>
                <a:schemeClr val="dk1"/>
              </a:buClr>
              <a:buFont typeface="Arial"/>
              <a:buNone/>
            </a:pPr>
            <a:r>
              <a:rPr lang="en-US" sz="1200">
                <a:solidFill>
                  <a:schemeClr val="dk1"/>
                </a:solidFill>
              </a:rPr>
              <a:t>We conducted DiCE to develop counterfactuals that would reveal how the applicant could change their variables and individualistic features. We did this indexed on the Black vs. White applicants, examining a protected group against a reference group. Each examination of each race is one for the most-approved applicant, and one of the least-approved applicant. The results show that in order for both the balck and white applicant to go from denied to approved, similar reduction in the DTI and increases income are needed. This aligns with our importance of the features, and also reveals that protected groups are not required to make more difficult changes to be approved </a:t>
            </a:r>
            <a:endParaRPr sz="1200">
              <a:solidFill>
                <a:schemeClr val="dk1"/>
              </a:solidFill>
            </a:endParaRPr>
          </a:p>
        </p:txBody>
      </p:sp>
      <p:sp>
        <p:nvSpPr>
          <p:cNvPr id="194" name="Google Shape;19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rPr lang="en-US" sz="1200">
                <a:solidFill>
                  <a:schemeClr val="dk1"/>
                </a:solidFill>
              </a:rPr>
              <a:t>Bek</a:t>
            </a:r>
            <a:endParaRPr sz="1200">
              <a:solidFill>
                <a:schemeClr val="dk1"/>
              </a:solidFill>
            </a:endParaRPr>
          </a:p>
        </p:txBody>
      </p:sp>
      <p:sp>
        <p:nvSpPr>
          <p:cNvPr id="225" name="Google Shape;225;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Bek</a:t>
            </a:r>
            <a:endParaRPr sz="1200">
              <a:solidFill>
                <a:schemeClr val="dk1"/>
              </a:solidFill>
              <a:latin typeface="Arial"/>
              <a:ea typeface="Arial"/>
              <a:cs typeface="Arial"/>
              <a:sym typeface="Arial"/>
            </a:endParaRPr>
          </a:p>
        </p:txBody>
      </p:sp>
      <p:sp>
        <p:nvSpPr>
          <p:cNvPr id="256" name="Google Shape;25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6" name="Google Shape;316;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Jenny</a:t>
            </a:r>
            <a:endParaRPr sz="1200">
              <a:solidFill>
                <a:schemeClr val="dk1"/>
              </a:solidFill>
              <a:latin typeface="Arial"/>
              <a:ea typeface="Arial"/>
              <a:cs typeface="Arial"/>
              <a:sym typeface="Arial"/>
            </a:endParaRPr>
          </a:p>
        </p:txBody>
      </p:sp>
      <p:sp>
        <p:nvSpPr>
          <p:cNvPr id="317" name="Google Shape;317;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Nick</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rPr lang="en-US" sz="1200">
                <a:solidFill>
                  <a:schemeClr val="dk1"/>
                </a:solidFill>
              </a:rPr>
              <a:t>Our preferred gradient boosting model was audited to measure disparate impact. While looking at Sex, we found that there is no evidence of disparate impact, except that the SMD is -10.11 between males and females. While it is statistically significant, it is not practically flagged under current guidelines. Yet, we see some evidence of disparate impact when conducting an intersectional analysis between race and sex. Native Hawaiian and Females are just above the 0.8 threshold, which could warrant frequent monitoring when the environment changes to ensure it does not go below the threshold. We also see that in an intersectional analysis between age and sex, older applicants, whether male or female, face disparate impact. This is a caution and a known failure mode of our model. </a:t>
            </a:r>
            <a:endParaRPr sz="1200">
              <a:solidFill>
                <a:schemeClr val="dk1"/>
              </a:solidFill>
            </a:endParaRPr>
          </a:p>
        </p:txBody>
      </p:sp>
      <p:sp>
        <p:nvSpPr>
          <p:cNvPr id="332" name="Google Shape;332;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df2678a462_6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g3df2678a462_6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353" name="Google Shape;353;g3df2678a462_6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0" name="Google Shape;370;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This chart compares false positive rates by race across GBT, Logistic Regression, and Random Forest. Higher FPR means the model is incorrectly denying applicants who were actually approved. GBT produces the lowest FPR for Black and African American applicants at 0.206, which was one of the main reasons we selected it. Logistic Regression generally performs worse across most groups, while Random Forest performs best for American Indian applicants at 0.127. The main takeaway is that no model performs best across every subgroup, which is why slice-level evaluation matters instead of relying only on aggregate AUC</a:t>
            </a:r>
            <a:endParaRPr sz="1200">
              <a:solidFill>
                <a:schemeClr val="dk1"/>
              </a:solidFill>
            </a:endParaRPr>
          </a:p>
        </p:txBody>
      </p:sp>
      <p:sp>
        <p:nvSpPr>
          <p:cNvPr id="371" name="Google Shape;371;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Bek</a:t>
            </a:r>
            <a:endParaRPr sz="1200">
              <a:solidFill>
                <a:schemeClr val="dk1"/>
              </a:solidFill>
              <a:latin typeface="Arial"/>
              <a:ea typeface="Arial"/>
              <a:cs typeface="Arial"/>
              <a:sym typeface="Arial"/>
            </a:endParaRPr>
          </a:p>
        </p:txBody>
      </p:sp>
      <p:sp>
        <p:nvSpPr>
          <p:cNvPr id="383" name="Google Shape;383;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1" name="Google Shape;41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Bek</a:t>
            </a:r>
            <a:endParaRPr sz="1200">
              <a:solidFill>
                <a:schemeClr val="dk1"/>
              </a:solidFill>
              <a:latin typeface="Arial"/>
              <a:ea typeface="Arial"/>
              <a:cs typeface="Arial"/>
              <a:sym typeface="Arial"/>
            </a:endParaRPr>
          </a:p>
        </p:txBody>
      </p:sp>
      <p:sp>
        <p:nvSpPr>
          <p:cNvPr id="412" name="Google Shape;412;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1" name="Google Shape;42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rPr>
              <a:t>Nick</a:t>
            </a:r>
            <a:endParaRPr sz="1200">
              <a:solidFill>
                <a:schemeClr val="dk1"/>
              </a:solidFill>
              <a:latin typeface="Arial"/>
              <a:ea typeface="Arial"/>
              <a:cs typeface="Arial"/>
              <a:sym typeface="Arial"/>
            </a:endParaRPr>
          </a:p>
        </p:txBody>
      </p:sp>
      <p:sp>
        <p:nvSpPr>
          <p:cNvPr id="422" name="Google Shape;42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So, is deployment defensible? Our answer is yes, conditionally. The GBT model met the major audit requirements: optimization objective, failure-mode analysis, subgroup disparity testing, intersectional analysis, and robustness testing. We also documented the workflow in GitHub as a reproducible audit record.</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That said, there are still conditions we would not ignore. The disparity for applicants over age 74 needs legal review under ECOA, the tract minority population feature requires a business necessity justification, and stronger data access controls are needed to reduce insider poisoning risk. If those conditions are addressed, we believe the model can be deployed responsibly with ongoing monitoring. If not, deployment should be paused.</a:t>
            </a:r>
            <a:endParaRPr sz="1200">
              <a:solidFill>
                <a:schemeClr val="dk1"/>
              </a:solidFill>
            </a:endParaRPr>
          </a:p>
          <a:p>
            <a:pPr indent="0" lvl="0" marL="0" marR="0" rtl="0" algn="l">
              <a:spcBef>
                <a:spcPts val="1200"/>
              </a:spcBef>
              <a:spcAft>
                <a:spcPts val="0"/>
              </a:spcAft>
              <a:buNone/>
            </a:pPr>
            <a:r>
              <a:t/>
            </a:r>
            <a:endParaRPr sz="1200">
              <a:solidFill>
                <a:schemeClr val="dk1"/>
              </a:solidFill>
            </a:endParaRPr>
          </a:p>
        </p:txBody>
      </p:sp>
      <p:sp>
        <p:nvSpPr>
          <p:cNvPr id="434" name="Google Shape;434;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62" name="Google Shape;462;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def50e1049_3_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g3def50e1049_3_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83" name="Google Shape;483;g3def50e1049_3_5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def50e1049_3_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2" name="Google Shape;492;g3def50e1049_3_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93" name="Google Shape;493;g3def50e1049_3_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def50e1049_3_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g3def50e1049_3_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04" name="Google Shape;504;g3def50e1049_3_8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g3def50e1049_3_10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g3def50e1049_3_10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15" name="Google Shape;515;g3def50e1049_3_10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3def50e1049_3_1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4" name="Google Shape;524;g3def50e1049_3_1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25" name="Google Shape;525;g3def50e1049_3_1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def50e1049_3_1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g3def50e1049_3_1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35" name="Google Shape;535;g3def50e1049_3_1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3def50e1049_3_1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5" name="Google Shape;545;g3def50e1049_3_1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46" name="Google Shape;546;g3def50e1049_3_14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def50e1049_3_1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6" name="Google Shape;556;g3def50e1049_3_1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57" name="Google Shape;557;g3def50e1049_3_17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6.png"/><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11" name="Shape 11"/>
        <p:cNvGrpSpPr/>
        <p:nvPr/>
      </p:nvGrpSpPr>
      <p:grpSpPr>
        <a:xfrm>
          <a:off x="0" y="0"/>
          <a:ext cx="0" cy="0"/>
          <a:chOff x="0" y="0"/>
          <a:chExt cx="0" cy="0"/>
        </a:xfrm>
      </p:grpSpPr>
      <p:sp>
        <p:nvSpPr>
          <p:cNvPr id="12" name="Google Shape;12;p1"/>
          <p:cNvSpPr/>
          <p:nvPr/>
        </p:nvSpPr>
        <p:spPr>
          <a:xfrm>
            <a:off x="0" y="0"/>
            <a:ext cx="109728" cy="514350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 name="Google Shape;13;p1"/>
          <p:cNvSpPr/>
          <p:nvPr/>
        </p:nvSpPr>
        <p:spPr>
          <a:xfrm>
            <a:off x="457200" y="914400"/>
            <a:ext cx="822960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3A86C8"/>
              </a:buClr>
              <a:buSzPts val="1300"/>
              <a:buFont typeface="Calibri"/>
              <a:buNone/>
            </a:pPr>
            <a:r>
              <a:rPr b="1" lang="en-US" sz="1300">
                <a:solidFill>
                  <a:srgbClr val="3A86C8"/>
                </a:solidFill>
                <a:latin typeface="Calibri"/>
                <a:ea typeface="Calibri"/>
                <a:cs typeface="Calibri"/>
                <a:sym typeface="Calibri"/>
              </a:rPr>
              <a:t>RESPONSIBLE ML AUDIT</a:t>
            </a:r>
            <a:endParaRPr sz="1300">
              <a:solidFill>
                <a:schemeClr val="dk1"/>
              </a:solidFill>
              <a:latin typeface="Calibri"/>
              <a:ea typeface="Calibri"/>
              <a:cs typeface="Calibri"/>
              <a:sym typeface="Calibri"/>
            </a:endParaRPr>
          </a:p>
        </p:txBody>
      </p:sp>
      <p:sp>
        <p:nvSpPr>
          <p:cNvPr id="14" name="Google Shape;14;p1"/>
          <p:cNvSpPr/>
          <p:nvPr/>
        </p:nvSpPr>
        <p:spPr>
          <a:xfrm>
            <a:off x="457200" y="1417320"/>
            <a:ext cx="8229600" cy="7772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3600"/>
              <a:buFont typeface="Calibri"/>
              <a:buNone/>
            </a:pPr>
            <a:r>
              <a:rPr b="1" lang="en-US" sz="3600">
                <a:solidFill>
                  <a:srgbClr val="FFFFFF"/>
                </a:solidFill>
                <a:latin typeface="Calibri"/>
                <a:ea typeface="Calibri"/>
                <a:cs typeface="Calibri"/>
                <a:sym typeface="Calibri"/>
              </a:rPr>
              <a:t>HMDA 2024 Mortgage Approval Model</a:t>
            </a:r>
            <a:endParaRPr sz="3600">
              <a:solidFill>
                <a:schemeClr val="dk1"/>
              </a:solidFill>
              <a:latin typeface="Calibri"/>
              <a:ea typeface="Calibri"/>
              <a:cs typeface="Calibri"/>
              <a:sym typeface="Calibri"/>
            </a:endParaRPr>
          </a:p>
        </p:txBody>
      </p:sp>
      <p:sp>
        <p:nvSpPr>
          <p:cNvPr id="15" name="Google Shape;15;p1"/>
          <p:cNvSpPr/>
          <p:nvPr/>
        </p:nvSpPr>
        <p:spPr>
          <a:xfrm>
            <a:off x="457200" y="2286000"/>
            <a:ext cx="822960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096A8"/>
              </a:buClr>
              <a:buSzPts val="1400"/>
              <a:buFont typeface="Calibri"/>
              <a:buNone/>
            </a:pPr>
            <a:r>
              <a:rPr i="1" lang="en-US" sz="1400">
                <a:solidFill>
                  <a:srgbClr val="8096A8"/>
                </a:solidFill>
                <a:latin typeface="Calibri"/>
                <a:ea typeface="Calibri"/>
                <a:cs typeface="Calibri"/>
                <a:sym typeface="Calibri"/>
              </a:rPr>
              <a:t>Predicting loan approval from the 2024 HMDA Loan Application Register</a:t>
            </a:r>
            <a:endParaRPr sz="1400">
              <a:solidFill>
                <a:schemeClr val="dk1"/>
              </a:solidFill>
              <a:latin typeface="Calibri"/>
              <a:ea typeface="Calibri"/>
              <a:cs typeface="Calibri"/>
              <a:sym typeface="Calibri"/>
            </a:endParaRPr>
          </a:p>
        </p:txBody>
      </p:sp>
      <p:cxnSp>
        <p:nvCxnSpPr>
          <p:cNvPr id="16" name="Google Shape;16;p1"/>
          <p:cNvCxnSpPr/>
          <p:nvPr/>
        </p:nvCxnSpPr>
        <p:spPr>
          <a:xfrm>
            <a:off x="2286000" y="2788920"/>
            <a:ext cx="4572000" cy="0"/>
          </a:xfrm>
          <a:prstGeom prst="straightConnector1">
            <a:avLst/>
          </a:prstGeom>
          <a:noFill/>
          <a:ln cap="flat" cmpd="sng" w="19050">
            <a:solidFill>
              <a:srgbClr val="1B6CA8"/>
            </a:solidFill>
            <a:prstDash val="solid"/>
            <a:round/>
            <a:headEnd len="sm" w="sm" type="none"/>
            <a:tailEnd len="sm" w="sm" type="none"/>
          </a:ln>
        </p:spPr>
      </p:cxnSp>
      <p:sp>
        <p:nvSpPr>
          <p:cNvPr id="17" name="Google Shape;17;p1"/>
          <p:cNvSpPr/>
          <p:nvPr/>
        </p:nvSpPr>
        <p:spPr>
          <a:xfrm>
            <a:off x="457200" y="2926080"/>
            <a:ext cx="822960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096A8"/>
              </a:buClr>
              <a:buSzPts val="1100"/>
              <a:buFont typeface="Calibri"/>
              <a:buNone/>
            </a:pPr>
            <a:r>
              <a:rPr lang="en-US" sz="1100">
                <a:solidFill>
                  <a:srgbClr val="8096A8"/>
                </a:solidFill>
                <a:latin typeface="Calibri"/>
                <a:ea typeface="Calibri"/>
                <a:cs typeface="Calibri"/>
                <a:sym typeface="Calibri"/>
              </a:rPr>
              <a:t>Group 6  |  DNSC 6330 Responsible Machine Learning  |  GWU  |  May 2026</a:t>
            </a:r>
            <a:endParaRPr sz="1100">
              <a:solidFill>
                <a:schemeClr val="dk1"/>
              </a:solidFill>
              <a:latin typeface="Calibri"/>
              <a:ea typeface="Calibri"/>
              <a:cs typeface="Calibri"/>
              <a:sym typeface="Calibri"/>
            </a:endParaRPr>
          </a:p>
        </p:txBody>
      </p:sp>
      <p:sp>
        <p:nvSpPr>
          <p:cNvPr id="18" name="Google Shape;18;p1"/>
          <p:cNvSpPr/>
          <p:nvPr/>
        </p:nvSpPr>
        <p:spPr>
          <a:xfrm>
            <a:off x="457200" y="3383280"/>
            <a:ext cx="822960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E8A020"/>
              </a:buClr>
              <a:buSzPts val="1200"/>
              <a:buFont typeface="Calibri"/>
              <a:buNone/>
            </a:pPr>
            <a:r>
              <a:rPr b="1" lang="en-US" sz="1200">
                <a:solidFill>
                  <a:srgbClr val="E8A020"/>
                </a:solidFill>
                <a:latin typeface="Calibri"/>
                <a:ea typeface="Calibri"/>
                <a:cs typeface="Calibri"/>
                <a:sym typeface="Calibri"/>
              </a:rPr>
              <a:t>Presented to the Internal Review Board</a:t>
            </a:r>
            <a:endParaRPr sz="1200">
              <a:solidFill>
                <a:schemeClr val="dk1"/>
              </a:solidFill>
              <a:latin typeface="Calibri"/>
              <a:ea typeface="Calibri"/>
              <a:cs typeface="Calibri"/>
              <a:sym typeface="Calibri"/>
            </a:endParaRPr>
          </a:p>
        </p:txBody>
      </p:sp>
      <p:sp>
        <p:nvSpPr>
          <p:cNvPr id="19" name="Google Shape;19;p1"/>
          <p:cNvSpPr/>
          <p:nvPr/>
        </p:nvSpPr>
        <p:spPr>
          <a:xfrm>
            <a:off x="2011680" y="4160520"/>
            <a:ext cx="1554480" cy="658368"/>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2011680" y="4160520"/>
            <a:ext cx="1554480"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Measure</a:t>
            </a:r>
            <a:endParaRPr sz="1300">
              <a:solidFill>
                <a:schemeClr val="dk1"/>
              </a:solidFill>
              <a:latin typeface="Calibri"/>
              <a:ea typeface="Calibri"/>
              <a:cs typeface="Calibri"/>
              <a:sym typeface="Calibri"/>
            </a:endParaRPr>
          </a:p>
        </p:txBody>
      </p:sp>
      <p:sp>
        <p:nvSpPr>
          <p:cNvPr id="21" name="Google Shape;21;p1"/>
          <p:cNvSpPr/>
          <p:nvPr/>
        </p:nvSpPr>
        <p:spPr>
          <a:xfrm>
            <a:off x="3931920" y="4160520"/>
            <a:ext cx="1554480" cy="658368"/>
          </a:xfrm>
          <a:prstGeom prst="rect">
            <a:avLst/>
          </a:prstGeom>
          <a:solidFill>
            <a:srgbClr val="3A86C8"/>
          </a:solidFill>
          <a:ln cap="flat" cmpd="sng" w="12700">
            <a:solidFill>
              <a:srgbClr val="3A86C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 name="Google Shape;22;p1"/>
          <p:cNvSpPr/>
          <p:nvPr/>
        </p:nvSpPr>
        <p:spPr>
          <a:xfrm>
            <a:off x="3931920" y="4160520"/>
            <a:ext cx="1554480"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Diagnose</a:t>
            </a:r>
            <a:endParaRPr sz="1300">
              <a:solidFill>
                <a:schemeClr val="dk1"/>
              </a:solidFill>
              <a:latin typeface="Calibri"/>
              <a:ea typeface="Calibri"/>
              <a:cs typeface="Calibri"/>
              <a:sym typeface="Calibri"/>
            </a:endParaRPr>
          </a:p>
        </p:txBody>
      </p:sp>
      <p:sp>
        <p:nvSpPr>
          <p:cNvPr id="23" name="Google Shape;23;p1"/>
          <p:cNvSpPr/>
          <p:nvPr/>
        </p:nvSpPr>
        <p:spPr>
          <a:xfrm>
            <a:off x="5852160" y="4160520"/>
            <a:ext cx="1554480" cy="658368"/>
          </a:xfrm>
          <a:prstGeom prst="rect">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 name="Google Shape;24;p1"/>
          <p:cNvSpPr/>
          <p:nvPr/>
        </p:nvSpPr>
        <p:spPr>
          <a:xfrm>
            <a:off x="5852160" y="4160520"/>
            <a:ext cx="1554480"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Document</a:t>
            </a:r>
            <a:endParaRPr sz="13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9" name="Shape 29"/>
        <p:cNvGrpSpPr/>
        <p:nvPr/>
      </p:nvGrpSpPr>
      <p:grpSpPr>
        <a:xfrm>
          <a:off x="0" y="0"/>
          <a:ext cx="0" cy="0"/>
          <a:chOff x="0" y="0"/>
          <a:chExt cx="0" cy="0"/>
        </a:xfrm>
      </p:grpSpPr>
      <p:sp>
        <p:nvSpPr>
          <p:cNvPr id="30" name="Google Shape;30;p2"/>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 name="Google Shape;31;p2"/>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OVERVIEW</a:t>
            </a:r>
            <a:endParaRPr sz="950">
              <a:solidFill>
                <a:schemeClr val="dk1"/>
              </a:solidFill>
              <a:latin typeface="Calibri"/>
              <a:ea typeface="Calibri"/>
              <a:cs typeface="Calibri"/>
              <a:sym typeface="Calibri"/>
            </a:endParaRPr>
          </a:p>
        </p:txBody>
      </p:sp>
      <p:sp>
        <p:nvSpPr>
          <p:cNvPr id="32" name="Google Shape;32;p2"/>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Audit Framework: Five Questions</a:t>
            </a:r>
            <a:endParaRPr sz="2600">
              <a:solidFill>
                <a:schemeClr val="dk1"/>
              </a:solidFill>
              <a:latin typeface="Calibri"/>
              <a:ea typeface="Calibri"/>
              <a:cs typeface="Calibri"/>
              <a:sym typeface="Calibri"/>
            </a:endParaRPr>
          </a:p>
        </p:txBody>
      </p:sp>
      <p:sp>
        <p:nvSpPr>
          <p:cNvPr id="33" name="Google Shape;33;p2"/>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2 / 18</a:t>
            </a:r>
            <a:endParaRPr sz="900">
              <a:solidFill>
                <a:schemeClr val="dk1"/>
              </a:solidFill>
              <a:latin typeface="Calibri"/>
              <a:ea typeface="Calibri"/>
              <a:cs typeface="Calibri"/>
              <a:sym typeface="Calibri"/>
            </a:endParaRPr>
          </a:p>
        </p:txBody>
      </p:sp>
      <p:sp>
        <p:nvSpPr>
          <p:cNvPr id="34" name="Google Shape;34;p2"/>
          <p:cNvSpPr/>
          <p:nvPr/>
        </p:nvSpPr>
        <p:spPr>
          <a:xfrm>
            <a:off x="411480" y="1325880"/>
            <a:ext cx="8321040" cy="566928"/>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 name="Google Shape;35;p2"/>
          <p:cNvSpPr/>
          <p:nvPr/>
        </p:nvSpPr>
        <p:spPr>
          <a:xfrm>
            <a:off x="411480" y="1325880"/>
            <a:ext cx="457200" cy="566928"/>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 name="Google Shape;36;p2"/>
          <p:cNvSpPr/>
          <p:nvPr/>
        </p:nvSpPr>
        <p:spPr>
          <a:xfrm>
            <a:off x="411480" y="1325880"/>
            <a:ext cx="457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600">
                <a:solidFill>
                  <a:srgbClr val="FFFFFF"/>
                </a:solidFill>
                <a:latin typeface="Calibri"/>
                <a:ea typeface="Calibri"/>
                <a:cs typeface="Calibri"/>
                <a:sym typeface="Calibri"/>
              </a:rPr>
              <a:t>Q1</a:t>
            </a:r>
            <a:endParaRPr sz="1600">
              <a:solidFill>
                <a:schemeClr val="dk1"/>
              </a:solidFill>
              <a:latin typeface="Calibri"/>
              <a:ea typeface="Calibri"/>
              <a:cs typeface="Calibri"/>
              <a:sym typeface="Calibri"/>
            </a:endParaRPr>
          </a:p>
        </p:txBody>
      </p:sp>
      <p:sp>
        <p:nvSpPr>
          <p:cNvPr id="37" name="Google Shape;37;p2"/>
          <p:cNvSpPr/>
          <p:nvPr/>
        </p:nvSpPr>
        <p:spPr>
          <a:xfrm>
            <a:off x="1005840" y="1444752"/>
            <a:ext cx="7726680" cy="32918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B2A"/>
              </a:buClr>
              <a:buSzPts val="2400"/>
              <a:buFont typeface="Calibri"/>
              <a:buNone/>
            </a:pPr>
            <a:r>
              <a:rPr b="1" lang="en-US" sz="2400">
                <a:solidFill>
                  <a:srgbClr val="0D1B2A"/>
                </a:solidFill>
                <a:latin typeface="Calibri"/>
                <a:ea typeface="Calibri"/>
                <a:cs typeface="Calibri"/>
                <a:sym typeface="Calibri"/>
              </a:rPr>
              <a:t>Optimization Objective</a:t>
            </a:r>
            <a:endParaRPr sz="2400">
              <a:solidFill>
                <a:schemeClr val="dk1"/>
              </a:solidFill>
              <a:latin typeface="Calibri"/>
              <a:ea typeface="Calibri"/>
              <a:cs typeface="Calibri"/>
              <a:sym typeface="Calibri"/>
            </a:endParaRPr>
          </a:p>
        </p:txBody>
      </p:sp>
      <p:sp>
        <p:nvSpPr>
          <p:cNvPr id="38" name="Google Shape;38;p2"/>
          <p:cNvSpPr/>
          <p:nvPr/>
        </p:nvSpPr>
        <p:spPr>
          <a:xfrm>
            <a:off x="411480" y="2002536"/>
            <a:ext cx="8321040" cy="566928"/>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411480" y="2002536"/>
            <a:ext cx="457200" cy="566928"/>
          </a:xfrm>
          <a:prstGeom prst="rect">
            <a:avLst/>
          </a:prstGeom>
          <a:solidFill>
            <a:srgbClr val="3A86C8"/>
          </a:solidFill>
          <a:ln cap="flat" cmpd="sng" w="12700">
            <a:solidFill>
              <a:srgbClr val="3A86C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p:txBody>
      </p:sp>
      <p:sp>
        <p:nvSpPr>
          <p:cNvPr id="40" name="Google Shape;40;p2"/>
          <p:cNvSpPr/>
          <p:nvPr/>
        </p:nvSpPr>
        <p:spPr>
          <a:xfrm>
            <a:off x="411480" y="2002536"/>
            <a:ext cx="457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600">
                <a:solidFill>
                  <a:srgbClr val="FFFFFF"/>
                </a:solidFill>
                <a:latin typeface="Calibri"/>
                <a:ea typeface="Calibri"/>
                <a:cs typeface="Calibri"/>
                <a:sym typeface="Calibri"/>
              </a:rPr>
              <a:t>Q2</a:t>
            </a:r>
            <a:endParaRPr sz="1600">
              <a:solidFill>
                <a:schemeClr val="dk1"/>
              </a:solidFill>
              <a:latin typeface="Calibri"/>
              <a:ea typeface="Calibri"/>
              <a:cs typeface="Calibri"/>
              <a:sym typeface="Calibri"/>
            </a:endParaRPr>
          </a:p>
        </p:txBody>
      </p:sp>
      <p:sp>
        <p:nvSpPr>
          <p:cNvPr id="41" name="Google Shape;41;p2"/>
          <p:cNvSpPr/>
          <p:nvPr/>
        </p:nvSpPr>
        <p:spPr>
          <a:xfrm>
            <a:off x="1005840" y="2121408"/>
            <a:ext cx="7726680" cy="32918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B2A"/>
              </a:buClr>
              <a:buSzPts val="2400"/>
              <a:buFont typeface="Calibri"/>
              <a:buNone/>
            </a:pPr>
            <a:r>
              <a:rPr b="1" lang="en-US" sz="2400">
                <a:solidFill>
                  <a:srgbClr val="0D1B2A"/>
                </a:solidFill>
                <a:latin typeface="Calibri"/>
                <a:ea typeface="Calibri"/>
                <a:cs typeface="Calibri"/>
                <a:sym typeface="Calibri"/>
              </a:rPr>
              <a:t>Known Failure Modes</a:t>
            </a:r>
            <a:endParaRPr sz="2400">
              <a:solidFill>
                <a:schemeClr val="dk1"/>
              </a:solidFill>
              <a:latin typeface="Calibri"/>
              <a:ea typeface="Calibri"/>
              <a:cs typeface="Calibri"/>
              <a:sym typeface="Calibri"/>
            </a:endParaRPr>
          </a:p>
        </p:txBody>
      </p:sp>
      <p:sp>
        <p:nvSpPr>
          <p:cNvPr id="42" name="Google Shape;42;p2"/>
          <p:cNvSpPr/>
          <p:nvPr/>
        </p:nvSpPr>
        <p:spPr>
          <a:xfrm>
            <a:off x="411480" y="2679192"/>
            <a:ext cx="8321040" cy="566928"/>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 name="Google Shape;43;p2"/>
          <p:cNvSpPr/>
          <p:nvPr/>
        </p:nvSpPr>
        <p:spPr>
          <a:xfrm>
            <a:off x="411480" y="2679192"/>
            <a:ext cx="457200" cy="566928"/>
          </a:xfrm>
          <a:prstGeom prst="rect">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 name="Google Shape;44;p2"/>
          <p:cNvSpPr/>
          <p:nvPr/>
        </p:nvSpPr>
        <p:spPr>
          <a:xfrm>
            <a:off x="411480" y="2679192"/>
            <a:ext cx="457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600">
                <a:solidFill>
                  <a:srgbClr val="FFFFFF"/>
                </a:solidFill>
                <a:latin typeface="Calibri"/>
                <a:ea typeface="Calibri"/>
                <a:cs typeface="Calibri"/>
                <a:sym typeface="Calibri"/>
              </a:rPr>
              <a:t>Q3</a:t>
            </a:r>
            <a:endParaRPr sz="1600">
              <a:solidFill>
                <a:schemeClr val="dk1"/>
              </a:solidFill>
              <a:latin typeface="Calibri"/>
              <a:ea typeface="Calibri"/>
              <a:cs typeface="Calibri"/>
              <a:sym typeface="Calibri"/>
            </a:endParaRPr>
          </a:p>
        </p:txBody>
      </p:sp>
      <p:sp>
        <p:nvSpPr>
          <p:cNvPr id="45" name="Google Shape;45;p2"/>
          <p:cNvSpPr/>
          <p:nvPr/>
        </p:nvSpPr>
        <p:spPr>
          <a:xfrm>
            <a:off x="1005840" y="2798064"/>
            <a:ext cx="7726680" cy="32918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B2A"/>
              </a:buClr>
              <a:buSzPts val="2400"/>
              <a:buFont typeface="Calibri"/>
              <a:buNone/>
            </a:pPr>
            <a:r>
              <a:rPr b="1" lang="en-US" sz="2400">
                <a:solidFill>
                  <a:srgbClr val="0D1B2A"/>
                </a:solidFill>
                <a:latin typeface="Calibri"/>
                <a:ea typeface="Calibri"/>
                <a:cs typeface="Calibri"/>
                <a:sym typeface="Calibri"/>
              </a:rPr>
              <a:t>Subgroup Error Measurement</a:t>
            </a:r>
            <a:endParaRPr sz="2400">
              <a:solidFill>
                <a:schemeClr val="dk1"/>
              </a:solidFill>
              <a:latin typeface="Calibri"/>
              <a:ea typeface="Calibri"/>
              <a:cs typeface="Calibri"/>
              <a:sym typeface="Calibri"/>
            </a:endParaRPr>
          </a:p>
        </p:txBody>
      </p:sp>
      <p:sp>
        <p:nvSpPr>
          <p:cNvPr id="46" name="Google Shape;46;p2"/>
          <p:cNvSpPr/>
          <p:nvPr/>
        </p:nvSpPr>
        <p:spPr>
          <a:xfrm>
            <a:off x="411480" y="3355848"/>
            <a:ext cx="8321040" cy="566928"/>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2"/>
          <p:cNvSpPr/>
          <p:nvPr/>
        </p:nvSpPr>
        <p:spPr>
          <a:xfrm>
            <a:off x="411480" y="3355848"/>
            <a:ext cx="457200" cy="566928"/>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 name="Google Shape;48;p2"/>
          <p:cNvSpPr/>
          <p:nvPr/>
        </p:nvSpPr>
        <p:spPr>
          <a:xfrm>
            <a:off x="411480" y="3355848"/>
            <a:ext cx="457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600">
                <a:solidFill>
                  <a:srgbClr val="FFFFFF"/>
                </a:solidFill>
                <a:latin typeface="Calibri"/>
                <a:ea typeface="Calibri"/>
                <a:cs typeface="Calibri"/>
                <a:sym typeface="Calibri"/>
              </a:rPr>
              <a:t>Q4</a:t>
            </a:r>
            <a:endParaRPr sz="1600">
              <a:solidFill>
                <a:schemeClr val="dk1"/>
              </a:solidFill>
              <a:latin typeface="Calibri"/>
              <a:ea typeface="Calibri"/>
              <a:cs typeface="Calibri"/>
              <a:sym typeface="Calibri"/>
            </a:endParaRPr>
          </a:p>
        </p:txBody>
      </p:sp>
      <p:sp>
        <p:nvSpPr>
          <p:cNvPr id="49" name="Google Shape;49;p2"/>
          <p:cNvSpPr/>
          <p:nvPr/>
        </p:nvSpPr>
        <p:spPr>
          <a:xfrm>
            <a:off x="1005840" y="3474720"/>
            <a:ext cx="7726680" cy="32918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B2A"/>
              </a:buClr>
              <a:buSzPts val="2400"/>
              <a:buFont typeface="Calibri"/>
              <a:buNone/>
            </a:pPr>
            <a:r>
              <a:rPr b="1" lang="en-US" sz="2400">
                <a:solidFill>
                  <a:srgbClr val="0D1B2A"/>
                </a:solidFill>
                <a:latin typeface="Calibri"/>
                <a:ea typeface="Calibri"/>
                <a:cs typeface="Calibri"/>
                <a:sym typeface="Calibri"/>
              </a:rPr>
              <a:t>Residual Risks After Mitigation</a:t>
            </a:r>
            <a:endParaRPr sz="2400">
              <a:solidFill>
                <a:schemeClr val="dk1"/>
              </a:solidFill>
              <a:latin typeface="Calibri"/>
              <a:ea typeface="Calibri"/>
              <a:cs typeface="Calibri"/>
              <a:sym typeface="Calibri"/>
            </a:endParaRPr>
          </a:p>
        </p:txBody>
      </p:sp>
      <p:sp>
        <p:nvSpPr>
          <p:cNvPr id="50" name="Google Shape;50;p2"/>
          <p:cNvSpPr/>
          <p:nvPr/>
        </p:nvSpPr>
        <p:spPr>
          <a:xfrm>
            <a:off x="411480" y="4032504"/>
            <a:ext cx="8321040" cy="566928"/>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 name="Google Shape;51;p2"/>
          <p:cNvSpPr/>
          <p:nvPr/>
        </p:nvSpPr>
        <p:spPr>
          <a:xfrm>
            <a:off x="411480" y="4032504"/>
            <a:ext cx="457200" cy="566928"/>
          </a:xfrm>
          <a:prstGeom prst="rect">
            <a:avLst/>
          </a:prstGeom>
          <a:solidFill>
            <a:srgbClr val="1A7A4A"/>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2"/>
          <p:cNvSpPr/>
          <p:nvPr/>
        </p:nvSpPr>
        <p:spPr>
          <a:xfrm>
            <a:off x="411480" y="4032504"/>
            <a:ext cx="457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600">
                <a:solidFill>
                  <a:srgbClr val="FFFFFF"/>
                </a:solidFill>
                <a:latin typeface="Calibri"/>
                <a:ea typeface="Calibri"/>
                <a:cs typeface="Calibri"/>
                <a:sym typeface="Calibri"/>
              </a:rPr>
              <a:t>Q5</a:t>
            </a:r>
            <a:endParaRPr sz="1600">
              <a:solidFill>
                <a:schemeClr val="dk1"/>
              </a:solidFill>
              <a:latin typeface="Calibri"/>
              <a:ea typeface="Calibri"/>
              <a:cs typeface="Calibri"/>
              <a:sym typeface="Calibri"/>
            </a:endParaRPr>
          </a:p>
        </p:txBody>
      </p:sp>
      <p:sp>
        <p:nvSpPr>
          <p:cNvPr id="53" name="Google Shape;53;p2"/>
          <p:cNvSpPr/>
          <p:nvPr/>
        </p:nvSpPr>
        <p:spPr>
          <a:xfrm>
            <a:off x="1005840" y="4151376"/>
            <a:ext cx="7726680" cy="32918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B2A"/>
              </a:buClr>
              <a:buSzPts val="2400"/>
              <a:buFont typeface="Calibri"/>
              <a:buNone/>
            </a:pPr>
            <a:r>
              <a:rPr b="1" lang="en-US" sz="2400">
                <a:solidFill>
                  <a:srgbClr val="0D1B2A"/>
                </a:solidFill>
                <a:latin typeface="Calibri"/>
                <a:ea typeface="Calibri"/>
                <a:cs typeface="Calibri"/>
                <a:sym typeface="Calibri"/>
              </a:rPr>
              <a:t>Is Deployment Defensible?</a:t>
            </a:r>
            <a:endParaRPr sz="24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58" name="Shape 58"/>
        <p:cNvGrpSpPr/>
        <p:nvPr/>
      </p:nvGrpSpPr>
      <p:grpSpPr>
        <a:xfrm>
          <a:off x="0" y="0"/>
          <a:ext cx="0" cy="0"/>
          <a:chOff x="0" y="0"/>
          <a:chExt cx="0" cy="0"/>
        </a:xfrm>
      </p:grpSpPr>
      <p:sp>
        <p:nvSpPr>
          <p:cNvPr id="59" name="Google Shape;59;p3"/>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3"/>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DATA</a:t>
            </a:r>
            <a:endParaRPr sz="950">
              <a:solidFill>
                <a:schemeClr val="dk1"/>
              </a:solidFill>
              <a:latin typeface="Calibri"/>
              <a:ea typeface="Calibri"/>
              <a:cs typeface="Calibri"/>
              <a:sym typeface="Calibri"/>
            </a:endParaRPr>
          </a:p>
        </p:txBody>
      </p:sp>
      <p:sp>
        <p:nvSpPr>
          <p:cNvPr id="61" name="Google Shape;61;p3"/>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HMDA 2024 — Dataset at a Glance</a:t>
            </a:r>
            <a:endParaRPr sz="2600">
              <a:solidFill>
                <a:schemeClr val="dk1"/>
              </a:solidFill>
              <a:latin typeface="Calibri"/>
              <a:ea typeface="Calibri"/>
              <a:cs typeface="Calibri"/>
              <a:sym typeface="Calibri"/>
            </a:endParaRPr>
          </a:p>
        </p:txBody>
      </p:sp>
      <p:sp>
        <p:nvSpPr>
          <p:cNvPr id="62" name="Google Shape;62;p3"/>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3 / 18</a:t>
            </a:r>
            <a:endParaRPr sz="900">
              <a:solidFill>
                <a:schemeClr val="dk1"/>
              </a:solidFill>
              <a:latin typeface="Calibri"/>
              <a:ea typeface="Calibri"/>
              <a:cs typeface="Calibri"/>
              <a:sym typeface="Calibri"/>
            </a:endParaRPr>
          </a:p>
        </p:txBody>
      </p:sp>
      <p:sp>
        <p:nvSpPr>
          <p:cNvPr id="63" name="Google Shape;63;p3"/>
          <p:cNvSpPr/>
          <p:nvPr/>
        </p:nvSpPr>
        <p:spPr>
          <a:xfrm>
            <a:off x="411480" y="1261872"/>
            <a:ext cx="1920240" cy="1005840"/>
          </a:xfrm>
          <a:prstGeom prst="rect">
            <a:avLst/>
          </a:prstGeom>
          <a:solidFill>
            <a:srgbClr val="0D1B2A"/>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3"/>
          <p:cNvSpPr/>
          <p:nvPr/>
        </p:nvSpPr>
        <p:spPr>
          <a:xfrm>
            <a:off x="411480" y="1371600"/>
            <a:ext cx="1920240" cy="553212"/>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lang="en-US" sz="3200">
                <a:solidFill>
                  <a:srgbClr val="FFFFFF"/>
                </a:solidFill>
                <a:latin typeface="Calibri"/>
                <a:ea typeface="Calibri"/>
                <a:cs typeface="Calibri"/>
                <a:sym typeface="Calibri"/>
              </a:rPr>
              <a:t>17M+</a:t>
            </a:r>
            <a:endParaRPr sz="3200">
              <a:solidFill>
                <a:schemeClr val="dk1"/>
              </a:solidFill>
              <a:latin typeface="Calibri"/>
              <a:ea typeface="Calibri"/>
              <a:cs typeface="Calibri"/>
              <a:sym typeface="Calibri"/>
            </a:endParaRPr>
          </a:p>
        </p:txBody>
      </p:sp>
      <p:sp>
        <p:nvSpPr>
          <p:cNvPr id="65" name="Google Shape;65;p3"/>
          <p:cNvSpPr/>
          <p:nvPr/>
        </p:nvSpPr>
        <p:spPr>
          <a:xfrm>
            <a:off x="411480" y="1845259"/>
            <a:ext cx="1920240" cy="3520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Total Applications</a:t>
            </a:r>
            <a:endParaRPr sz="1050">
              <a:solidFill>
                <a:schemeClr val="dk1"/>
              </a:solidFill>
              <a:latin typeface="Calibri"/>
              <a:ea typeface="Calibri"/>
              <a:cs typeface="Calibri"/>
              <a:sym typeface="Calibri"/>
            </a:endParaRPr>
          </a:p>
        </p:txBody>
      </p:sp>
      <p:sp>
        <p:nvSpPr>
          <p:cNvPr id="66" name="Google Shape;66;p3"/>
          <p:cNvSpPr/>
          <p:nvPr/>
        </p:nvSpPr>
        <p:spPr>
          <a:xfrm>
            <a:off x="2514600" y="1261872"/>
            <a:ext cx="1920240" cy="1005840"/>
          </a:xfrm>
          <a:prstGeom prst="rect">
            <a:avLst/>
          </a:prstGeom>
          <a:solidFill>
            <a:srgbClr val="1B6CA8"/>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3"/>
          <p:cNvSpPr/>
          <p:nvPr/>
        </p:nvSpPr>
        <p:spPr>
          <a:xfrm>
            <a:off x="2514600" y="1371600"/>
            <a:ext cx="1920240" cy="553212"/>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lang="en-US" sz="3200">
                <a:solidFill>
                  <a:srgbClr val="FFFFFF"/>
                </a:solidFill>
                <a:latin typeface="Calibri"/>
                <a:ea typeface="Calibri"/>
                <a:cs typeface="Calibri"/>
                <a:sym typeface="Calibri"/>
              </a:rPr>
              <a:t>3.96</a:t>
            </a:r>
            <a:r>
              <a:rPr b="1" lang="en-US" sz="3200">
                <a:solidFill>
                  <a:srgbClr val="FFFFFF"/>
                </a:solidFill>
                <a:latin typeface="Calibri"/>
                <a:ea typeface="Calibri"/>
                <a:cs typeface="Calibri"/>
                <a:sym typeface="Calibri"/>
              </a:rPr>
              <a:t>M</a:t>
            </a:r>
            <a:endParaRPr sz="3200">
              <a:solidFill>
                <a:schemeClr val="dk1"/>
              </a:solidFill>
              <a:latin typeface="Calibri"/>
              <a:ea typeface="Calibri"/>
              <a:cs typeface="Calibri"/>
              <a:sym typeface="Calibri"/>
            </a:endParaRPr>
          </a:p>
        </p:txBody>
      </p:sp>
      <p:sp>
        <p:nvSpPr>
          <p:cNvPr id="68" name="Google Shape;68;p3"/>
          <p:cNvSpPr/>
          <p:nvPr/>
        </p:nvSpPr>
        <p:spPr>
          <a:xfrm>
            <a:off x="2514600" y="1845259"/>
            <a:ext cx="1920240" cy="3520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After Filtering</a:t>
            </a:r>
            <a:endParaRPr sz="1050">
              <a:solidFill>
                <a:schemeClr val="dk1"/>
              </a:solidFill>
              <a:latin typeface="Calibri"/>
              <a:ea typeface="Calibri"/>
              <a:cs typeface="Calibri"/>
              <a:sym typeface="Calibri"/>
            </a:endParaRPr>
          </a:p>
        </p:txBody>
      </p:sp>
      <p:sp>
        <p:nvSpPr>
          <p:cNvPr id="69" name="Google Shape;69;p3"/>
          <p:cNvSpPr/>
          <p:nvPr/>
        </p:nvSpPr>
        <p:spPr>
          <a:xfrm>
            <a:off x="4617720" y="1261872"/>
            <a:ext cx="1920240" cy="1005840"/>
          </a:xfrm>
          <a:prstGeom prst="rect">
            <a:avLst/>
          </a:prstGeom>
          <a:solidFill>
            <a:srgbClr val="3A86C8"/>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 name="Google Shape;70;p3"/>
          <p:cNvSpPr/>
          <p:nvPr/>
        </p:nvSpPr>
        <p:spPr>
          <a:xfrm>
            <a:off x="4617720" y="1371600"/>
            <a:ext cx="1920240" cy="553212"/>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lang="en-US" sz="3200">
                <a:solidFill>
                  <a:srgbClr val="FFFFFF"/>
                </a:solidFill>
                <a:latin typeface="Calibri"/>
                <a:ea typeface="Calibri"/>
                <a:cs typeface="Calibri"/>
                <a:sym typeface="Calibri"/>
              </a:rPr>
              <a:t>74.4%</a:t>
            </a:r>
            <a:endParaRPr sz="3200">
              <a:solidFill>
                <a:schemeClr val="dk1"/>
              </a:solidFill>
              <a:latin typeface="Calibri"/>
              <a:ea typeface="Calibri"/>
              <a:cs typeface="Calibri"/>
              <a:sym typeface="Calibri"/>
            </a:endParaRPr>
          </a:p>
        </p:txBody>
      </p:sp>
      <p:sp>
        <p:nvSpPr>
          <p:cNvPr id="71" name="Google Shape;71;p3"/>
          <p:cNvSpPr/>
          <p:nvPr/>
        </p:nvSpPr>
        <p:spPr>
          <a:xfrm>
            <a:off x="4617720" y="1845259"/>
            <a:ext cx="1920240" cy="3520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Approval Rate</a:t>
            </a:r>
            <a:endParaRPr sz="1050">
              <a:solidFill>
                <a:schemeClr val="dk1"/>
              </a:solidFill>
              <a:latin typeface="Calibri"/>
              <a:ea typeface="Calibri"/>
              <a:cs typeface="Calibri"/>
              <a:sym typeface="Calibri"/>
            </a:endParaRPr>
          </a:p>
        </p:txBody>
      </p:sp>
      <p:sp>
        <p:nvSpPr>
          <p:cNvPr id="72" name="Google Shape;72;p3"/>
          <p:cNvSpPr/>
          <p:nvPr/>
        </p:nvSpPr>
        <p:spPr>
          <a:xfrm>
            <a:off x="6720840" y="1261872"/>
            <a:ext cx="1920240" cy="1005840"/>
          </a:xfrm>
          <a:prstGeom prst="rect">
            <a:avLst/>
          </a:prstGeom>
          <a:solidFill>
            <a:srgbClr val="4A6070"/>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 name="Google Shape;73;p3"/>
          <p:cNvSpPr/>
          <p:nvPr/>
        </p:nvSpPr>
        <p:spPr>
          <a:xfrm>
            <a:off x="6720840" y="1371600"/>
            <a:ext cx="1920240" cy="553212"/>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lang="en-US" sz="3200">
                <a:solidFill>
                  <a:srgbClr val="FFFFFF"/>
                </a:solidFill>
                <a:latin typeface="Calibri"/>
                <a:ea typeface="Calibri"/>
                <a:cs typeface="Calibri"/>
                <a:sym typeface="Calibri"/>
              </a:rPr>
              <a:t>50 States</a:t>
            </a:r>
            <a:endParaRPr sz="3200">
              <a:solidFill>
                <a:schemeClr val="dk1"/>
              </a:solidFill>
              <a:latin typeface="Calibri"/>
              <a:ea typeface="Calibri"/>
              <a:cs typeface="Calibri"/>
              <a:sym typeface="Calibri"/>
            </a:endParaRPr>
          </a:p>
        </p:txBody>
      </p:sp>
      <p:sp>
        <p:nvSpPr>
          <p:cNvPr id="74" name="Google Shape;74;p3"/>
          <p:cNvSpPr/>
          <p:nvPr/>
        </p:nvSpPr>
        <p:spPr>
          <a:xfrm>
            <a:off x="6720840" y="1845259"/>
            <a:ext cx="1920240" cy="3520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Geographic Scope</a:t>
            </a:r>
            <a:endParaRPr sz="1050">
              <a:solidFill>
                <a:schemeClr val="dk1"/>
              </a:solidFill>
              <a:latin typeface="Calibri"/>
              <a:ea typeface="Calibri"/>
              <a:cs typeface="Calibri"/>
              <a:sym typeface="Calibri"/>
            </a:endParaRPr>
          </a:p>
        </p:txBody>
      </p:sp>
      <p:sp>
        <p:nvSpPr>
          <p:cNvPr id="75" name="Google Shape;75;p3"/>
          <p:cNvSpPr/>
          <p:nvPr/>
        </p:nvSpPr>
        <p:spPr>
          <a:xfrm>
            <a:off x="411480" y="2450592"/>
            <a:ext cx="4023360" cy="233172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6" name="Google Shape;76;p3"/>
          <p:cNvSpPr/>
          <p:nvPr/>
        </p:nvSpPr>
        <p:spPr>
          <a:xfrm>
            <a:off x="594360" y="2542032"/>
            <a:ext cx="3657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800"/>
              <a:buFont typeface="Calibri"/>
              <a:buNone/>
            </a:pPr>
            <a:r>
              <a:rPr b="1" lang="en-US" sz="1800">
                <a:solidFill>
                  <a:srgbClr val="0D1B2A"/>
                </a:solidFill>
                <a:latin typeface="Calibri"/>
                <a:ea typeface="Calibri"/>
                <a:cs typeface="Calibri"/>
                <a:sym typeface="Calibri"/>
              </a:rPr>
              <a:t>Label Construction</a:t>
            </a:r>
            <a:endParaRPr sz="1800">
              <a:solidFill>
                <a:schemeClr val="dk1"/>
              </a:solidFill>
              <a:latin typeface="Calibri"/>
              <a:ea typeface="Calibri"/>
              <a:cs typeface="Calibri"/>
              <a:sym typeface="Calibri"/>
            </a:endParaRPr>
          </a:p>
        </p:txBody>
      </p:sp>
      <p:sp>
        <p:nvSpPr>
          <p:cNvPr id="77" name="Google Shape;77;p3"/>
          <p:cNvSpPr/>
          <p:nvPr/>
        </p:nvSpPr>
        <p:spPr>
          <a:xfrm>
            <a:off x="594360" y="2907792"/>
            <a:ext cx="164592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b="1" lang="en-US" sz="1200">
                <a:solidFill>
                  <a:srgbClr val="1B6CA8"/>
                </a:solidFill>
                <a:latin typeface="Calibri"/>
                <a:ea typeface="Calibri"/>
                <a:cs typeface="Calibri"/>
                <a:sym typeface="Calibri"/>
              </a:rPr>
              <a:t>action_taken = 1</a:t>
            </a:r>
            <a:endParaRPr sz="1200">
              <a:solidFill>
                <a:schemeClr val="dk1"/>
              </a:solidFill>
              <a:latin typeface="Calibri"/>
              <a:ea typeface="Calibri"/>
              <a:cs typeface="Calibri"/>
              <a:sym typeface="Calibri"/>
            </a:endParaRPr>
          </a:p>
        </p:txBody>
      </p:sp>
      <p:sp>
        <p:nvSpPr>
          <p:cNvPr id="78" name="Google Shape;78;p3"/>
          <p:cNvSpPr/>
          <p:nvPr/>
        </p:nvSpPr>
        <p:spPr>
          <a:xfrm>
            <a:off x="2331720" y="2907792"/>
            <a:ext cx="192024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lang="en-US" sz="1200">
                <a:solidFill>
                  <a:srgbClr val="0D1B2A"/>
                </a:solidFill>
                <a:latin typeface="Calibri"/>
                <a:ea typeface="Calibri"/>
                <a:cs typeface="Calibri"/>
                <a:sym typeface="Calibri"/>
              </a:rPr>
              <a:t>→ Label 1 (Approved)</a:t>
            </a:r>
            <a:endParaRPr sz="1200">
              <a:solidFill>
                <a:schemeClr val="dk1"/>
              </a:solidFill>
              <a:latin typeface="Calibri"/>
              <a:ea typeface="Calibri"/>
              <a:cs typeface="Calibri"/>
              <a:sym typeface="Calibri"/>
            </a:endParaRPr>
          </a:p>
        </p:txBody>
      </p:sp>
      <p:sp>
        <p:nvSpPr>
          <p:cNvPr id="79" name="Google Shape;79;p3"/>
          <p:cNvSpPr/>
          <p:nvPr/>
        </p:nvSpPr>
        <p:spPr>
          <a:xfrm>
            <a:off x="594360" y="3319272"/>
            <a:ext cx="164592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b="1" lang="en-US" sz="1200">
                <a:solidFill>
                  <a:srgbClr val="1B6CA8"/>
                </a:solidFill>
                <a:latin typeface="Calibri"/>
                <a:ea typeface="Calibri"/>
                <a:cs typeface="Calibri"/>
                <a:sym typeface="Calibri"/>
              </a:rPr>
              <a:t>action_taken = 2</a:t>
            </a:r>
            <a:endParaRPr sz="1200">
              <a:solidFill>
                <a:schemeClr val="dk1"/>
              </a:solidFill>
              <a:latin typeface="Calibri"/>
              <a:ea typeface="Calibri"/>
              <a:cs typeface="Calibri"/>
              <a:sym typeface="Calibri"/>
            </a:endParaRPr>
          </a:p>
        </p:txBody>
      </p:sp>
      <p:sp>
        <p:nvSpPr>
          <p:cNvPr id="80" name="Google Shape;80;p3"/>
          <p:cNvSpPr/>
          <p:nvPr/>
        </p:nvSpPr>
        <p:spPr>
          <a:xfrm>
            <a:off x="2331720" y="3319272"/>
            <a:ext cx="192024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lang="en-US" sz="1200">
                <a:solidFill>
                  <a:srgbClr val="0D1B2A"/>
                </a:solidFill>
                <a:latin typeface="Calibri"/>
                <a:ea typeface="Calibri"/>
                <a:cs typeface="Calibri"/>
                <a:sym typeface="Calibri"/>
              </a:rPr>
              <a:t>→ Label 1 (Approved)</a:t>
            </a:r>
            <a:endParaRPr sz="1200">
              <a:solidFill>
                <a:schemeClr val="dk1"/>
              </a:solidFill>
              <a:latin typeface="Calibri"/>
              <a:ea typeface="Calibri"/>
              <a:cs typeface="Calibri"/>
              <a:sym typeface="Calibri"/>
            </a:endParaRPr>
          </a:p>
        </p:txBody>
      </p:sp>
      <p:sp>
        <p:nvSpPr>
          <p:cNvPr id="81" name="Google Shape;81;p3"/>
          <p:cNvSpPr/>
          <p:nvPr/>
        </p:nvSpPr>
        <p:spPr>
          <a:xfrm>
            <a:off x="594360" y="3730752"/>
            <a:ext cx="164592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b="1" lang="en-US" sz="1200">
                <a:solidFill>
                  <a:srgbClr val="1B6CA8"/>
                </a:solidFill>
                <a:latin typeface="Calibri"/>
                <a:ea typeface="Calibri"/>
                <a:cs typeface="Calibri"/>
                <a:sym typeface="Calibri"/>
              </a:rPr>
              <a:t>action_taken = 3</a:t>
            </a:r>
            <a:endParaRPr sz="1200">
              <a:solidFill>
                <a:schemeClr val="dk1"/>
              </a:solidFill>
              <a:latin typeface="Calibri"/>
              <a:ea typeface="Calibri"/>
              <a:cs typeface="Calibri"/>
              <a:sym typeface="Calibri"/>
            </a:endParaRPr>
          </a:p>
        </p:txBody>
      </p:sp>
      <p:sp>
        <p:nvSpPr>
          <p:cNvPr id="82" name="Google Shape;82;p3"/>
          <p:cNvSpPr/>
          <p:nvPr/>
        </p:nvSpPr>
        <p:spPr>
          <a:xfrm>
            <a:off x="2331720" y="3730752"/>
            <a:ext cx="192024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lang="en-US" sz="1200">
                <a:solidFill>
                  <a:srgbClr val="0D1B2A"/>
                </a:solidFill>
                <a:latin typeface="Calibri"/>
                <a:ea typeface="Calibri"/>
                <a:cs typeface="Calibri"/>
                <a:sym typeface="Calibri"/>
              </a:rPr>
              <a:t>→ Label 0 (Denied)</a:t>
            </a:r>
            <a:endParaRPr sz="1200">
              <a:solidFill>
                <a:schemeClr val="dk1"/>
              </a:solidFill>
              <a:latin typeface="Calibri"/>
              <a:ea typeface="Calibri"/>
              <a:cs typeface="Calibri"/>
              <a:sym typeface="Calibri"/>
            </a:endParaRPr>
          </a:p>
        </p:txBody>
      </p:sp>
      <p:sp>
        <p:nvSpPr>
          <p:cNvPr id="83" name="Google Shape;83;p3"/>
          <p:cNvSpPr/>
          <p:nvPr/>
        </p:nvSpPr>
        <p:spPr>
          <a:xfrm>
            <a:off x="594360" y="4142232"/>
            <a:ext cx="164592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b="1" lang="en-US" sz="1200">
                <a:solidFill>
                  <a:srgbClr val="1B6CA8"/>
                </a:solidFill>
                <a:latin typeface="Calibri"/>
                <a:ea typeface="Calibri"/>
                <a:cs typeface="Calibri"/>
                <a:sym typeface="Calibri"/>
              </a:rPr>
              <a:t>4, 5, 6, 7, 8</a:t>
            </a:r>
            <a:endParaRPr sz="1200">
              <a:solidFill>
                <a:schemeClr val="dk1"/>
              </a:solidFill>
              <a:latin typeface="Calibri"/>
              <a:ea typeface="Calibri"/>
              <a:cs typeface="Calibri"/>
              <a:sym typeface="Calibri"/>
            </a:endParaRPr>
          </a:p>
        </p:txBody>
      </p:sp>
      <p:sp>
        <p:nvSpPr>
          <p:cNvPr id="84" name="Google Shape;84;p3"/>
          <p:cNvSpPr/>
          <p:nvPr/>
        </p:nvSpPr>
        <p:spPr>
          <a:xfrm>
            <a:off x="2331720" y="4142232"/>
            <a:ext cx="192024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lang="en-US" sz="1200">
                <a:solidFill>
                  <a:srgbClr val="0D1B2A"/>
                </a:solidFill>
                <a:latin typeface="Calibri"/>
                <a:ea typeface="Calibri"/>
                <a:cs typeface="Calibri"/>
                <a:sym typeface="Calibri"/>
              </a:rPr>
              <a:t>→ Excluded</a:t>
            </a:r>
            <a:endParaRPr sz="1200">
              <a:solidFill>
                <a:schemeClr val="dk1"/>
              </a:solidFill>
              <a:latin typeface="Calibri"/>
              <a:ea typeface="Calibri"/>
              <a:cs typeface="Calibri"/>
              <a:sym typeface="Calibri"/>
            </a:endParaRPr>
          </a:p>
        </p:txBody>
      </p:sp>
      <p:sp>
        <p:nvSpPr>
          <p:cNvPr id="85" name="Google Shape;85;p3"/>
          <p:cNvSpPr/>
          <p:nvPr/>
        </p:nvSpPr>
        <p:spPr>
          <a:xfrm>
            <a:off x="4617720" y="2450592"/>
            <a:ext cx="4114800" cy="233172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800600" y="2542032"/>
            <a:ext cx="37490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800"/>
              <a:buFont typeface="Calibri"/>
              <a:buNone/>
            </a:pPr>
            <a:r>
              <a:rPr b="1" lang="en-US" sz="1800">
                <a:solidFill>
                  <a:srgbClr val="0D1B2A"/>
                </a:solidFill>
                <a:latin typeface="Calibri"/>
                <a:ea typeface="Calibri"/>
                <a:cs typeface="Calibri"/>
                <a:sym typeface="Calibri"/>
              </a:rPr>
              <a:t>Race Breakdown</a:t>
            </a:r>
            <a:endParaRPr sz="1800">
              <a:solidFill>
                <a:schemeClr val="dk1"/>
              </a:solidFill>
              <a:latin typeface="Calibri"/>
              <a:ea typeface="Calibri"/>
              <a:cs typeface="Calibri"/>
              <a:sym typeface="Calibri"/>
            </a:endParaRPr>
          </a:p>
        </p:txBody>
      </p:sp>
      <p:graphicFrame>
        <p:nvGraphicFramePr>
          <p:cNvPr id="87" name="Google Shape;87;p3"/>
          <p:cNvGraphicFramePr/>
          <p:nvPr/>
        </p:nvGraphicFramePr>
        <p:xfrm>
          <a:off x="4663440" y="2834640"/>
          <a:ext cx="3977640" cy="1828800"/>
        </p:xfrm>
        <a:graphic>
          <a:graphicData uri="http://schemas.openxmlformats.org/drawingml/2006/chart">
            <c:chart r:id="rId3"/>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92" name="Shape 92"/>
        <p:cNvGrpSpPr/>
        <p:nvPr/>
      </p:nvGrpSpPr>
      <p:grpSpPr>
        <a:xfrm>
          <a:off x="0" y="0"/>
          <a:ext cx="0" cy="0"/>
          <a:chOff x="0" y="0"/>
          <a:chExt cx="0" cy="0"/>
        </a:xfrm>
      </p:grpSpPr>
      <p:sp>
        <p:nvSpPr>
          <p:cNvPr id="93" name="Google Shape;93;p4"/>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4"/>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Q1  OPTIMIZATION OBJECTIVE</a:t>
            </a:r>
            <a:endParaRPr sz="950">
              <a:solidFill>
                <a:schemeClr val="dk1"/>
              </a:solidFill>
              <a:latin typeface="Calibri"/>
              <a:ea typeface="Calibri"/>
              <a:cs typeface="Calibri"/>
              <a:sym typeface="Calibri"/>
            </a:endParaRPr>
          </a:p>
        </p:txBody>
      </p:sp>
      <p:sp>
        <p:nvSpPr>
          <p:cNvPr id="95" name="Google Shape;95;p4"/>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What Is the Model Optimizing For?</a:t>
            </a:r>
            <a:endParaRPr sz="2600">
              <a:solidFill>
                <a:schemeClr val="dk1"/>
              </a:solidFill>
              <a:latin typeface="Calibri"/>
              <a:ea typeface="Calibri"/>
              <a:cs typeface="Calibri"/>
              <a:sym typeface="Calibri"/>
            </a:endParaRPr>
          </a:p>
        </p:txBody>
      </p:sp>
      <p:sp>
        <p:nvSpPr>
          <p:cNvPr id="96" name="Google Shape;96;p4"/>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4 / 18</a:t>
            </a:r>
            <a:endParaRPr sz="900">
              <a:solidFill>
                <a:schemeClr val="dk1"/>
              </a:solidFill>
              <a:latin typeface="Calibri"/>
              <a:ea typeface="Calibri"/>
              <a:cs typeface="Calibri"/>
              <a:sym typeface="Calibri"/>
            </a:endParaRPr>
          </a:p>
        </p:txBody>
      </p:sp>
      <p:sp>
        <p:nvSpPr>
          <p:cNvPr id="97" name="Google Shape;97;p4"/>
          <p:cNvSpPr/>
          <p:nvPr/>
        </p:nvSpPr>
        <p:spPr>
          <a:xfrm>
            <a:off x="411480" y="1261872"/>
            <a:ext cx="4160520" cy="352044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8" name="Google Shape;98;p4"/>
          <p:cNvSpPr/>
          <p:nvPr/>
        </p:nvSpPr>
        <p:spPr>
          <a:xfrm>
            <a:off x="594360" y="1371600"/>
            <a:ext cx="37947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800"/>
              <a:buFont typeface="Calibri"/>
              <a:buNone/>
            </a:pPr>
            <a:r>
              <a:rPr b="1" lang="en-US" sz="1800">
                <a:solidFill>
                  <a:srgbClr val="0D1B2A"/>
                </a:solidFill>
                <a:latin typeface="Calibri"/>
                <a:ea typeface="Calibri"/>
                <a:cs typeface="Calibri"/>
                <a:sym typeface="Calibri"/>
              </a:rPr>
              <a:t>Primary Metric: AUC-ROC</a:t>
            </a:r>
            <a:endParaRPr sz="1800">
              <a:solidFill>
                <a:schemeClr val="dk1"/>
              </a:solidFill>
              <a:latin typeface="Calibri"/>
              <a:ea typeface="Calibri"/>
              <a:cs typeface="Calibri"/>
              <a:sym typeface="Calibri"/>
            </a:endParaRPr>
          </a:p>
        </p:txBody>
      </p:sp>
      <p:sp>
        <p:nvSpPr>
          <p:cNvPr id="99" name="Google Shape;99;p4"/>
          <p:cNvSpPr/>
          <p:nvPr/>
        </p:nvSpPr>
        <p:spPr>
          <a:xfrm>
            <a:off x="594360" y="1828800"/>
            <a:ext cx="3794760" cy="420624"/>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1400"/>
              <a:buFont typeface="Calibri"/>
              <a:buChar char="•"/>
            </a:pPr>
            <a:r>
              <a:rPr lang="en-US" sz="1400">
                <a:solidFill>
                  <a:srgbClr val="4A6070"/>
                </a:solidFill>
                <a:latin typeface="Calibri"/>
                <a:ea typeface="Calibri"/>
                <a:cs typeface="Calibri"/>
                <a:sym typeface="Calibri"/>
              </a:rPr>
              <a:t>AUC measures discrimination across all thresholds</a:t>
            </a:r>
            <a:endParaRPr sz="1400">
              <a:solidFill>
                <a:schemeClr val="dk1"/>
              </a:solidFill>
              <a:latin typeface="Calibri"/>
              <a:ea typeface="Calibri"/>
              <a:cs typeface="Calibri"/>
              <a:sym typeface="Calibri"/>
            </a:endParaRPr>
          </a:p>
        </p:txBody>
      </p:sp>
      <p:sp>
        <p:nvSpPr>
          <p:cNvPr id="100" name="Google Shape;100;p4"/>
          <p:cNvSpPr/>
          <p:nvPr/>
        </p:nvSpPr>
        <p:spPr>
          <a:xfrm>
            <a:off x="594360" y="2304288"/>
            <a:ext cx="3794760" cy="420624"/>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1400"/>
              <a:buFont typeface="Calibri"/>
              <a:buChar char="•"/>
            </a:pPr>
            <a:r>
              <a:rPr lang="en-US" sz="1400">
                <a:solidFill>
                  <a:srgbClr val="4A6070"/>
                </a:solidFill>
                <a:latin typeface="Calibri"/>
                <a:ea typeface="Calibri"/>
                <a:cs typeface="Calibri"/>
                <a:sym typeface="Calibri"/>
              </a:rPr>
              <a:t>More robust than accuracy under 74/26 class imbalance</a:t>
            </a:r>
            <a:endParaRPr sz="1400">
              <a:solidFill>
                <a:schemeClr val="dk1"/>
              </a:solidFill>
              <a:latin typeface="Calibri"/>
              <a:ea typeface="Calibri"/>
              <a:cs typeface="Calibri"/>
              <a:sym typeface="Calibri"/>
            </a:endParaRPr>
          </a:p>
        </p:txBody>
      </p:sp>
      <p:sp>
        <p:nvSpPr>
          <p:cNvPr id="101" name="Google Shape;101;p4"/>
          <p:cNvSpPr/>
          <p:nvPr/>
        </p:nvSpPr>
        <p:spPr>
          <a:xfrm>
            <a:off x="594360" y="2779776"/>
            <a:ext cx="3794700" cy="42060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1400"/>
              <a:buFont typeface="Calibri"/>
              <a:buChar char="•"/>
            </a:pPr>
            <a:r>
              <a:rPr lang="en-US" sz="1400">
                <a:solidFill>
                  <a:srgbClr val="4A6070"/>
                </a:solidFill>
                <a:latin typeface="Calibri"/>
                <a:ea typeface="Calibri"/>
                <a:cs typeface="Calibri"/>
                <a:sym typeface="Calibri"/>
              </a:rPr>
              <a:t>Threshold </a:t>
            </a:r>
            <a:r>
              <a:rPr lang="en-US">
                <a:solidFill>
                  <a:srgbClr val="4A6070"/>
                </a:solidFill>
                <a:latin typeface="Calibri"/>
                <a:ea typeface="Calibri"/>
                <a:cs typeface="Calibri"/>
                <a:sym typeface="Calibri"/>
              </a:rPr>
              <a:t>= </a:t>
            </a:r>
            <a:r>
              <a:rPr lang="en-US" sz="1400">
                <a:solidFill>
                  <a:srgbClr val="4A6070"/>
                </a:solidFill>
                <a:latin typeface="Calibri"/>
                <a:ea typeface="Calibri"/>
                <a:cs typeface="Calibri"/>
                <a:sym typeface="Calibri"/>
              </a:rPr>
              <a:t>0.80 </a:t>
            </a:r>
            <a:r>
              <a:rPr lang="en-US">
                <a:solidFill>
                  <a:srgbClr val="4A6070"/>
                </a:solidFill>
                <a:latin typeface="Calibri"/>
                <a:ea typeface="Calibri"/>
                <a:cs typeface="Calibri"/>
                <a:sym typeface="Calibri"/>
              </a:rPr>
              <a:t>to reduce false approvals while monitoring subgroup FNRs</a:t>
            </a:r>
            <a:endParaRPr>
              <a:solidFill>
                <a:srgbClr val="4A6070"/>
              </a:solidFill>
              <a:latin typeface="Calibri"/>
              <a:ea typeface="Calibri"/>
              <a:cs typeface="Calibri"/>
              <a:sym typeface="Calibri"/>
            </a:endParaRPr>
          </a:p>
        </p:txBody>
      </p:sp>
      <p:sp>
        <p:nvSpPr>
          <p:cNvPr id="102" name="Google Shape;102;p4"/>
          <p:cNvSpPr/>
          <p:nvPr/>
        </p:nvSpPr>
        <p:spPr>
          <a:xfrm>
            <a:off x="594350" y="3255278"/>
            <a:ext cx="3794700" cy="54870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1400"/>
              <a:buFont typeface="Calibri"/>
              <a:buChar char="•"/>
            </a:pPr>
            <a:r>
              <a:rPr lang="en-US" sz="1400">
                <a:solidFill>
                  <a:srgbClr val="4A6070"/>
                </a:solidFill>
                <a:latin typeface="Calibri"/>
                <a:ea typeface="Calibri"/>
                <a:cs typeface="Calibri"/>
                <a:sym typeface="Calibri"/>
              </a:rPr>
              <a:t>Business rationale: </a:t>
            </a:r>
            <a:r>
              <a:rPr lang="en-US">
                <a:solidFill>
                  <a:srgbClr val="4A6070"/>
                </a:solidFill>
                <a:latin typeface="Calibri"/>
                <a:ea typeface="Calibri"/>
                <a:cs typeface="Calibri"/>
                <a:sym typeface="Calibri"/>
              </a:rPr>
              <a:t>lenders need a model that separates likely approvals from denials better than accuracy alone </a:t>
            </a:r>
            <a:endParaRPr sz="1400">
              <a:solidFill>
                <a:schemeClr val="dk1"/>
              </a:solidFill>
              <a:latin typeface="Calibri"/>
              <a:ea typeface="Calibri"/>
              <a:cs typeface="Calibri"/>
              <a:sym typeface="Calibri"/>
            </a:endParaRPr>
          </a:p>
        </p:txBody>
      </p:sp>
      <p:sp>
        <p:nvSpPr>
          <p:cNvPr id="103" name="Google Shape;103;p4"/>
          <p:cNvSpPr/>
          <p:nvPr/>
        </p:nvSpPr>
        <p:spPr>
          <a:xfrm>
            <a:off x="411480" y="4032504"/>
            <a:ext cx="4160520" cy="736092"/>
          </a:xfrm>
          <a:prstGeom prst="rect">
            <a:avLst/>
          </a:prstGeom>
          <a:solidFill>
            <a:srgbClr val="FFF3CD"/>
          </a:solidFill>
          <a:ln cap="flat" cmpd="sng" w="1905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4"/>
          <p:cNvSpPr/>
          <p:nvPr/>
        </p:nvSpPr>
        <p:spPr>
          <a:xfrm>
            <a:off x="594360" y="3755859"/>
            <a:ext cx="37947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A020"/>
              </a:buClr>
              <a:buSzPts val="1200"/>
              <a:buFont typeface="Calibri"/>
              <a:buNone/>
            </a:pPr>
            <a:r>
              <a:rPr b="1" lang="en-US" sz="1200">
                <a:solidFill>
                  <a:srgbClr val="E8A020"/>
                </a:solidFill>
                <a:latin typeface="Calibri"/>
                <a:ea typeface="Calibri"/>
                <a:cs typeface="Calibri"/>
                <a:sym typeface="Calibri"/>
              </a:rPr>
              <a:t>⚠  Known Tradeoff</a:t>
            </a:r>
            <a:endParaRPr sz="1200">
              <a:solidFill>
                <a:schemeClr val="dk1"/>
              </a:solidFill>
              <a:latin typeface="Calibri"/>
              <a:ea typeface="Calibri"/>
              <a:cs typeface="Calibri"/>
              <a:sym typeface="Calibri"/>
            </a:endParaRPr>
          </a:p>
        </p:txBody>
      </p:sp>
      <p:sp>
        <p:nvSpPr>
          <p:cNvPr id="105" name="Google Shape;105;p4"/>
          <p:cNvSpPr/>
          <p:nvPr/>
        </p:nvSpPr>
        <p:spPr>
          <a:xfrm>
            <a:off x="594360" y="4014216"/>
            <a:ext cx="3794760" cy="73152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1200"/>
              </a:spcBef>
              <a:spcAft>
                <a:spcPts val="1200"/>
              </a:spcAft>
              <a:buSzPts val="1100"/>
              <a:buNone/>
            </a:pPr>
            <a:r>
              <a:rPr lang="en-US" sz="1050">
                <a:solidFill>
                  <a:srgbClr val="1A2836"/>
                </a:solidFill>
                <a:latin typeface="Calibri"/>
                <a:ea typeface="Calibri"/>
                <a:cs typeface="Calibri"/>
                <a:sym typeface="Calibri"/>
              </a:rPr>
              <a:t>Optimizing overall AUC can hide poor subgroup performance. GBT scores 0.838 overall but only 0.815 for Black applicants — a gap that carries real-world consequences.</a:t>
            </a:r>
            <a:endParaRPr sz="1050">
              <a:solidFill>
                <a:srgbClr val="1A2836"/>
              </a:solidFill>
              <a:latin typeface="Calibri"/>
              <a:ea typeface="Calibri"/>
              <a:cs typeface="Calibri"/>
              <a:sym typeface="Calibri"/>
            </a:endParaRPr>
          </a:p>
        </p:txBody>
      </p:sp>
      <p:sp>
        <p:nvSpPr>
          <p:cNvPr id="106" name="Google Shape;106;p4"/>
          <p:cNvSpPr/>
          <p:nvPr/>
        </p:nvSpPr>
        <p:spPr>
          <a:xfrm>
            <a:off x="4754880" y="1261872"/>
            <a:ext cx="3977640" cy="352044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7" name="Google Shape;107;p4"/>
          <p:cNvSpPr/>
          <p:nvPr/>
        </p:nvSpPr>
        <p:spPr>
          <a:xfrm>
            <a:off x="4937760" y="1371600"/>
            <a:ext cx="361188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800"/>
              <a:buFont typeface="Calibri"/>
              <a:buNone/>
            </a:pPr>
            <a:r>
              <a:rPr b="1" lang="en-US" sz="1800">
                <a:solidFill>
                  <a:srgbClr val="0D1B2A"/>
                </a:solidFill>
                <a:latin typeface="Calibri"/>
                <a:ea typeface="Calibri"/>
                <a:cs typeface="Calibri"/>
                <a:sym typeface="Calibri"/>
              </a:rPr>
              <a:t>Who Bears the Cost?</a:t>
            </a:r>
            <a:endParaRPr sz="1800">
              <a:solidFill>
                <a:schemeClr val="dk1"/>
              </a:solidFill>
              <a:latin typeface="Calibri"/>
              <a:ea typeface="Calibri"/>
              <a:cs typeface="Calibri"/>
              <a:sym typeface="Calibri"/>
            </a:endParaRPr>
          </a:p>
        </p:txBody>
      </p:sp>
      <p:sp>
        <p:nvSpPr>
          <p:cNvPr id="108" name="Google Shape;108;p4"/>
          <p:cNvSpPr/>
          <p:nvPr/>
        </p:nvSpPr>
        <p:spPr>
          <a:xfrm>
            <a:off x="4754880" y="1874520"/>
            <a:ext cx="3977640" cy="658368"/>
          </a:xfrm>
          <a:prstGeom prst="rect">
            <a:avLst/>
          </a:prstGeom>
          <a:solidFill>
            <a:srgbClr val="EEF4FA"/>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9" name="Google Shape;109;p4"/>
          <p:cNvSpPr/>
          <p:nvPr/>
        </p:nvSpPr>
        <p:spPr>
          <a:xfrm>
            <a:off x="4937760" y="1920240"/>
            <a:ext cx="10972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400"/>
              <a:buFont typeface="Calibri"/>
              <a:buNone/>
            </a:pPr>
            <a:r>
              <a:rPr b="1" lang="en-US" sz="1400">
                <a:solidFill>
                  <a:srgbClr val="1B6CA8"/>
                </a:solidFill>
                <a:latin typeface="Calibri"/>
                <a:ea typeface="Calibri"/>
                <a:cs typeface="Calibri"/>
                <a:sym typeface="Calibri"/>
              </a:rPr>
              <a:t>Applicants</a:t>
            </a:r>
            <a:endParaRPr sz="1400">
              <a:solidFill>
                <a:schemeClr val="dk1"/>
              </a:solidFill>
              <a:latin typeface="Calibri"/>
              <a:ea typeface="Calibri"/>
              <a:cs typeface="Calibri"/>
              <a:sym typeface="Calibri"/>
            </a:endParaRPr>
          </a:p>
        </p:txBody>
      </p:sp>
      <p:sp>
        <p:nvSpPr>
          <p:cNvPr id="110" name="Google Shape;110;p4"/>
          <p:cNvSpPr/>
          <p:nvPr/>
        </p:nvSpPr>
        <p:spPr>
          <a:xfrm>
            <a:off x="4937760" y="2176272"/>
            <a:ext cx="36118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Denied access to credit if FPR is high for minority groups</a:t>
            </a:r>
            <a:endParaRPr sz="1100">
              <a:solidFill>
                <a:schemeClr val="dk1"/>
              </a:solidFill>
              <a:latin typeface="Calibri"/>
              <a:ea typeface="Calibri"/>
              <a:cs typeface="Calibri"/>
              <a:sym typeface="Calibri"/>
            </a:endParaRPr>
          </a:p>
        </p:txBody>
      </p:sp>
      <p:sp>
        <p:nvSpPr>
          <p:cNvPr id="111" name="Google Shape;111;p4"/>
          <p:cNvSpPr/>
          <p:nvPr/>
        </p:nvSpPr>
        <p:spPr>
          <a:xfrm>
            <a:off x="4754880" y="2624328"/>
            <a:ext cx="3977640" cy="658368"/>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4937760" y="2670048"/>
            <a:ext cx="10972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400"/>
              <a:buFont typeface="Calibri"/>
              <a:buNone/>
            </a:pPr>
            <a:r>
              <a:rPr b="1" lang="en-US" sz="1400">
                <a:solidFill>
                  <a:srgbClr val="1B6CA8"/>
                </a:solidFill>
                <a:latin typeface="Calibri"/>
                <a:ea typeface="Calibri"/>
                <a:cs typeface="Calibri"/>
                <a:sym typeface="Calibri"/>
              </a:rPr>
              <a:t>Lenders</a:t>
            </a:r>
            <a:endParaRPr sz="1400">
              <a:solidFill>
                <a:schemeClr val="dk1"/>
              </a:solidFill>
              <a:latin typeface="Calibri"/>
              <a:ea typeface="Calibri"/>
              <a:cs typeface="Calibri"/>
              <a:sym typeface="Calibri"/>
            </a:endParaRPr>
          </a:p>
        </p:txBody>
      </p:sp>
      <p:sp>
        <p:nvSpPr>
          <p:cNvPr id="113" name="Google Shape;113;p4"/>
          <p:cNvSpPr/>
          <p:nvPr/>
        </p:nvSpPr>
        <p:spPr>
          <a:xfrm>
            <a:off x="4937760" y="2926080"/>
            <a:ext cx="36118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Regulatory risk if model violates ECOA or Fair Housing Act</a:t>
            </a:r>
            <a:endParaRPr sz="1100">
              <a:solidFill>
                <a:schemeClr val="dk1"/>
              </a:solidFill>
              <a:latin typeface="Calibri"/>
              <a:ea typeface="Calibri"/>
              <a:cs typeface="Calibri"/>
              <a:sym typeface="Calibri"/>
            </a:endParaRPr>
          </a:p>
        </p:txBody>
      </p:sp>
      <p:sp>
        <p:nvSpPr>
          <p:cNvPr id="114" name="Google Shape;114;p4"/>
          <p:cNvSpPr/>
          <p:nvPr/>
        </p:nvSpPr>
        <p:spPr>
          <a:xfrm>
            <a:off x="4754880" y="3374136"/>
            <a:ext cx="3977640" cy="658368"/>
          </a:xfrm>
          <a:prstGeom prst="rect">
            <a:avLst/>
          </a:prstGeom>
          <a:solidFill>
            <a:srgbClr val="EEF4FA"/>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5" name="Google Shape;115;p4"/>
          <p:cNvSpPr/>
          <p:nvPr/>
        </p:nvSpPr>
        <p:spPr>
          <a:xfrm>
            <a:off x="4937760" y="3419856"/>
            <a:ext cx="10972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400"/>
              <a:buFont typeface="Calibri"/>
              <a:buNone/>
            </a:pPr>
            <a:r>
              <a:rPr b="1" lang="en-US" sz="1400">
                <a:solidFill>
                  <a:srgbClr val="1B6CA8"/>
                </a:solidFill>
                <a:latin typeface="Calibri"/>
                <a:ea typeface="Calibri"/>
                <a:cs typeface="Calibri"/>
                <a:sym typeface="Calibri"/>
              </a:rPr>
              <a:t>Regulators</a:t>
            </a:r>
            <a:endParaRPr sz="1400">
              <a:solidFill>
                <a:schemeClr val="dk1"/>
              </a:solidFill>
              <a:latin typeface="Calibri"/>
              <a:ea typeface="Calibri"/>
              <a:cs typeface="Calibri"/>
              <a:sym typeface="Calibri"/>
            </a:endParaRPr>
          </a:p>
        </p:txBody>
      </p:sp>
      <p:sp>
        <p:nvSpPr>
          <p:cNvPr id="116" name="Google Shape;116;p4"/>
          <p:cNvSpPr/>
          <p:nvPr/>
        </p:nvSpPr>
        <p:spPr>
          <a:xfrm>
            <a:off x="4937760" y="3675888"/>
            <a:ext cx="36118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Systemic fair-lending violations if AIR &lt; 0.80 not flagged</a:t>
            </a:r>
            <a:endParaRPr sz="1100">
              <a:solidFill>
                <a:schemeClr val="dk1"/>
              </a:solidFill>
              <a:latin typeface="Calibri"/>
              <a:ea typeface="Calibri"/>
              <a:cs typeface="Calibri"/>
              <a:sym typeface="Calibri"/>
            </a:endParaRPr>
          </a:p>
        </p:txBody>
      </p:sp>
      <p:sp>
        <p:nvSpPr>
          <p:cNvPr id="117" name="Google Shape;117;p4"/>
          <p:cNvSpPr/>
          <p:nvPr/>
        </p:nvSpPr>
        <p:spPr>
          <a:xfrm>
            <a:off x="4754880" y="4123944"/>
            <a:ext cx="3977640" cy="658368"/>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4937760" y="4169664"/>
            <a:ext cx="10972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400"/>
              <a:buFont typeface="Calibri"/>
              <a:buNone/>
            </a:pPr>
            <a:r>
              <a:rPr b="1" lang="en-US" sz="1400">
                <a:solidFill>
                  <a:srgbClr val="1B6CA8"/>
                </a:solidFill>
                <a:latin typeface="Calibri"/>
                <a:ea typeface="Calibri"/>
                <a:cs typeface="Calibri"/>
                <a:sym typeface="Calibri"/>
              </a:rPr>
              <a:t>Community</a:t>
            </a:r>
            <a:endParaRPr sz="1400">
              <a:solidFill>
                <a:schemeClr val="dk1"/>
              </a:solidFill>
              <a:latin typeface="Calibri"/>
              <a:ea typeface="Calibri"/>
              <a:cs typeface="Calibri"/>
              <a:sym typeface="Calibri"/>
            </a:endParaRPr>
          </a:p>
        </p:txBody>
      </p:sp>
      <p:sp>
        <p:nvSpPr>
          <p:cNvPr id="119" name="Google Shape;119;p4"/>
          <p:cNvSpPr/>
          <p:nvPr/>
        </p:nvSpPr>
        <p:spPr>
          <a:xfrm>
            <a:off x="4937760" y="4425696"/>
            <a:ext cx="36118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Redlining if geographic proxies encode race implicitly</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24" name="Shape 124"/>
        <p:cNvGrpSpPr/>
        <p:nvPr/>
      </p:nvGrpSpPr>
      <p:grpSpPr>
        <a:xfrm>
          <a:off x="0" y="0"/>
          <a:ext cx="0" cy="0"/>
          <a:chOff x="0" y="0"/>
          <a:chExt cx="0" cy="0"/>
        </a:xfrm>
      </p:grpSpPr>
      <p:sp>
        <p:nvSpPr>
          <p:cNvPr id="125" name="Google Shape;125;g3def50e1049_3_163"/>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Featured used in Modeling</a:t>
            </a:r>
            <a:endParaRPr sz="2600">
              <a:solidFill>
                <a:schemeClr val="dk1"/>
              </a:solidFill>
              <a:latin typeface="Calibri"/>
              <a:ea typeface="Calibri"/>
              <a:cs typeface="Calibri"/>
              <a:sym typeface="Calibri"/>
            </a:endParaRPr>
          </a:p>
        </p:txBody>
      </p:sp>
      <p:sp>
        <p:nvSpPr>
          <p:cNvPr id="126" name="Google Shape;126;g3def50e1049_3_163"/>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6 / 18</a:t>
            </a:r>
            <a:endParaRPr sz="900">
              <a:solidFill>
                <a:schemeClr val="dk1"/>
              </a:solidFill>
              <a:latin typeface="Calibri"/>
              <a:ea typeface="Calibri"/>
              <a:cs typeface="Calibri"/>
              <a:sym typeface="Calibri"/>
            </a:endParaRPr>
          </a:p>
        </p:txBody>
      </p:sp>
      <p:graphicFrame>
        <p:nvGraphicFramePr>
          <p:cNvPr id="127" name="Google Shape;127;g3def50e1049_3_163"/>
          <p:cNvGraphicFramePr/>
          <p:nvPr/>
        </p:nvGraphicFramePr>
        <p:xfrm>
          <a:off x="411480" y="1115623"/>
          <a:ext cx="3000000" cy="3000000"/>
        </p:xfrm>
        <a:graphic>
          <a:graphicData uri="http://schemas.openxmlformats.org/drawingml/2006/table">
            <a:tbl>
              <a:tblPr>
                <a:noFill/>
                <a:tableStyleId>{DE8012B9-8EC4-40CB-9E28-2F91E47B8B41}</a:tableStyleId>
              </a:tblPr>
              <a:tblGrid>
                <a:gridCol w="3520450"/>
                <a:gridCol w="4800650"/>
              </a:tblGrid>
              <a:tr h="246300">
                <a:tc>
                  <a:txBody>
                    <a:bodyPr/>
                    <a:lstStyle/>
                    <a:p>
                      <a:pPr indent="0" lvl="0" marL="0" marR="0" rtl="0" algn="l">
                        <a:spcBef>
                          <a:spcPts val="0"/>
                        </a:spcBef>
                        <a:spcAft>
                          <a:spcPts val="0"/>
                        </a:spcAft>
                        <a:buClr>
                          <a:srgbClr val="FFFFFF"/>
                        </a:buClr>
                        <a:buSzPts val="1400"/>
                        <a:buFont typeface="Calibri"/>
                        <a:buNone/>
                      </a:pPr>
                      <a:r>
                        <a:rPr b="1" lang="en-US">
                          <a:solidFill>
                            <a:srgbClr val="FFFFFF"/>
                          </a:solidFill>
                        </a:rPr>
                        <a:t>Feature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a:solidFill>
                            <a:srgbClr val="FFFFFF"/>
                          </a:solidFill>
                        </a:rPr>
                        <a:t>Definition</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r>
              <a:tr h="579400">
                <a:tc>
                  <a:txBody>
                    <a:bodyPr/>
                    <a:lstStyle/>
                    <a:p>
                      <a:pPr indent="0" lvl="0" marL="0" marR="0" rtl="0" algn="l">
                        <a:spcBef>
                          <a:spcPts val="0"/>
                        </a:spcBef>
                        <a:spcAft>
                          <a:spcPts val="0"/>
                        </a:spcAft>
                        <a:buClr>
                          <a:srgbClr val="C0392B"/>
                        </a:buClr>
                        <a:buSzPts val="1200"/>
                        <a:buFont typeface="Calibri"/>
                        <a:buNone/>
                      </a:pPr>
                      <a:r>
                        <a:rPr b="1" lang="en-US" sz="1000">
                          <a:solidFill>
                            <a:schemeClr val="dk1"/>
                          </a:solidFill>
                        </a:rPr>
                        <a:t>Income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The gross annual income, in thousands of dollars, relied on in making the credit decision, or if a credit decision was not made, the gross annual income relied on in processing the application</a:t>
                      </a:r>
                      <a:endParaRPr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51925">
                <a:tc>
                  <a:txBody>
                    <a:bodyPr/>
                    <a:lstStyle/>
                    <a:p>
                      <a:pPr indent="0" lvl="0" marL="0" marR="0" rtl="0" algn="l">
                        <a:spcBef>
                          <a:spcPts val="0"/>
                        </a:spcBef>
                        <a:spcAft>
                          <a:spcPts val="0"/>
                        </a:spcAft>
                        <a:buClr>
                          <a:srgbClr val="C0392B"/>
                        </a:buClr>
                        <a:buSzPts val="1200"/>
                        <a:buFont typeface="Calibri"/>
                        <a:buNone/>
                      </a:pPr>
                      <a:r>
                        <a:rPr b="1" lang="en-US" sz="1000">
                          <a:solidFill>
                            <a:schemeClr val="dk1"/>
                          </a:solidFill>
                        </a:rPr>
                        <a:t>Property Value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The value of the property securing the covered loan or, in the case of an application, proposed to secure the covered loan, relied on in making the credit decision</a:t>
                      </a:r>
                      <a:endParaRPr sz="900">
                        <a:solidFill>
                          <a:schemeClr val="dk1"/>
                        </a:solidFill>
                      </a:endParaRPr>
                    </a:p>
                    <a:p>
                      <a:pPr indent="0" lvl="0" marL="0" marR="0" rtl="0" algn="l">
                        <a:spcBef>
                          <a:spcPts val="0"/>
                        </a:spcBef>
                        <a:spcAft>
                          <a:spcPts val="0"/>
                        </a:spcAft>
                        <a:buClr>
                          <a:srgbClr val="000000"/>
                        </a:buClr>
                        <a:buSzPts val="1200"/>
                        <a:buFont typeface="Calibri"/>
                        <a:buNone/>
                      </a:pPr>
                      <a:r>
                        <a:t/>
                      </a:r>
                      <a:endParaRPr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312175">
                <a:tc>
                  <a:txBody>
                    <a:bodyPr/>
                    <a:lstStyle/>
                    <a:p>
                      <a:pPr indent="0" lvl="0" marL="0" marR="0" rtl="0" algn="l">
                        <a:spcBef>
                          <a:spcPts val="0"/>
                        </a:spcBef>
                        <a:spcAft>
                          <a:spcPts val="0"/>
                        </a:spcAft>
                        <a:buClr>
                          <a:srgbClr val="E8A020"/>
                        </a:buClr>
                        <a:buSzPts val="1200"/>
                        <a:buFont typeface="Calibri"/>
                        <a:buNone/>
                      </a:pPr>
                      <a:r>
                        <a:rPr b="1" lang="en-US" sz="1000">
                          <a:solidFill>
                            <a:schemeClr val="dk1"/>
                          </a:solidFill>
                        </a:rPr>
                        <a:t>Debt-to-income Ratio</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The ratio, as a percentage, of the applicant’s or borrower’s total monthly debt to the total monthly income relied on in making the credit decision</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Clr>
                          <a:srgbClr val="E8A020"/>
                        </a:buClr>
                        <a:buSzPts val="1200"/>
                        <a:buFont typeface="Calibri"/>
                        <a:buNone/>
                      </a:pPr>
                      <a:r>
                        <a:rPr b="1" lang="en-US" sz="1000">
                          <a:solidFill>
                            <a:schemeClr val="dk1"/>
                          </a:solidFill>
                        </a:rPr>
                        <a:t>ffiec_msa_md_median_family_income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FFIEC Median family income in dollars for the MSA/MD in which the tract is located </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Clr>
                          <a:srgbClr val="E8A020"/>
                        </a:buClr>
                        <a:buSzPts val="1200"/>
                        <a:buFont typeface="Calibri"/>
                        <a:buNone/>
                      </a:pPr>
                      <a:r>
                        <a:rPr b="1" lang="en-US" sz="1000">
                          <a:solidFill>
                            <a:schemeClr val="dk1"/>
                          </a:solidFill>
                        </a:rPr>
                        <a:t>Loan Purpose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The purpose of covered loan or application</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Clr>
                          <a:srgbClr val="1A7A4A"/>
                        </a:buClr>
                        <a:buSzPts val="1200"/>
                        <a:buFont typeface="Calibri"/>
                        <a:buNone/>
                      </a:pPr>
                      <a:r>
                        <a:rPr b="1" lang="en-US" sz="1000">
                          <a:solidFill>
                            <a:schemeClr val="dk1"/>
                          </a:solidFill>
                        </a:rPr>
                        <a:t>Reverse Mortgage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Whether the covered loan or application is for a reverse mortgage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312175">
                <a:tc>
                  <a:txBody>
                    <a:bodyPr/>
                    <a:lstStyle/>
                    <a:p>
                      <a:pPr indent="0" lvl="0" marL="0" marR="0" rtl="0" algn="l">
                        <a:spcBef>
                          <a:spcPts val="0"/>
                        </a:spcBef>
                        <a:spcAft>
                          <a:spcPts val="0"/>
                        </a:spcAft>
                        <a:buNone/>
                      </a:pPr>
                      <a:r>
                        <a:rPr b="1" lang="en-US" sz="1000">
                          <a:solidFill>
                            <a:schemeClr val="dk1"/>
                          </a:solidFill>
                        </a:rPr>
                        <a:t>Submission_of_application</a:t>
                      </a:r>
                      <a:endParaRPr b="1"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Whether the applicant or borrower submitted the application directly to the financial institution</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None/>
                      </a:pPr>
                      <a:r>
                        <a:rPr b="1" lang="en-US" sz="1000">
                          <a:solidFill>
                            <a:schemeClr val="dk1"/>
                          </a:solidFill>
                        </a:rPr>
                        <a:t>B</a:t>
                      </a:r>
                      <a:r>
                        <a:rPr b="1" lang="en-US" sz="1000">
                          <a:solidFill>
                            <a:schemeClr val="dk1"/>
                          </a:solidFill>
                        </a:rPr>
                        <a:t>usiness_or_commercial_purpose</a:t>
                      </a:r>
                      <a:endParaRPr b="1"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Whether the covered loan or application is primarily for a business or commercial purpose</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None/>
                      </a:pPr>
                      <a:r>
                        <a:rPr b="1" lang="en-US" sz="1000">
                          <a:solidFill>
                            <a:schemeClr val="dk1"/>
                          </a:solidFill>
                        </a:rPr>
                        <a:t>O</a:t>
                      </a:r>
                      <a:r>
                        <a:rPr b="1" lang="en-US" sz="1000">
                          <a:solidFill>
                            <a:schemeClr val="dk1"/>
                          </a:solidFill>
                        </a:rPr>
                        <a:t>ccupany_type</a:t>
                      </a:r>
                      <a:endParaRPr b="1"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Occupancy type for the dwelling</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197050">
                <a:tc>
                  <a:txBody>
                    <a:bodyPr/>
                    <a:lstStyle/>
                    <a:p>
                      <a:pPr indent="0" lvl="0" marL="0" marR="0" rtl="0" algn="l">
                        <a:spcBef>
                          <a:spcPts val="0"/>
                        </a:spcBef>
                        <a:spcAft>
                          <a:spcPts val="0"/>
                        </a:spcAft>
                        <a:buNone/>
                      </a:pPr>
                      <a:r>
                        <a:rPr b="1" lang="en-US" sz="1000">
                          <a:solidFill>
                            <a:schemeClr val="dk1"/>
                          </a:solidFill>
                        </a:rPr>
                        <a:t>C</a:t>
                      </a:r>
                      <a:r>
                        <a:rPr b="1" lang="en-US" sz="1000">
                          <a:solidFill>
                            <a:schemeClr val="dk1"/>
                          </a:solidFill>
                        </a:rPr>
                        <a:t>onstruction_method</a:t>
                      </a:r>
                      <a:endParaRPr b="1" sz="1000">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lang="en-US" sz="900">
                          <a:solidFill>
                            <a:schemeClr val="dk1"/>
                          </a:solidFill>
                        </a:rPr>
                        <a:t>Construction method for the dwelling</a:t>
                      </a:r>
                      <a:endParaRPr sz="1000" u="none" cap="none" strike="noStrike">
                        <a:solidFill>
                          <a:schemeClr val="dk1"/>
                        </a:solidFill>
                      </a:endParaRPr>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bl>
          </a:graphicData>
        </a:graphic>
      </p:graphicFrame>
      <p:sp>
        <p:nvSpPr>
          <p:cNvPr id="128" name="Google Shape;128;g3def50e1049_3_163"/>
          <p:cNvSpPr/>
          <p:nvPr/>
        </p:nvSpPr>
        <p:spPr>
          <a:xfrm>
            <a:off x="411480" y="201168"/>
            <a:ext cx="1828800" cy="292500"/>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g3def50e1049_3_163"/>
          <p:cNvSpPr/>
          <p:nvPr/>
        </p:nvSpPr>
        <p:spPr>
          <a:xfrm>
            <a:off x="411480" y="201168"/>
            <a:ext cx="1828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Q1  OPTIMIZATION OBJECTIVE</a:t>
            </a:r>
            <a:endParaRPr sz="950">
              <a:solidFill>
                <a:schemeClr val="dk1"/>
              </a:solidFill>
              <a:latin typeface="Calibri"/>
              <a:ea typeface="Calibri"/>
              <a:cs typeface="Calibri"/>
              <a:sym typeface="Calibri"/>
            </a:endParaRPr>
          </a:p>
        </p:txBody>
      </p:sp>
      <p:sp>
        <p:nvSpPr>
          <p:cNvPr id="130" name="Google Shape;130;g3def50e1049_3_163"/>
          <p:cNvSpPr/>
          <p:nvPr/>
        </p:nvSpPr>
        <p:spPr>
          <a:xfrm>
            <a:off x="4572175" y="676002"/>
            <a:ext cx="4160400" cy="292500"/>
          </a:xfrm>
          <a:prstGeom prst="rect">
            <a:avLst/>
          </a:prstGeom>
          <a:solidFill>
            <a:srgbClr val="FFF3CD"/>
          </a:solidFill>
          <a:ln cap="flat" cmpd="sng" w="1905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1" name="Google Shape;131;g3def50e1049_3_163"/>
          <p:cNvSpPr/>
          <p:nvPr/>
        </p:nvSpPr>
        <p:spPr>
          <a:xfrm>
            <a:off x="4755060" y="399359"/>
            <a:ext cx="37947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A020"/>
              </a:buClr>
              <a:buSzPts val="1200"/>
              <a:buFont typeface="Calibri"/>
              <a:buNone/>
            </a:pPr>
            <a:r>
              <a:rPr b="1" lang="en-US" sz="1200">
                <a:solidFill>
                  <a:srgbClr val="E8A020"/>
                </a:solidFill>
                <a:latin typeface="Calibri"/>
                <a:ea typeface="Calibri"/>
                <a:cs typeface="Calibri"/>
                <a:sym typeface="Calibri"/>
              </a:rPr>
              <a:t>⚠  Protected Attributes</a:t>
            </a:r>
            <a:endParaRPr sz="1200">
              <a:solidFill>
                <a:schemeClr val="dk1"/>
              </a:solidFill>
              <a:latin typeface="Calibri"/>
              <a:ea typeface="Calibri"/>
              <a:cs typeface="Calibri"/>
              <a:sym typeface="Calibri"/>
            </a:endParaRPr>
          </a:p>
        </p:txBody>
      </p:sp>
      <p:sp>
        <p:nvSpPr>
          <p:cNvPr id="132" name="Google Shape;132;g3def50e1049_3_163"/>
          <p:cNvSpPr/>
          <p:nvPr/>
        </p:nvSpPr>
        <p:spPr>
          <a:xfrm>
            <a:off x="4755050" y="657723"/>
            <a:ext cx="3794700" cy="2925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1200"/>
              </a:spcBef>
              <a:spcAft>
                <a:spcPts val="1200"/>
              </a:spcAft>
              <a:buSzPts val="1100"/>
              <a:buNone/>
            </a:pPr>
            <a:r>
              <a:rPr lang="en-US" sz="1050">
                <a:solidFill>
                  <a:srgbClr val="1A2836"/>
                </a:solidFill>
                <a:latin typeface="Calibri"/>
                <a:ea typeface="Calibri"/>
                <a:cs typeface="Calibri"/>
                <a:sym typeface="Calibri"/>
              </a:rPr>
              <a:t>Race, Sex, Applicant Age, State Code</a:t>
            </a:r>
            <a:endParaRPr sz="1050">
              <a:solidFill>
                <a:srgbClr val="1A283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37" name="Shape 137"/>
        <p:cNvGrpSpPr/>
        <p:nvPr/>
      </p:nvGrpSpPr>
      <p:grpSpPr>
        <a:xfrm>
          <a:off x="0" y="0"/>
          <a:ext cx="0" cy="0"/>
          <a:chOff x="0" y="0"/>
          <a:chExt cx="0" cy="0"/>
        </a:xfrm>
      </p:grpSpPr>
      <p:sp>
        <p:nvSpPr>
          <p:cNvPr id="138" name="Google Shape;138;p5"/>
          <p:cNvSpPr/>
          <p:nvPr/>
        </p:nvSpPr>
        <p:spPr>
          <a:xfrm>
            <a:off x="411480" y="201168"/>
            <a:ext cx="1828800" cy="292608"/>
          </a:xfrm>
          <a:prstGeom prst="roundRect">
            <a:avLst>
              <a:gd fmla="val 15625" name="adj"/>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9" name="Google Shape;139;p5"/>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Q2  FAILURE MODES</a:t>
            </a:r>
            <a:endParaRPr sz="950">
              <a:solidFill>
                <a:schemeClr val="dk1"/>
              </a:solidFill>
              <a:latin typeface="Calibri"/>
              <a:ea typeface="Calibri"/>
              <a:cs typeface="Calibri"/>
              <a:sym typeface="Calibri"/>
            </a:endParaRPr>
          </a:p>
        </p:txBody>
      </p:sp>
      <p:sp>
        <p:nvSpPr>
          <p:cNvPr id="140" name="Google Shape;140;p5"/>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Where the Model Is Expected to Fail</a:t>
            </a:r>
            <a:endParaRPr sz="2600">
              <a:solidFill>
                <a:schemeClr val="dk1"/>
              </a:solidFill>
              <a:latin typeface="Calibri"/>
              <a:ea typeface="Calibri"/>
              <a:cs typeface="Calibri"/>
              <a:sym typeface="Calibri"/>
            </a:endParaRPr>
          </a:p>
        </p:txBody>
      </p:sp>
      <p:sp>
        <p:nvSpPr>
          <p:cNvPr id="141" name="Google Shape;141;p5"/>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6 / 18</a:t>
            </a:r>
            <a:endParaRPr sz="900">
              <a:solidFill>
                <a:schemeClr val="dk1"/>
              </a:solidFill>
              <a:latin typeface="Calibri"/>
              <a:ea typeface="Calibri"/>
              <a:cs typeface="Calibri"/>
              <a:sym typeface="Calibri"/>
            </a:endParaRPr>
          </a:p>
        </p:txBody>
      </p:sp>
      <p:graphicFrame>
        <p:nvGraphicFramePr>
          <p:cNvPr id="142" name="Google Shape;142;p5"/>
          <p:cNvGraphicFramePr/>
          <p:nvPr/>
        </p:nvGraphicFramePr>
        <p:xfrm>
          <a:off x="411480" y="1298448"/>
          <a:ext cx="3000000" cy="3000000"/>
        </p:xfrm>
        <a:graphic>
          <a:graphicData uri="http://schemas.openxmlformats.org/drawingml/2006/table">
            <a:tbl>
              <a:tblPr>
                <a:noFill/>
                <a:tableStyleId>{DE8012B9-8EC4-40CB-9E28-2F91E47B8B41}</a:tableStyleId>
              </a:tblPr>
              <a:tblGrid>
                <a:gridCol w="2179325"/>
                <a:gridCol w="2971800"/>
                <a:gridCol w="2179325"/>
                <a:gridCol w="990600"/>
              </a:tblGrid>
              <a:tr h="668600">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Failure Type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Trigger Condition</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Affected Group</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Severity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r>
              <a:tr h="668600">
                <a:tc>
                  <a:txBody>
                    <a:bodyPr/>
                    <a:lstStyle/>
                    <a:p>
                      <a:pPr indent="0" lvl="0" marL="0" marR="0" rtl="0" algn="l">
                        <a:spcBef>
                          <a:spcPts val="0"/>
                        </a:spcBef>
                        <a:spcAft>
                          <a:spcPts val="0"/>
                        </a:spcAft>
                        <a:buClr>
                          <a:srgbClr val="C0392B"/>
                        </a:buClr>
                        <a:buSzPts val="1200"/>
                        <a:buFont typeface="Calibri"/>
                        <a:buNone/>
                      </a:pPr>
                      <a:r>
                        <a:rPr b="1" lang="en-US" sz="1200" u="none" cap="none" strike="noStrike">
                          <a:solidFill>
                            <a:srgbClr val="C0392B"/>
                          </a:solidFill>
                        </a:rPr>
                        <a:t>Subgroup underperformance</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Calibri"/>
                        <a:buNone/>
                      </a:pPr>
                      <a:r>
                        <a:rPr lang="en-US" sz="1200" u="none" cap="none" strike="noStrike">
                          <a:solidFill>
                            <a:srgbClr val="000000"/>
                          </a:solidFill>
                        </a:rPr>
                        <a:t>Fewer minority training examples; higher variance</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a:t>American Indian, Native Hawaiian</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C0392B"/>
                        </a:buClr>
                        <a:buSzPts val="1200"/>
                        <a:buFont typeface="Calibri"/>
                        <a:buNone/>
                      </a:pPr>
                      <a:r>
                        <a:rPr b="1" lang="en-US" sz="1200" u="none" cap="none" strike="noStrike">
                          <a:solidFill>
                            <a:srgbClr val="C0392B"/>
                          </a:solidFill>
                        </a:rPr>
                        <a:t>HIGH</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668600">
                <a:tc>
                  <a:txBody>
                    <a:bodyPr/>
                    <a:lstStyle/>
                    <a:p>
                      <a:pPr indent="0" lvl="0" marL="0" marR="0" rtl="0" algn="l">
                        <a:spcBef>
                          <a:spcPts val="0"/>
                        </a:spcBef>
                        <a:spcAft>
                          <a:spcPts val="0"/>
                        </a:spcAft>
                        <a:buClr>
                          <a:srgbClr val="E8A020"/>
                        </a:buClr>
                        <a:buSzPts val="1200"/>
                        <a:buFont typeface="Calibri"/>
                        <a:buNone/>
                      </a:pPr>
                      <a:r>
                        <a:rPr b="1" lang="en-US" sz="1200" u="none" cap="none" strike="noStrike">
                          <a:solidFill>
                            <a:srgbClr val="E8A020"/>
                          </a:solidFill>
                        </a:rPr>
                        <a:t>Input gaming (evasion)</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rPr>
                        <a:t>Applicant manipulates income or DTI to cross threshold</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rPr>
                        <a:t>Sophisticated applicants</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E8A020"/>
                        </a:buClr>
                        <a:buSzPts val="1200"/>
                        <a:buFont typeface="Calibri"/>
                        <a:buNone/>
                      </a:pPr>
                      <a:r>
                        <a:rPr b="1" lang="en-US" sz="1200" u="none" cap="none" strike="noStrike">
                          <a:solidFill>
                            <a:srgbClr val="E8A020"/>
                          </a:solidFill>
                        </a:rPr>
                        <a:t>MEDIUM</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668600">
                <a:tc>
                  <a:txBody>
                    <a:bodyPr/>
                    <a:lstStyle/>
                    <a:p>
                      <a:pPr indent="0" lvl="0" marL="0" marR="0" rtl="0" algn="l">
                        <a:spcBef>
                          <a:spcPts val="0"/>
                        </a:spcBef>
                        <a:spcAft>
                          <a:spcPts val="0"/>
                        </a:spcAft>
                        <a:buClr>
                          <a:srgbClr val="E8A020"/>
                        </a:buClr>
                        <a:buSzPts val="1200"/>
                        <a:buFont typeface="Calibri"/>
                        <a:buNone/>
                      </a:pPr>
                      <a:r>
                        <a:rPr b="1" lang="en-US" sz="1200" u="none" cap="none" strike="noStrike">
                          <a:solidFill>
                            <a:srgbClr val="E8A020"/>
                          </a:solidFill>
                        </a:rPr>
                        <a:t>Label-flip data poisoning</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rPr>
                        <a:t>Insider flips approval labels in training data</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rPr>
                        <a:t>Black applicants targeted in lab sweep</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E8A020"/>
                        </a:buClr>
                        <a:buSzPts val="1200"/>
                        <a:buFont typeface="Calibri"/>
                        <a:buNone/>
                      </a:pPr>
                      <a:r>
                        <a:rPr b="1" lang="en-US" sz="1200" u="none" cap="none" strike="noStrike">
                          <a:solidFill>
                            <a:srgbClr val="E8A020"/>
                          </a:solidFill>
                        </a:rPr>
                        <a:t>MEDIUM</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668600">
                <a:tc>
                  <a:txBody>
                    <a:bodyPr/>
                    <a:lstStyle/>
                    <a:p>
                      <a:pPr indent="0" lvl="0" marL="0" marR="0" rtl="0" algn="l">
                        <a:spcBef>
                          <a:spcPts val="0"/>
                        </a:spcBef>
                        <a:spcAft>
                          <a:spcPts val="0"/>
                        </a:spcAft>
                        <a:buClr>
                          <a:srgbClr val="1A7A4A"/>
                        </a:buClr>
                        <a:buSzPts val="1200"/>
                        <a:buFont typeface="Calibri"/>
                        <a:buNone/>
                      </a:pPr>
                      <a:r>
                        <a:rPr b="1" lang="en-US" sz="1200" u="none" cap="none" strike="noStrike">
                          <a:solidFill>
                            <a:srgbClr val="1A7A4A"/>
                          </a:solidFill>
                        </a:rPr>
                        <a:t>Age disparity</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extLst>
                            <a:ext uri="http://customooxmlschemas.google.com/">
                              <go:slidesCustomData xmlns:go="http://customooxmlschemas.google.com/" textRoundtripDataId="0"/>
                            </a:ext>
                          </a:extLst>
                        </a:rPr>
                        <a:t>Applicants &gt;74 </a:t>
                      </a:r>
                      <a:r>
                        <a:rPr lang="en-US" sz="1200"/>
                        <a:t>are below the threshold of 0.8 relative to applicants aged 45-54</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200"/>
                        <a:buFont typeface="Calibri"/>
                        <a:buNone/>
                      </a:pPr>
                      <a:r>
                        <a:rPr lang="en-US" sz="1200" u="none" cap="none" strike="noStrike">
                          <a:solidFill>
                            <a:srgbClr val="000000"/>
                          </a:solidFill>
                        </a:rPr>
                        <a:t>Elderly applicants (&gt;74)</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7A4A"/>
                        </a:buClr>
                        <a:buSzPts val="1200"/>
                        <a:buFont typeface="Calibri"/>
                        <a:buNone/>
                      </a:pPr>
                      <a:r>
                        <a:rPr b="1" lang="en-US" sz="1200" u="none" cap="none" strike="noStrike">
                          <a:solidFill>
                            <a:srgbClr val="1A7A4A"/>
                          </a:solidFill>
                        </a:rPr>
                        <a:t>LOW–MED</a:t>
                      </a:r>
                      <a:endParaRPr sz="12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47" name="Shape 147"/>
        <p:cNvGrpSpPr/>
        <p:nvPr/>
      </p:nvGrpSpPr>
      <p:grpSpPr>
        <a:xfrm>
          <a:off x="0" y="0"/>
          <a:ext cx="0" cy="0"/>
          <a:chOff x="0" y="0"/>
          <a:chExt cx="0" cy="0"/>
        </a:xfrm>
      </p:grpSpPr>
      <p:sp>
        <p:nvSpPr>
          <p:cNvPr id="148" name="Google Shape;148;p6"/>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6"/>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Q2  EXPLAINABILITY</a:t>
            </a:r>
            <a:endParaRPr sz="950">
              <a:solidFill>
                <a:schemeClr val="dk1"/>
              </a:solidFill>
              <a:latin typeface="Calibri"/>
              <a:ea typeface="Calibri"/>
              <a:cs typeface="Calibri"/>
              <a:sym typeface="Calibri"/>
            </a:endParaRPr>
          </a:p>
        </p:txBody>
      </p:sp>
      <p:sp>
        <p:nvSpPr>
          <p:cNvPr id="150" name="Google Shape;150;p6"/>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SHAP &amp; LIME: What Drives Predictions?</a:t>
            </a:r>
            <a:endParaRPr sz="2600">
              <a:solidFill>
                <a:schemeClr val="dk1"/>
              </a:solidFill>
              <a:latin typeface="Calibri"/>
              <a:ea typeface="Calibri"/>
              <a:cs typeface="Calibri"/>
              <a:sym typeface="Calibri"/>
            </a:endParaRPr>
          </a:p>
        </p:txBody>
      </p:sp>
      <p:sp>
        <p:nvSpPr>
          <p:cNvPr id="151" name="Google Shape;151;p6"/>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7 / 18</a:t>
            </a:r>
            <a:endParaRPr sz="900">
              <a:solidFill>
                <a:schemeClr val="dk1"/>
              </a:solidFill>
              <a:latin typeface="Calibri"/>
              <a:ea typeface="Calibri"/>
              <a:cs typeface="Calibri"/>
              <a:sym typeface="Calibri"/>
            </a:endParaRPr>
          </a:p>
        </p:txBody>
      </p:sp>
      <p:sp>
        <p:nvSpPr>
          <p:cNvPr id="152" name="Google Shape;152;p6"/>
          <p:cNvSpPr/>
          <p:nvPr/>
        </p:nvSpPr>
        <p:spPr>
          <a:xfrm>
            <a:off x="411480" y="1261872"/>
            <a:ext cx="3977640" cy="374904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3" name="Google Shape;153;p6"/>
          <p:cNvSpPr/>
          <p:nvPr/>
        </p:nvSpPr>
        <p:spPr>
          <a:xfrm>
            <a:off x="594360" y="1371600"/>
            <a:ext cx="36118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800"/>
              <a:buFont typeface="Calibri"/>
              <a:buNone/>
            </a:pPr>
            <a:r>
              <a:rPr b="1" lang="en-US" sz="1800">
                <a:solidFill>
                  <a:srgbClr val="0D1B2A"/>
                </a:solidFill>
                <a:latin typeface="Calibri"/>
                <a:ea typeface="Calibri"/>
                <a:cs typeface="Calibri"/>
                <a:sym typeface="Calibri"/>
              </a:rPr>
              <a:t>LIME — GBT Top Features</a:t>
            </a:r>
            <a:endParaRPr sz="1800">
              <a:solidFill>
                <a:schemeClr val="dk1"/>
              </a:solidFill>
              <a:latin typeface="Calibri"/>
              <a:ea typeface="Calibri"/>
              <a:cs typeface="Calibri"/>
              <a:sym typeface="Calibri"/>
            </a:endParaRPr>
          </a:p>
        </p:txBody>
      </p:sp>
      <p:sp>
        <p:nvSpPr>
          <p:cNvPr id="154" name="Google Shape;154;p6"/>
          <p:cNvSpPr/>
          <p:nvPr/>
        </p:nvSpPr>
        <p:spPr>
          <a:xfrm>
            <a:off x="594360" y="1783080"/>
            <a:ext cx="361188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400"/>
              <a:buFont typeface="Calibri"/>
              <a:buNone/>
            </a:pPr>
            <a:r>
              <a:rPr b="1" lang="en-US" sz="1400">
                <a:solidFill>
                  <a:srgbClr val="1B6CA8"/>
                </a:solidFill>
                <a:latin typeface="Calibri"/>
                <a:ea typeface="Calibri"/>
                <a:cs typeface="Calibri"/>
                <a:sym typeface="Calibri"/>
              </a:rPr>
              <a:t>Black Applicant (P = 0.80</a:t>
            </a:r>
            <a:r>
              <a:rPr b="1" lang="en-US">
                <a:solidFill>
                  <a:srgbClr val="1B6CA8"/>
                </a:solidFill>
                <a:latin typeface="Calibri"/>
                <a:ea typeface="Calibri"/>
                <a:cs typeface="Calibri"/>
                <a:sym typeface="Calibri"/>
              </a:rPr>
              <a:t>1</a:t>
            </a:r>
            <a:r>
              <a:rPr b="1" lang="en-US" sz="1400">
                <a:solidFill>
                  <a:srgbClr val="1B6CA8"/>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155" name="Google Shape;155;p6"/>
          <p:cNvSpPr/>
          <p:nvPr/>
        </p:nvSpPr>
        <p:spPr>
          <a:xfrm>
            <a:off x="594360" y="2103120"/>
            <a:ext cx="2560320" cy="274320"/>
          </a:xfrm>
          <a:prstGeom prst="rect">
            <a:avLst/>
          </a:prstGeom>
          <a:solidFill>
            <a:srgbClr val="FDECEA"/>
          </a:solidFill>
          <a:ln cap="flat" cmpd="sng" w="12700">
            <a:solidFill>
              <a:srgbClr val="FDECE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6"/>
          <p:cNvSpPr/>
          <p:nvPr/>
        </p:nvSpPr>
        <p:spPr>
          <a:xfrm>
            <a:off x="685800" y="2139696"/>
            <a:ext cx="18288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1100">
                <a:solidFill>
                  <a:srgbClr val="1A2836"/>
                </a:solidFill>
                <a:latin typeface="Calibri"/>
                <a:ea typeface="Calibri"/>
                <a:cs typeface="Calibri"/>
                <a:sym typeface="Calibri"/>
              </a:rPr>
              <a:t>loan_purpose_1 ≤ 0</a:t>
            </a:r>
            <a:endParaRPr sz="1100">
              <a:solidFill>
                <a:schemeClr val="dk1"/>
              </a:solidFill>
              <a:latin typeface="Calibri"/>
              <a:ea typeface="Calibri"/>
              <a:cs typeface="Calibri"/>
              <a:sym typeface="Calibri"/>
            </a:endParaRPr>
          </a:p>
        </p:txBody>
      </p:sp>
      <p:sp>
        <p:nvSpPr>
          <p:cNvPr id="157" name="Google Shape;157;p6"/>
          <p:cNvSpPr/>
          <p:nvPr/>
        </p:nvSpPr>
        <p:spPr>
          <a:xfrm>
            <a:off x="3165920" y="2139696"/>
            <a:ext cx="731520" cy="21945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200"/>
              <a:buFont typeface="Calibri"/>
              <a:buNone/>
            </a:pPr>
            <a:r>
              <a:rPr b="1" lang="en-US" sz="1200">
                <a:solidFill>
                  <a:srgbClr val="C0392B"/>
                </a:solidFill>
                <a:latin typeface="Calibri"/>
                <a:ea typeface="Calibri"/>
                <a:cs typeface="Calibri"/>
                <a:sym typeface="Calibri"/>
              </a:rPr>
              <a:t>−0.168</a:t>
            </a:r>
            <a:endParaRPr sz="1200">
              <a:solidFill>
                <a:schemeClr val="dk1"/>
              </a:solidFill>
              <a:latin typeface="Calibri"/>
              <a:ea typeface="Calibri"/>
              <a:cs typeface="Calibri"/>
              <a:sym typeface="Calibri"/>
            </a:endParaRPr>
          </a:p>
        </p:txBody>
      </p:sp>
      <p:sp>
        <p:nvSpPr>
          <p:cNvPr id="158" name="Google Shape;158;p6"/>
          <p:cNvSpPr/>
          <p:nvPr/>
        </p:nvSpPr>
        <p:spPr>
          <a:xfrm>
            <a:off x="594360" y="2450592"/>
            <a:ext cx="2560320" cy="274320"/>
          </a:xfrm>
          <a:prstGeom prst="rect">
            <a:avLst/>
          </a:prstGeom>
          <a:solidFill>
            <a:srgbClr val="E8F5EC"/>
          </a:solidFill>
          <a:ln cap="flat" cmpd="sng" w="12700">
            <a:solidFill>
              <a:srgbClr val="E8F5E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6"/>
          <p:cNvSpPr/>
          <p:nvPr/>
        </p:nvSpPr>
        <p:spPr>
          <a:xfrm>
            <a:off x="685800" y="2487168"/>
            <a:ext cx="18288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800">
                <a:solidFill>
                  <a:srgbClr val="1A2836"/>
                </a:solidFill>
                <a:latin typeface="Calibri"/>
                <a:ea typeface="Calibri"/>
                <a:cs typeface="Calibri"/>
                <a:sym typeface="Calibri"/>
              </a:rPr>
              <a:t>0.06 &lt; </a:t>
            </a:r>
            <a:r>
              <a:rPr lang="en-US" sz="800">
                <a:solidFill>
                  <a:srgbClr val="1A2836"/>
                </a:solidFill>
                <a:latin typeface="Calibri"/>
                <a:ea typeface="Calibri"/>
                <a:cs typeface="Calibri"/>
                <a:sym typeface="Calibri"/>
              </a:rPr>
              <a:t>debt_to_income_ratio &lt;= 0.61</a:t>
            </a:r>
            <a:endParaRPr sz="800">
              <a:solidFill>
                <a:schemeClr val="dk1"/>
              </a:solidFill>
              <a:latin typeface="Calibri"/>
              <a:ea typeface="Calibri"/>
              <a:cs typeface="Calibri"/>
              <a:sym typeface="Calibri"/>
            </a:endParaRPr>
          </a:p>
        </p:txBody>
      </p:sp>
      <p:sp>
        <p:nvSpPr>
          <p:cNvPr id="160" name="Google Shape;160;p6"/>
          <p:cNvSpPr/>
          <p:nvPr/>
        </p:nvSpPr>
        <p:spPr>
          <a:xfrm>
            <a:off x="3165920" y="2487168"/>
            <a:ext cx="731520" cy="21945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+0.110</a:t>
            </a:r>
            <a:endParaRPr sz="1200">
              <a:solidFill>
                <a:schemeClr val="dk1"/>
              </a:solidFill>
              <a:latin typeface="Calibri"/>
              <a:ea typeface="Calibri"/>
              <a:cs typeface="Calibri"/>
              <a:sym typeface="Calibri"/>
            </a:endParaRPr>
          </a:p>
        </p:txBody>
      </p:sp>
      <p:sp>
        <p:nvSpPr>
          <p:cNvPr id="161" name="Google Shape;161;p6"/>
          <p:cNvSpPr/>
          <p:nvPr/>
        </p:nvSpPr>
        <p:spPr>
          <a:xfrm>
            <a:off x="594360" y="2798064"/>
            <a:ext cx="2560320" cy="274320"/>
          </a:xfrm>
          <a:prstGeom prst="rect">
            <a:avLst/>
          </a:prstGeom>
          <a:solidFill>
            <a:srgbClr val="E8F5EC"/>
          </a:solidFill>
          <a:ln cap="flat" cmpd="sng" w="12700">
            <a:solidFill>
              <a:srgbClr val="E8F5E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6"/>
          <p:cNvSpPr/>
          <p:nvPr/>
        </p:nvSpPr>
        <p:spPr>
          <a:xfrm>
            <a:off x="685800" y="2834640"/>
            <a:ext cx="18288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1100">
                <a:solidFill>
                  <a:srgbClr val="1A2836"/>
                </a:solidFill>
                <a:latin typeface="Calibri"/>
                <a:ea typeface="Calibri"/>
                <a:cs typeface="Calibri"/>
                <a:sym typeface="Calibri"/>
              </a:rPr>
              <a:t>-0.01 &lt; </a:t>
            </a:r>
            <a:r>
              <a:rPr lang="en-US" sz="1100">
                <a:solidFill>
                  <a:srgbClr val="1A2836"/>
                </a:solidFill>
                <a:latin typeface="Calibri"/>
                <a:ea typeface="Calibri"/>
                <a:cs typeface="Calibri"/>
                <a:sym typeface="Calibri"/>
              </a:rPr>
              <a:t>income &lt;= 0.01</a:t>
            </a:r>
            <a:endParaRPr sz="1100">
              <a:solidFill>
                <a:schemeClr val="dk1"/>
              </a:solidFill>
              <a:latin typeface="Calibri"/>
              <a:ea typeface="Calibri"/>
              <a:cs typeface="Calibri"/>
              <a:sym typeface="Calibri"/>
            </a:endParaRPr>
          </a:p>
        </p:txBody>
      </p:sp>
      <p:sp>
        <p:nvSpPr>
          <p:cNvPr id="163" name="Google Shape;163;p6"/>
          <p:cNvSpPr/>
          <p:nvPr/>
        </p:nvSpPr>
        <p:spPr>
          <a:xfrm>
            <a:off x="3165920" y="2834640"/>
            <a:ext cx="731520" cy="21945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+0.035</a:t>
            </a:r>
            <a:endParaRPr sz="1200">
              <a:solidFill>
                <a:schemeClr val="dk1"/>
              </a:solidFill>
              <a:latin typeface="Calibri"/>
              <a:ea typeface="Calibri"/>
              <a:cs typeface="Calibri"/>
              <a:sym typeface="Calibri"/>
            </a:endParaRPr>
          </a:p>
        </p:txBody>
      </p:sp>
      <p:sp>
        <p:nvSpPr>
          <p:cNvPr id="164" name="Google Shape;164;p6"/>
          <p:cNvSpPr/>
          <p:nvPr/>
        </p:nvSpPr>
        <p:spPr>
          <a:xfrm>
            <a:off x="594360" y="3145536"/>
            <a:ext cx="2560320" cy="274320"/>
          </a:xfrm>
          <a:prstGeom prst="rect">
            <a:avLst/>
          </a:prstGeom>
          <a:solidFill>
            <a:srgbClr val="E8F5EC"/>
          </a:solidFill>
          <a:ln cap="flat" cmpd="sng" w="12700">
            <a:solidFill>
              <a:srgbClr val="E8F5E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p:nvPr/>
        </p:nvSpPr>
        <p:spPr>
          <a:xfrm>
            <a:off x="685800" y="3182112"/>
            <a:ext cx="18288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1000">
                <a:solidFill>
                  <a:srgbClr val="1A2836"/>
                </a:solidFill>
                <a:latin typeface="Calibri"/>
                <a:ea typeface="Calibri"/>
                <a:cs typeface="Calibri"/>
                <a:sym typeface="Calibri"/>
              </a:rPr>
              <a:t>-0.04 &lt; </a:t>
            </a:r>
            <a:r>
              <a:rPr lang="en-US" sz="1000">
                <a:solidFill>
                  <a:srgbClr val="1A2836"/>
                </a:solidFill>
                <a:latin typeface="Calibri"/>
                <a:ea typeface="Calibri"/>
                <a:cs typeface="Calibri"/>
                <a:sym typeface="Calibri"/>
              </a:rPr>
              <a:t>property_value &lt;= 0.03</a:t>
            </a:r>
            <a:endParaRPr sz="1000">
              <a:solidFill>
                <a:schemeClr val="dk1"/>
              </a:solidFill>
              <a:latin typeface="Calibri"/>
              <a:ea typeface="Calibri"/>
              <a:cs typeface="Calibri"/>
              <a:sym typeface="Calibri"/>
            </a:endParaRPr>
          </a:p>
        </p:txBody>
      </p:sp>
      <p:sp>
        <p:nvSpPr>
          <p:cNvPr id="166" name="Google Shape;166;p6"/>
          <p:cNvSpPr/>
          <p:nvPr/>
        </p:nvSpPr>
        <p:spPr>
          <a:xfrm>
            <a:off x="3165920" y="3182112"/>
            <a:ext cx="731520" cy="21945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+0.019</a:t>
            </a:r>
            <a:endParaRPr sz="1200">
              <a:solidFill>
                <a:schemeClr val="dk1"/>
              </a:solidFill>
              <a:latin typeface="Calibri"/>
              <a:ea typeface="Calibri"/>
              <a:cs typeface="Calibri"/>
              <a:sym typeface="Calibri"/>
            </a:endParaRPr>
          </a:p>
        </p:txBody>
      </p:sp>
      <p:sp>
        <p:nvSpPr>
          <p:cNvPr id="167" name="Google Shape;167;p6"/>
          <p:cNvSpPr/>
          <p:nvPr/>
        </p:nvSpPr>
        <p:spPr>
          <a:xfrm>
            <a:off x="594360" y="3529584"/>
            <a:ext cx="361188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A86C8"/>
              </a:buClr>
              <a:buSzPts val="1400"/>
              <a:buFont typeface="Calibri"/>
              <a:buNone/>
            </a:pPr>
            <a:r>
              <a:rPr b="1" lang="en-US" sz="1400">
                <a:solidFill>
                  <a:srgbClr val="3A86C8"/>
                </a:solidFill>
                <a:latin typeface="Calibri"/>
                <a:ea typeface="Calibri"/>
                <a:cs typeface="Calibri"/>
                <a:sym typeface="Calibri"/>
              </a:rPr>
              <a:t>White Applicant (P = 0.81</a:t>
            </a:r>
            <a:r>
              <a:rPr b="1" lang="en-US">
                <a:solidFill>
                  <a:srgbClr val="3A86C8"/>
                </a:solidFill>
                <a:latin typeface="Calibri"/>
                <a:ea typeface="Calibri"/>
                <a:cs typeface="Calibri"/>
                <a:sym typeface="Calibri"/>
              </a:rPr>
              <a:t>7</a:t>
            </a:r>
            <a:r>
              <a:rPr b="1" lang="en-US" sz="1400">
                <a:solidFill>
                  <a:srgbClr val="3A86C8"/>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168" name="Google Shape;168;p6"/>
          <p:cNvSpPr/>
          <p:nvPr/>
        </p:nvSpPr>
        <p:spPr>
          <a:xfrm>
            <a:off x="594360" y="3858768"/>
            <a:ext cx="2560320" cy="237744"/>
          </a:xfrm>
          <a:prstGeom prst="rect">
            <a:avLst/>
          </a:prstGeom>
          <a:solidFill>
            <a:srgbClr val="FDECEA"/>
          </a:solidFill>
          <a:ln cap="flat" cmpd="sng" w="12700">
            <a:solidFill>
              <a:srgbClr val="FDECE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6"/>
          <p:cNvSpPr/>
          <p:nvPr/>
        </p:nvSpPr>
        <p:spPr>
          <a:xfrm>
            <a:off x="685800" y="3886200"/>
            <a:ext cx="18288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1100">
                <a:solidFill>
                  <a:srgbClr val="1A2836"/>
                </a:solidFill>
                <a:latin typeface="Calibri"/>
                <a:ea typeface="Calibri"/>
                <a:cs typeface="Calibri"/>
                <a:sym typeface="Calibri"/>
              </a:rPr>
              <a:t>loan_purpose_1 ≤ 0</a:t>
            </a:r>
            <a:endParaRPr sz="1100">
              <a:solidFill>
                <a:schemeClr val="dk1"/>
              </a:solidFill>
              <a:latin typeface="Calibri"/>
              <a:ea typeface="Calibri"/>
              <a:cs typeface="Calibri"/>
              <a:sym typeface="Calibri"/>
            </a:endParaRPr>
          </a:p>
        </p:txBody>
      </p:sp>
      <p:sp>
        <p:nvSpPr>
          <p:cNvPr id="170" name="Google Shape;170;p6"/>
          <p:cNvSpPr/>
          <p:nvPr/>
        </p:nvSpPr>
        <p:spPr>
          <a:xfrm>
            <a:off x="3165920" y="3886200"/>
            <a:ext cx="731520" cy="20116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200"/>
              <a:buFont typeface="Calibri"/>
              <a:buNone/>
            </a:pPr>
            <a:r>
              <a:rPr b="1" lang="en-US" sz="1200">
                <a:solidFill>
                  <a:srgbClr val="C0392B"/>
                </a:solidFill>
                <a:latin typeface="Calibri"/>
                <a:ea typeface="Calibri"/>
                <a:cs typeface="Calibri"/>
                <a:sym typeface="Calibri"/>
              </a:rPr>
              <a:t>−0.156</a:t>
            </a:r>
            <a:endParaRPr sz="1200">
              <a:solidFill>
                <a:schemeClr val="dk1"/>
              </a:solidFill>
              <a:latin typeface="Calibri"/>
              <a:ea typeface="Calibri"/>
              <a:cs typeface="Calibri"/>
              <a:sym typeface="Calibri"/>
            </a:endParaRPr>
          </a:p>
        </p:txBody>
      </p:sp>
      <p:sp>
        <p:nvSpPr>
          <p:cNvPr id="171" name="Google Shape;171;p6"/>
          <p:cNvSpPr/>
          <p:nvPr/>
        </p:nvSpPr>
        <p:spPr>
          <a:xfrm>
            <a:off x="594360" y="4133088"/>
            <a:ext cx="2560320" cy="237744"/>
          </a:xfrm>
          <a:prstGeom prst="rect">
            <a:avLst/>
          </a:prstGeom>
          <a:solidFill>
            <a:srgbClr val="E8F5EC"/>
          </a:solidFill>
          <a:ln cap="flat" cmpd="sng" w="12700">
            <a:solidFill>
              <a:srgbClr val="E8F5E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2" name="Google Shape;172;p6"/>
          <p:cNvSpPr/>
          <p:nvPr/>
        </p:nvSpPr>
        <p:spPr>
          <a:xfrm>
            <a:off x="685800" y="4160520"/>
            <a:ext cx="18288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800">
                <a:solidFill>
                  <a:srgbClr val="1A2836"/>
                </a:solidFill>
                <a:latin typeface="Calibri"/>
                <a:ea typeface="Calibri"/>
                <a:cs typeface="Calibri"/>
                <a:sym typeface="Calibri"/>
              </a:rPr>
              <a:t>0.06 &lt; </a:t>
            </a:r>
            <a:r>
              <a:rPr lang="en-US" sz="800">
                <a:solidFill>
                  <a:srgbClr val="1A2836"/>
                </a:solidFill>
                <a:latin typeface="Calibri"/>
                <a:ea typeface="Calibri"/>
                <a:cs typeface="Calibri"/>
                <a:sym typeface="Calibri"/>
              </a:rPr>
              <a:t>debt_to_income_ratio &lt;= 0.61</a:t>
            </a:r>
            <a:endParaRPr sz="800">
              <a:solidFill>
                <a:schemeClr val="dk1"/>
              </a:solidFill>
              <a:latin typeface="Calibri"/>
              <a:ea typeface="Calibri"/>
              <a:cs typeface="Calibri"/>
              <a:sym typeface="Calibri"/>
            </a:endParaRPr>
          </a:p>
        </p:txBody>
      </p:sp>
      <p:sp>
        <p:nvSpPr>
          <p:cNvPr id="173" name="Google Shape;173;p6"/>
          <p:cNvSpPr/>
          <p:nvPr/>
        </p:nvSpPr>
        <p:spPr>
          <a:xfrm>
            <a:off x="3165920" y="4160520"/>
            <a:ext cx="731520" cy="20116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+0.105</a:t>
            </a:r>
            <a:endParaRPr sz="1200">
              <a:solidFill>
                <a:schemeClr val="dk1"/>
              </a:solidFill>
              <a:latin typeface="Calibri"/>
              <a:ea typeface="Calibri"/>
              <a:cs typeface="Calibri"/>
              <a:sym typeface="Calibri"/>
            </a:endParaRPr>
          </a:p>
        </p:txBody>
      </p:sp>
      <p:sp>
        <p:nvSpPr>
          <p:cNvPr id="174" name="Google Shape;174;p6"/>
          <p:cNvSpPr/>
          <p:nvPr/>
        </p:nvSpPr>
        <p:spPr>
          <a:xfrm>
            <a:off x="594360" y="4407408"/>
            <a:ext cx="2560320" cy="237744"/>
          </a:xfrm>
          <a:prstGeom prst="rect">
            <a:avLst/>
          </a:prstGeom>
          <a:solidFill>
            <a:srgbClr val="E8F5EC"/>
          </a:solidFill>
          <a:ln cap="flat" cmpd="sng" w="12700">
            <a:solidFill>
              <a:srgbClr val="E8F5E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6"/>
          <p:cNvSpPr/>
          <p:nvPr/>
        </p:nvSpPr>
        <p:spPr>
          <a:xfrm>
            <a:off x="685800" y="4434840"/>
            <a:ext cx="18288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1100">
                <a:solidFill>
                  <a:srgbClr val="1A2836"/>
                </a:solidFill>
                <a:latin typeface="Calibri"/>
                <a:ea typeface="Calibri"/>
                <a:cs typeface="Calibri"/>
                <a:sym typeface="Calibri"/>
              </a:rPr>
              <a:t>loan_purpose_4 &lt;= 0</a:t>
            </a:r>
            <a:endParaRPr sz="1100">
              <a:solidFill>
                <a:schemeClr val="dk1"/>
              </a:solidFill>
              <a:latin typeface="Calibri"/>
              <a:ea typeface="Calibri"/>
              <a:cs typeface="Calibri"/>
              <a:sym typeface="Calibri"/>
            </a:endParaRPr>
          </a:p>
        </p:txBody>
      </p:sp>
      <p:sp>
        <p:nvSpPr>
          <p:cNvPr id="176" name="Google Shape;176;p6"/>
          <p:cNvSpPr/>
          <p:nvPr/>
        </p:nvSpPr>
        <p:spPr>
          <a:xfrm>
            <a:off x="3165920" y="4434840"/>
            <a:ext cx="731520" cy="20116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+0.040</a:t>
            </a:r>
            <a:endParaRPr sz="1200">
              <a:solidFill>
                <a:schemeClr val="dk1"/>
              </a:solidFill>
              <a:latin typeface="Calibri"/>
              <a:ea typeface="Calibri"/>
              <a:cs typeface="Calibri"/>
              <a:sym typeface="Calibri"/>
            </a:endParaRPr>
          </a:p>
        </p:txBody>
      </p:sp>
      <p:sp>
        <p:nvSpPr>
          <p:cNvPr id="177" name="Google Shape;177;p6"/>
          <p:cNvSpPr/>
          <p:nvPr/>
        </p:nvSpPr>
        <p:spPr>
          <a:xfrm>
            <a:off x="594360" y="4681728"/>
            <a:ext cx="2560320" cy="237744"/>
          </a:xfrm>
          <a:prstGeom prst="rect">
            <a:avLst/>
          </a:prstGeom>
          <a:solidFill>
            <a:srgbClr val="E8F5EC"/>
          </a:solidFill>
          <a:ln cap="flat" cmpd="sng" w="12700">
            <a:solidFill>
              <a:srgbClr val="FDECE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8" name="Google Shape;178;p6"/>
          <p:cNvSpPr/>
          <p:nvPr/>
        </p:nvSpPr>
        <p:spPr>
          <a:xfrm>
            <a:off x="685800" y="4709160"/>
            <a:ext cx="18288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100"/>
              <a:buFont typeface="Calibri"/>
              <a:buNone/>
            </a:pPr>
            <a:r>
              <a:rPr lang="en-US" sz="900">
                <a:solidFill>
                  <a:srgbClr val="1A2836"/>
                </a:solidFill>
                <a:latin typeface="Calibri"/>
                <a:ea typeface="Calibri"/>
                <a:cs typeface="Calibri"/>
                <a:sym typeface="Calibri"/>
              </a:rPr>
              <a:t>-0.05 &lt; </a:t>
            </a:r>
            <a:r>
              <a:rPr lang="en-US" sz="900">
                <a:solidFill>
                  <a:srgbClr val="1A2836"/>
                </a:solidFill>
                <a:latin typeface="Calibri"/>
                <a:ea typeface="Calibri"/>
                <a:cs typeface="Calibri"/>
                <a:sym typeface="Calibri"/>
              </a:rPr>
              <a:t>property_value &lt;= 0.03</a:t>
            </a:r>
            <a:endParaRPr sz="400">
              <a:solidFill>
                <a:schemeClr val="dk1"/>
              </a:solidFill>
              <a:latin typeface="Calibri"/>
              <a:ea typeface="Calibri"/>
              <a:cs typeface="Calibri"/>
              <a:sym typeface="Calibri"/>
            </a:endParaRPr>
          </a:p>
        </p:txBody>
      </p:sp>
      <p:sp>
        <p:nvSpPr>
          <p:cNvPr id="179" name="Google Shape;179;p6"/>
          <p:cNvSpPr/>
          <p:nvPr/>
        </p:nvSpPr>
        <p:spPr>
          <a:xfrm>
            <a:off x="3165920" y="4709160"/>
            <a:ext cx="731520" cy="20116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200"/>
              <a:buFont typeface="Calibri"/>
              <a:buNone/>
            </a:pPr>
            <a:r>
              <a:rPr b="1" lang="en-US" sz="1200">
                <a:solidFill>
                  <a:srgbClr val="1A7A4A"/>
                </a:solidFill>
                <a:latin typeface="Calibri"/>
                <a:ea typeface="Calibri"/>
                <a:cs typeface="Calibri"/>
                <a:sym typeface="Calibri"/>
              </a:rPr>
              <a:t>+0.040</a:t>
            </a:r>
            <a:endParaRPr sz="1200">
              <a:solidFill>
                <a:srgbClr val="1A7A4A"/>
              </a:solidFill>
              <a:latin typeface="Calibri"/>
              <a:ea typeface="Calibri"/>
              <a:cs typeface="Calibri"/>
              <a:sym typeface="Calibri"/>
            </a:endParaRPr>
          </a:p>
        </p:txBody>
      </p:sp>
      <p:sp>
        <p:nvSpPr>
          <p:cNvPr id="180" name="Google Shape;180;p6"/>
          <p:cNvSpPr/>
          <p:nvPr/>
        </p:nvSpPr>
        <p:spPr>
          <a:xfrm>
            <a:off x="4572000" y="1261872"/>
            <a:ext cx="3977640" cy="374904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6"/>
          <p:cNvSpPr/>
          <p:nvPr/>
        </p:nvSpPr>
        <p:spPr>
          <a:xfrm>
            <a:off x="4754880" y="1371600"/>
            <a:ext cx="3794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600"/>
              <a:buFont typeface="Calibri"/>
              <a:buNone/>
            </a:pPr>
            <a:r>
              <a:rPr b="1" lang="en-US" sz="1600">
                <a:solidFill>
                  <a:srgbClr val="0D1B2A"/>
                </a:solidFill>
                <a:latin typeface="Calibri"/>
                <a:ea typeface="Calibri"/>
                <a:cs typeface="Calibri"/>
                <a:sym typeface="Calibri"/>
              </a:rPr>
              <a:t>Key Governance Findings</a:t>
            </a:r>
            <a:endParaRPr sz="1600">
              <a:solidFill>
                <a:schemeClr val="dk1"/>
              </a:solidFill>
              <a:latin typeface="Calibri"/>
              <a:ea typeface="Calibri"/>
              <a:cs typeface="Calibri"/>
              <a:sym typeface="Calibri"/>
            </a:endParaRPr>
          </a:p>
        </p:txBody>
      </p:sp>
      <p:sp>
        <p:nvSpPr>
          <p:cNvPr id="182" name="Google Shape;182;p6"/>
          <p:cNvSpPr/>
          <p:nvPr/>
        </p:nvSpPr>
        <p:spPr>
          <a:xfrm>
            <a:off x="4572000" y="1828800"/>
            <a:ext cx="73152" cy="86868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3" name="Google Shape;183;p6"/>
          <p:cNvSpPr/>
          <p:nvPr/>
        </p:nvSpPr>
        <p:spPr>
          <a:xfrm>
            <a:off x="4773168" y="1865376"/>
            <a:ext cx="37490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Same top features, different weights</a:t>
            </a:r>
            <a:endParaRPr sz="1400">
              <a:solidFill>
                <a:schemeClr val="dk1"/>
              </a:solidFill>
              <a:latin typeface="Calibri"/>
              <a:ea typeface="Calibri"/>
              <a:cs typeface="Calibri"/>
              <a:sym typeface="Calibri"/>
            </a:endParaRPr>
          </a:p>
        </p:txBody>
      </p:sp>
      <p:sp>
        <p:nvSpPr>
          <p:cNvPr id="184" name="Google Shape;184;p6"/>
          <p:cNvSpPr/>
          <p:nvPr/>
        </p:nvSpPr>
        <p:spPr>
          <a:xfrm>
            <a:off x="4773168" y="2157984"/>
            <a:ext cx="3749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050"/>
              <a:buFont typeface="Calibri"/>
              <a:buNone/>
            </a:pPr>
            <a:r>
              <a:rPr lang="en-US" sz="1050">
                <a:solidFill>
                  <a:srgbClr val="4A6070"/>
                </a:solidFill>
                <a:latin typeface="Calibri"/>
                <a:ea typeface="Calibri"/>
                <a:cs typeface="Calibri"/>
                <a:sym typeface="Calibri"/>
              </a:rPr>
              <a:t>Black and White applicants share the same top driver (loan purpose) but DTI and property value weights diverge, suggesting different decision logic by group.</a:t>
            </a:r>
            <a:endParaRPr sz="1050">
              <a:solidFill>
                <a:schemeClr val="dk1"/>
              </a:solidFill>
              <a:latin typeface="Calibri"/>
              <a:ea typeface="Calibri"/>
              <a:cs typeface="Calibri"/>
              <a:sym typeface="Calibri"/>
            </a:endParaRPr>
          </a:p>
        </p:txBody>
      </p:sp>
      <p:sp>
        <p:nvSpPr>
          <p:cNvPr id="185" name="Google Shape;185;p6"/>
          <p:cNvSpPr/>
          <p:nvPr/>
        </p:nvSpPr>
        <p:spPr>
          <a:xfrm>
            <a:off x="4572000" y="2880360"/>
            <a:ext cx="73152" cy="868680"/>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p:nvPr/>
        </p:nvSpPr>
        <p:spPr>
          <a:xfrm>
            <a:off x="4773168" y="2916936"/>
            <a:ext cx="37490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DTI is the dominant risk signal</a:t>
            </a:r>
            <a:endParaRPr sz="1400">
              <a:solidFill>
                <a:schemeClr val="dk1"/>
              </a:solidFill>
              <a:latin typeface="Calibri"/>
              <a:ea typeface="Calibri"/>
              <a:cs typeface="Calibri"/>
              <a:sym typeface="Calibri"/>
            </a:endParaRPr>
          </a:p>
        </p:txBody>
      </p:sp>
      <p:sp>
        <p:nvSpPr>
          <p:cNvPr id="187" name="Google Shape;187;p6"/>
          <p:cNvSpPr/>
          <p:nvPr/>
        </p:nvSpPr>
        <p:spPr>
          <a:xfrm>
            <a:off x="4773168" y="3209544"/>
            <a:ext cx="3749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050"/>
              <a:buFont typeface="Calibri"/>
              <a:buNone/>
            </a:pPr>
            <a:r>
              <a:rPr lang="en-US" sz="1050">
                <a:solidFill>
                  <a:srgbClr val="4A6070"/>
                </a:solidFill>
                <a:latin typeface="Calibri"/>
                <a:ea typeface="Calibri"/>
                <a:cs typeface="Calibri"/>
                <a:sym typeface="Calibri"/>
              </a:rPr>
              <a:t>The most denied applicants in both groups have DTI &gt; 0.61, which LIME confirms contributes −0.37 to approval probability — the single largest feature impact.</a:t>
            </a:r>
            <a:endParaRPr sz="1050">
              <a:solidFill>
                <a:schemeClr val="dk1"/>
              </a:solidFill>
              <a:latin typeface="Calibri"/>
              <a:ea typeface="Calibri"/>
              <a:cs typeface="Calibri"/>
              <a:sym typeface="Calibri"/>
            </a:endParaRPr>
          </a:p>
        </p:txBody>
      </p:sp>
      <p:sp>
        <p:nvSpPr>
          <p:cNvPr id="188" name="Google Shape;188;p6"/>
          <p:cNvSpPr/>
          <p:nvPr/>
        </p:nvSpPr>
        <p:spPr>
          <a:xfrm>
            <a:off x="4572000" y="3931920"/>
            <a:ext cx="73152" cy="868680"/>
          </a:xfrm>
          <a:prstGeom prst="rect">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6"/>
          <p:cNvSpPr/>
          <p:nvPr/>
        </p:nvSpPr>
        <p:spPr>
          <a:xfrm>
            <a:off x="4773168" y="3968496"/>
            <a:ext cx="37490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Proxy risk: tract_minority_population</a:t>
            </a:r>
            <a:endParaRPr sz="1400">
              <a:solidFill>
                <a:schemeClr val="dk1"/>
              </a:solidFill>
              <a:latin typeface="Calibri"/>
              <a:ea typeface="Calibri"/>
              <a:cs typeface="Calibri"/>
              <a:sym typeface="Calibri"/>
            </a:endParaRPr>
          </a:p>
        </p:txBody>
      </p:sp>
      <p:sp>
        <p:nvSpPr>
          <p:cNvPr id="190" name="Google Shape;190;p6"/>
          <p:cNvSpPr/>
          <p:nvPr/>
        </p:nvSpPr>
        <p:spPr>
          <a:xfrm>
            <a:off x="4773168" y="4261104"/>
            <a:ext cx="3749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050"/>
              <a:buFont typeface="Calibri"/>
              <a:buNone/>
            </a:pPr>
            <a:r>
              <a:rPr lang="en-US" sz="1050">
                <a:solidFill>
                  <a:srgbClr val="4A6070"/>
                </a:solidFill>
                <a:latin typeface="Calibri"/>
                <a:ea typeface="Calibri"/>
                <a:cs typeface="Calibri"/>
                <a:sym typeface="Calibri"/>
              </a:rPr>
              <a:t>This geographic feature correlates strongly with race and appears in SHAP global importance. Including it as a model feature constitutes potential disparate treatment.</a:t>
            </a:r>
            <a:endParaRPr sz="105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95" name="Shape 195"/>
        <p:cNvGrpSpPr/>
        <p:nvPr/>
      </p:nvGrpSpPr>
      <p:grpSpPr>
        <a:xfrm>
          <a:off x="0" y="0"/>
          <a:ext cx="0" cy="0"/>
          <a:chOff x="0" y="0"/>
          <a:chExt cx="0" cy="0"/>
        </a:xfrm>
      </p:grpSpPr>
      <p:sp>
        <p:nvSpPr>
          <p:cNvPr id="196" name="Google Shape;196;p7"/>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7" name="Google Shape;197;p7"/>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Q2  COUNTERFACTUAL ANALYSIS</a:t>
            </a:r>
            <a:endParaRPr sz="950">
              <a:solidFill>
                <a:schemeClr val="dk1"/>
              </a:solidFill>
              <a:latin typeface="Calibri"/>
              <a:ea typeface="Calibri"/>
              <a:cs typeface="Calibri"/>
              <a:sym typeface="Calibri"/>
            </a:endParaRPr>
          </a:p>
        </p:txBody>
      </p:sp>
      <p:sp>
        <p:nvSpPr>
          <p:cNvPr id="198" name="Google Shape;198;p7"/>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DiCE: What Would Flip a Denial?</a:t>
            </a:r>
            <a:endParaRPr sz="2600">
              <a:solidFill>
                <a:schemeClr val="dk1"/>
              </a:solidFill>
              <a:latin typeface="Calibri"/>
              <a:ea typeface="Calibri"/>
              <a:cs typeface="Calibri"/>
              <a:sym typeface="Calibri"/>
            </a:endParaRPr>
          </a:p>
        </p:txBody>
      </p:sp>
      <p:sp>
        <p:nvSpPr>
          <p:cNvPr id="199" name="Google Shape;199;p7"/>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12 / 18</a:t>
            </a:r>
            <a:endParaRPr sz="900">
              <a:solidFill>
                <a:schemeClr val="dk1"/>
              </a:solidFill>
              <a:latin typeface="Calibri"/>
              <a:ea typeface="Calibri"/>
              <a:cs typeface="Calibri"/>
              <a:sym typeface="Calibri"/>
            </a:endParaRPr>
          </a:p>
        </p:txBody>
      </p:sp>
      <p:sp>
        <p:nvSpPr>
          <p:cNvPr id="200" name="Google Shape;200;p7"/>
          <p:cNvSpPr/>
          <p:nvPr/>
        </p:nvSpPr>
        <p:spPr>
          <a:xfrm>
            <a:off x="411480" y="1261872"/>
            <a:ext cx="8321040" cy="630936"/>
          </a:xfrm>
          <a:prstGeom prst="rect">
            <a:avLst/>
          </a:prstGeom>
          <a:solidFill>
            <a:srgbClr val="EEF4FA"/>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7"/>
          <p:cNvSpPr/>
          <p:nvPr/>
        </p:nvSpPr>
        <p:spPr>
          <a:xfrm>
            <a:off x="594360" y="1261872"/>
            <a:ext cx="7955280" cy="58521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lang="en-US" sz="1200">
                <a:solidFill>
                  <a:srgbClr val="0D1B2A"/>
                </a:solidFill>
                <a:latin typeface="Calibri"/>
                <a:ea typeface="Calibri"/>
                <a:cs typeface="Calibri"/>
                <a:sym typeface="Calibri"/>
              </a:rPr>
              <a:t>DiCE generates counterfactuals: the minimum input changes needed to flip a model's decision. We ran DiCE on the GBT model varying income, DTI, property value, and MSA median family income.</a:t>
            </a:r>
            <a:endParaRPr sz="1200">
              <a:solidFill>
                <a:schemeClr val="dk1"/>
              </a:solidFill>
              <a:latin typeface="Calibri"/>
              <a:ea typeface="Calibri"/>
              <a:cs typeface="Calibri"/>
              <a:sym typeface="Calibri"/>
            </a:endParaRPr>
          </a:p>
        </p:txBody>
      </p:sp>
      <p:sp>
        <p:nvSpPr>
          <p:cNvPr id="202" name="Google Shape;202;p7"/>
          <p:cNvSpPr/>
          <p:nvPr/>
        </p:nvSpPr>
        <p:spPr>
          <a:xfrm>
            <a:off x="411480" y="2112264"/>
            <a:ext cx="8321040" cy="777240"/>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3" name="Google Shape;203;p7"/>
          <p:cNvSpPr/>
          <p:nvPr/>
        </p:nvSpPr>
        <p:spPr>
          <a:xfrm>
            <a:off x="411480" y="2112264"/>
            <a:ext cx="91440" cy="777240"/>
          </a:xfrm>
          <a:prstGeom prst="rect">
            <a:avLst/>
          </a:prstGeom>
          <a:solidFill>
            <a:srgbClr val="1A7A4A"/>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7"/>
          <p:cNvSpPr/>
          <p:nvPr/>
        </p:nvSpPr>
        <p:spPr>
          <a:xfrm>
            <a:off x="621792" y="2144553"/>
            <a:ext cx="8229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Black Applicant — Approved (P=0.93</a:t>
            </a:r>
            <a:r>
              <a:rPr b="1" lang="en-US">
                <a:solidFill>
                  <a:srgbClr val="0D1B2A"/>
                </a:solidFill>
                <a:latin typeface="Calibri"/>
                <a:ea typeface="Calibri"/>
                <a:cs typeface="Calibri"/>
                <a:sym typeface="Calibri"/>
              </a:rPr>
              <a:t>7</a:t>
            </a:r>
            <a:r>
              <a:rPr b="1" lang="en-US" sz="1400">
                <a:solidFill>
                  <a:srgbClr val="0D1B2A"/>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205" name="Google Shape;205;p7"/>
          <p:cNvSpPr/>
          <p:nvPr/>
        </p:nvSpPr>
        <p:spPr>
          <a:xfrm>
            <a:off x="621792" y="2359939"/>
            <a:ext cx="6949440" cy="32973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Model approved at high confidence. No counterfactual needed — DTI in favorable range (0.06–0.61), purchase loan.</a:t>
            </a:r>
            <a:endParaRPr sz="1100">
              <a:solidFill>
                <a:schemeClr val="dk1"/>
              </a:solidFill>
              <a:latin typeface="Calibri"/>
              <a:ea typeface="Calibri"/>
              <a:cs typeface="Calibri"/>
              <a:sym typeface="Calibri"/>
            </a:endParaRPr>
          </a:p>
        </p:txBody>
      </p:sp>
      <p:sp>
        <p:nvSpPr>
          <p:cNvPr id="206" name="Google Shape;206;p7"/>
          <p:cNvSpPr/>
          <p:nvPr/>
        </p:nvSpPr>
        <p:spPr>
          <a:xfrm>
            <a:off x="7315200" y="2219259"/>
            <a:ext cx="1325880" cy="32973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100"/>
              <a:buFont typeface="Calibri"/>
              <a:buNone/>
            </a:pPr>
            <a:r>
              <a:rPr b="1" lang="en-US" sz="1100">
                <a:solidFill>
                  <a:srgbClr val="1A7A4A"/>
                </a:solidFill>
                <a:latin typeface="Calibri"/>
                <a:ea typeface="Calibri"/>
                <a:cs typeface="Calibri"/>
                <a:sym typeface="Calibri"/>
              </a:rPr>
              <a:t>N/A — Already Approved</a:t>
            </a:r>
            <a:endParaRPr sz="1100">
              <a:solidFill>
                <a:schemeClr val="dk1"/>
              </a:solidFill>
              <a:latin typeface="Calibri"/>
              <a:ea typeface="Calibri"/>
              <a:cs typeface="Calibri"/>
              <a:sym typeface="Calibri"/>
            </a:endParaRPr>
          </a:p>
        </p:txBody>
      </p:sp>
      <p:sp>
        <p:nvSpPr>
          <p:cNvPr id="207" name="Google Shape;207;p7"/>
          <p:cNvSpPr/>
          <p:nvPr/>
        </p:nvSpPr>
        <p:spPr>
          <a:xfrm>
            <a:off x="411480" y="2634813"/>
            <a:ext cx="8321040" cy="777240"/>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7"/>
          <p:cNvSpPr/>
          <p:nvPr/>
        </p:nvSpPr>
        <p:spPr>
          <a:xfrm>
            <a:off x="411480" y="2779776"/>
            <a:ext cx="91440" cy="777240"/>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9" name="Google Shape;209;p7"/>
          <p:cNvSpPr/>
          <p:nvPr/>
        </p:nvSpPr>
        <p:spPr>
          <a:xfrm>
            <a:off x="621792" y="2812065"/>
            <a:ext cx="8229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Black Applicant — Denied (P=0.03</a:t>
            </a:r>
            <a:r>
              <a:rPr b="1" lang="en-US">
                <a:solidFill>
                  <a:srgbClr val="0D1B2A"/>
                </a:solidFill>
                <a:latin typeface="Calibri"/>
                <a:ea typeface="Calibri"/>
                <a:cs typeface="Calibri"/>
                <a:sym typeface="Calibri"/>
              </a:rPr>
              <a:t>5</a:t>
            </a:r>
            <a:r>
              <a:rPr b="1" lang="en-US" sz="1400">
                <a:solidFill>
                  <a:srgbClr val="0D1B2A"/>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210" name="Google Shape;210;p7"/>
          <p:cNvSpPr/>
          <p:nvPr/>
        </p:nvSpPr>
        <p:spPr>
          <a:xfrm>
            <a:off x="621792" y="3069655"/>
            <a:ext cx="6949440" cy="32973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Denial driven by DTI &gt; 0.61 (−0.37 LIME weight) and low income. Counterfactual: reduce DTI to 40.4% or increase income by ~55k.</a:t>
            </a:r>
            <a:endParaRPr sz="1100">
              <a:solidFill>
                <a:schemeClr val="dk1"/>
              </a:solidFill>
              <a:latin typeface="Calibri"/>
              <a:ea typeface="Calibri"/>
              <a:cs typeface="Calibri"/>
              <a:sym typeface="Calibri"/>
            </a:endParaRPr>
          </a:p>
        </p:txBody>
      </p:sp>
      <p:sp>
        <p:nvSpPr>
          <p:cNvPr id="211" name="Google Shape;211;p7"/>
          <p:cNvSpPr/>
          <p:nvPr/>
        </p:nvSpPr>
        <p:spPr>
          <a:xfrm>
            <a:off x="7315200" y="2886771"/>
            <a:ext cx="1325880" cy="32973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100"/>
              <a:buFont typeface="Calibri"/>
              <a:buNone/>
            </a:pPr>
            <a:r>
              <a:rPr b="1" lang="en-US" sz="1100">
                <a:solidFill>
                  <a:srgbClr val="C0392B"/>
                </a:solidFill>
                <a:latin typeface="Calibri"/>
                <a:ea typeface="Calibri"/>
                <a:cs typeface="Calibri"/>
                <a:sym typeface="Calibri"/>
              </a:rPr>
              <a:t>Reduce DTI or increase income</a:t>
            </a:r>
            <a:endParaRPr sz="1100">
              <a:solidFill>
                <a:schemeClr val="dk1"/>
              </a:solidFill>
              <a:latin typeface="Calibri"/>
              <a:ea typeface="Calibri"/>
              <a:cs typeface="Calibri"/>
              <a:sym typeface="Calibri"/>
            </a:endParaRPr>
          </a:p>
        </p:txBody>
      </p:sp>
      <p:sp>
        <p:nvSpPr>
          <p:cNvPr id="212" name="Google Shape;212;p7"/>
          <p:cNvSpPr/>
          <p:nvPr/>
        </p:nvSpPr>
        <p:spPr>
          <a:xfrm>
            <a:off x="411480" y="3417308"/>
            <a:ext cx="8321040" cy="777240"/>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3" name="Google Shape;213;p7"/>
          <p:cNvSpPr/>
          <p:nvPr/>
        </p:nvSpPr>
        <p:spPr>
          <a:xfrm>
            <a:off x="411480" y="3417308"/>
            <a:ext cx="91440" cy="777240"/>
          </a:xfrm>
          <a:prstGeom prst="rect">
            <a:avLst/>
          </a:prstGeom>
          <a:solidFill>
            <a:srgbClr val="1A7A4A"/>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7"/>
          <p:cNvSpPr/>
          <p:nvPr/>
        </p:nvSpPr>
        <p:spPr>
          <a:xfrm>
            <a:off x="621792" y="3449597"/>
            <a:ext cx="8229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White Applicant — Approved (P=0.9</a:t>
            </a:r>
            <a:r>
              <a:rPr b="1" lang="en-US">
                <a:solidFill>
                  <a:srgbClr val="0D1B2A"/>
                </a:solidFill>
                <a:latin typeface="Calibri"/>
                <a:ea typeface="Calibri"/>
                <a:cs typeface="Calibri"/>
                <a:sym typeface="Calibri"/>
              </a:rPr>
              <a:t>37</a:t>
            </a:r>
            <a:r>
              <a:rPr b="1" lang="en-US" sz="1400">
                <a:solidFill>
                  <a:srgbClr val="0D1B2A"/>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215" name="Google Shape;215;p7"/>
          <p:cNvSpPr/>
          <p:nvPr/>
        </p:nvSpPr>
        <p:spPr>
          <a:xfrm>
            <a:off x="621792" y="3707187"/>
            <a:ext cx="6949440" cy="32973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High confidence approval. Same feature profile structure as Black approved applicant — DTI and loan purpose are the key drivers.</a:t>
            </a:r>
            <a:endParaRPr sz="1100">
              <a:solidFill>
                <a:schemeClr val="dk1"/>
              </a:solidFill>
              <a:latin typeface="Calibri"/>
              <a:ea typeface="Calibri"/>
              <a:cs typeface="Calibri"/>
              <a:sym typeface="Calibri"/>
            </a:endParaRPr>
          </a:p>
        </p:txBody>
      </p:sp>
      <p:sp>
        <p:nvSpPr>
          <p:cNvPr id="216" name="Google Shape;216;p7"/>
          <p:cNvSpPr/>
          <p:nvPr/>
        </p:nvSpPr>
        <p:spPr>
          <a:xfrm>
            <a:off x="7315200" y="3524303"/>
            <a:ext cx="1325880" cy="32973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A7A4A"/>
              </a:buClr>
              <a:buSzPts val="1100"/>
              <a:buFont typeface="Calibri"/>
              <a:buNone/>
            </a:pPr>
            <a:r>
              <a:rPr b="1" lang="en-US" sz="1100">
                <a:solidFill>
                  <a:srgbClr val="1A7A4A"/>
                </a:solidFill>
                <a:latin typeface="Calibri"/>
                <a:ea typeface="Calibri"/>
                <a:cs typeface="Calibri"/>
                <a:sym typeface="Calibri"/>
              </a:rPr>
              <a:t>N/A — Already Approved</a:t>
            </a:r>
            <a:endParaRPr sz="1100">
              <a:solidFill>
                <a:schemeClr val="dk1"/>
              </a:solidFill>
              <a:latin typeface="Calibri"/>
              <a:ea typeface="Calibri"/>
              <a:cs typeface="Calibri"/>
              <a:sym typeface="Calibri"/>
            </a:endParaRPr>
          </a:p>
        </p:txBody>
      </p:sp>
      <p:sp>
        <p:nvSpPr>
          <p:cNvPr id="217" name="Google Shape;217;p7"/>
          <p:cNvSpPr/>
          <p:nvPr/>
        </p:nvSpPr>
        <p:spPr>
          <a:xfrm>
            <a:off x="411480" y="4219730"/>
            <a:ext cx="8321040" cy="667512"/>
          </a:xfrm>
          <a:prstGeom prst="rect">
            <a:avLst/>
          </a:prstGeom>
          <a:solidFill>
            <a:srgbClr val="FFFFFF"/>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p:nvPr/>
        </p:nvSpPr>
        <p:spPr>
          <a:xfrm>
            <a:off x="411480" y="4219730"/>
            <a:ext cx="91440" cy="667512"/>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7"/>
          <p:cNvSpPr/>
          <p:nvPr/>
        </p:nvSpPr>
        <p:spPr>
          <a:xfrm>
            <a:off x="621792" y="4252019"/>
            <a:ext cx="82296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400"/>
              <a:buFont typeface="Calibri"/>
              <a:buNone/>
            </a:pPr>
            <a:r>
              <a:rPr b="1" lang="en-US" sz="1400">
                <a:solidFill>
                  <a:srgbClr val="0D1B2A"/>
                </a:solidFill>
                <a:latin typeface="Calibri"/>
                <a:ea typeface="Calibri"/>
                <a:cs typeface="Calibri"/>
                <a:sym typeface="Calibri"/>
              </a:rPr>
              <a:t>White Applicant — Denied (P=0.0</a:t>
            </a:r>
            <a:r>
              <a:rPr b="1" lang="en-US">
                <a:solidFill>
                  <a:srgbClr val="0D1B2A"/>
                </a:solidFill>
                <a:latin typeface="Calibri"/>
                <a:ea typeface="Calibri"/>
                <a:cs typeface="Calibri"/>
                <a:sym typeface="Calibri"/>
              </a:rPr>
              <a:t>33</a:t>
            </a:r>
            <a:r>
              <a:rPr b="1" lang="en-US" sz="1400">
                <a:solidFill>
                  <a:srgbClr val="0D1B2A"/>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220" name="Google Shape;220;p7"/>
          <p:cNvSpPr/>
          <p:nvPr/>
        </p:nvSpPr>
        <p:spPr>
          <a:xfrm>
            <a:off x="621792" y="4509609"/>
            <a:ext cx="6949440" cy="32973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lang="en-US" sz="1100">
                <a:solidFill>
                  <a:srgbClr val="4A6070"/>
                </a:solidFill>
                <a:latin typeface="Calibri"/>
                <a:ea typeface="Calibri"/>
                <a:cs typeface="Calibri"/>
                <a:sym typeface="Calibri"/>
              </a:rPr>
              <a:t>Same denial drivers as Black denied applicant. DTI &gt; 0.61 and income below threshold. Counterfactuals require similar magnitude of change.</a:t>
            </a:r>
            <a:endParaRPr sz="1100">
              <a:solidFill>
                <a:schemeClr val="dk1"/>
              </a:solidFill>
              <a:latin typeface="Calibri"/>
              <a:ea typeface="Calibri"/>
              <a:cs typeface="Calibri"/>
              <a:sym typeface="Calibri"/>
            </a:endParaRPr>
          </a:p>
        </p:txBody>
      </p:sp>
      <p:sp>
        <p:nvSpPr>
          <p:cNvPr id="221" name="Google Shape;221;p7"/>
          <p:cNvSpPr/>
          <p:nvPr/>
        </p:nvSpPr>
        <p:spPr>
          <a:xfrm>
            <a:off x="7315200" y="4326725"/>
            <a:ext cx="1325880" cy="32973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0392B"/>
              </a:buClr>
              <a:buSzPts val="1100"/>
              <a:buFont typeface="Calibri"/>
              <a:buNone/>
            </a:pPr>
            <a:r>
              <a:rPr b="1" lang="en-US" sz="1100">
                <a:solidFill>
                  <a:srgbClr val="C0392B"/>
                </a:solidFill>
                <a:latin typeface="Calibri"/>
                <a:ea typeface="Calibri"/>
                <a:cs typeface="Calibri"/>
                <a:sym typeface="Calibri"/>
              </a:rPr>
              <a:t>Reduce DTI or increase income</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26" name="Shape 226"/>
        <p:cNvGrpSpPr/>
        <p:nvPr/>
      </p:nvGrpSpPr>
      <p:grpSpPr>
        <a:xfrm>
          <a:off x="0" y="0"/>
          <a:ext cx="0" cy="0"/>
          <a:chOff x="0" y="0"/>
          <a:chExt cx="0" cy="0"/>
        </a:xfrm>
      </p:grpSpPr>
      <p:sp>
        <p:nvSpPr>
          <p:cNvPr id="227" name="Google Shape;227;p8"/>
          <p:cNvSpPr/>
          <p:nvPr/>
        </p:nvSpPr>
        <p:spPr>
          <a:xfrm>
            <a:off x="411480" y="201168"/>
            <a:ext cx="1828800" cy="292608"/>
          </a:xfrm>
          <a:prstGeom prst="roundRect">
            <a:avLst>
              <a:gd fmla="val 15625" name="adj"/>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8"/>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Q2  ML SECURITY</a:t>
            </a:r>
            <a:endParaRPr sz="950">
              <a:solidFill>
                <a:schemeClr val="dk1"/>
              </a:solidFill>
              <a:latin typeface="Calibri"/>
              <a:ea typeface="Calibri"/>
              <a:cs typeface="Calibri"/>
              <a:sym typeface="Calibri"/>
            </a:endParaRPr>
          </a:p>
        </p:txBody>
      </p:sp>
      <p:sp>
        <p:nvSpPr>
          <p:cNvPr id="229" name="Google Shape;229;p8"/>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Adversarial Attack Surface</a:t>
            </a:r>
            <a:endParaRPr sz="2600">
              <a:solidFill>
                <a:schemeClr val="dk1"/>
              </a:solidFill>
              <a:latin typeface="Calibri"/>
              <a:ea typeface="Calibri"/>
              <a:cs typeface="Calibri"/>
              <a:sym typeface="Calibri"/>
            </a:endParaRPr>
          </a:p>
        </p:txBody>
      </p:sp>
      <p:sp>
        <p:nvSpPr>
          <p:cNvPr id="230" name="Google Shape;230;p8"/>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14 / 18</a:t>
            </a:r>
            <a:endParaRPr sz="900">
              <a:solidFill>
                <a:schemeClr val="dk1"/>
              </a:solidFill>
              <a:latin typeface="Calibri"/>
              <a:ea typeface="Calibri"/>
              <a:cs typeface="Calibri"/>
              <a:sym typeface="Calibri"/>
            </a:endParaRPr>
          </a:p>
        </p:txBody>
      </p:sp>
      <p:sp>
        <p:nvSpPr>
          <p:cNvPr id="231" name="Google Shape;231;p8"/>
          <p:cNvSpPr/>
          <p:nvPr/>
        </p:nvSpPr>
        <p:spPr>
          <a:xfrm>
            <a:off x="411480" y="1325880"/>
            <a:ext cx="8321040" cy="1078992"/>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2" name="Google Shape;232;p8"/>
          <p:cNvSpPr/>
          <p:nvPr/>
        </p:nvSpPr>
        <p:spPr>
          <a:xfrm>
            <a:off x="411480" y="1325880"/>
            <a:ext cx="1280160" cy="1078992"/>
          </a:xfrm>
          <a:prstGeom prst="rect">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8"/>
          <p:cNvSpPr/>
          <p:nvPr/>
        </p:nvSpPr>
        <p:spPr>
          <a:xfrm>
            <a:off x="411480" y="1417320"/>
            <a:ext cx="1280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lang="en-US" sz="2000">
                <a:solidFill>
                  <a:srgbClr val="FFFFFF"/>
                </a:solidFill>
                <a:latin typeface="Calibri"/>
                <a:ea typeface="Calibri"/>
                <a:cs typeface="Calibri"/>
                <a:sym typeface="Calibri"/>
              </a:rPr>
              <a:t>MEDIUM</a:t>
            </a:r>
            <a:endParaRPr sz="2000">
              <a:solidFill>
                <a:schemeClr val="dk1"/>
              </a:solidFill>
              <a:latin typeface="Calibri"/>
              <a:ea typeface="Calibri"/>
              <a:cs typeface="Calibri"/>
              <a:sym typeface="Calibri"/>
            </a:endParaRPr>
          </a:p>
        </p:txBody>
      </p:sp>
      <p:sp>
        <p:nvSpPr>
          <p:cNvPr id="234" name="Google Shape;234;p8"/>
          <p:cNvSpPr/>
          <p:nvPr/>
        </p:nvSpPr>
        <p:spPr>
          <a:xfrm>
            <a:off x="411480" y="1801368"/>
            <a:ext cx="128016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lang="en-US" sz="1100">
                <a:solidFill>
                  <a:srgbClr val="FFFFFF"/>
                </a:solidFill>
                <a:latin typeface="Calibri"/>
                <a:ea typeface="Calibri"/>
                <a:cs typeface="Calibri"/>
                <a:sym typeface="Calibri"/>
              </a:rPr>
              <a:t>Evasion (Input Gaming)</a:t>
            </a:r>
            <a:endParaRPr sz="1100">
              <a:solidFill>
                <a:schemeClr val="dk1"/>
              </a:solidFill>
              <a:latin typeface="Calibri"/>
              <a:ea typeface="Calibri"/>
              <a:cs typeface="Calibri"/>
              <a:sym typeface="Calibri"/>
            </a:endParaRPr>
          </a:p>
        </p:txBody>
      </p:sp>
      <p:sp>
        <p:nvSpPr>
          <p:cNvPr id="235" name="Google Shape;235;p8"/>
          <p:cNvSpPr/>
          <p:nvPr/>
        </p:nvSpPr>
        <p:spPr>
          <a:xfrm>
            <a:off x="1828800" y="1399032"/>
            <a:ext cx="676656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000"/>
              <a:buFont typeface="Calibri"/>
              <a:buNone/>
            </a:pPr>
            <a:r>
              <a:rPr b="1" lang="en-US" sz="2000">
                <a:solidFill>
                  <a:srgbClr val="0D1B2A"/>
                </a:solidFill>
                <a:latin typeface="Calibri"/>
                <a:ea typeface="Calibri"/>
                <a:cs typeface="Calibri"/>
                <a:sym typeface="Calibri"/>
              </a:rPr>
              <a:t>Evasion (Input Gaming)</a:t>
            </a:r>
            <a:endParaRPr sz="2000">
              <a:solidFill>
                <a:schemeClr val="dk1"/>
              </a:solidFill>
              <a:latin typeface="Calibri"/>
              <a:ea typeface="Calibri"/>
              <a:cs typeface="Calibri"/>
              <a:sym typeface="Calibri"/>
            </a:endParaRPr>
          </a:p>
        </p:txBody>
      </p:sp>
      <p:sp>
        <p:nvSpPr>
          <p:cNvPr id="236" name="Google Shape;236;p8"/>
          <p:cNvSpPr/>
          <p:nvPr/>
        </p:nvSpPr>
        <p:spPr>
          <a:xfrm>
            <a:off x="1828800" y="1709928"/>
            <a:ext cx="67665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lang="en-US" sz="1200">
                <a:solidFill>
                  <a:srgbClr val="1B6CA8"/>
                </a:solidFill>
                <a:latin typeface="Calibri"/>
                <a:ea typeface="Calibri"/>
                <a:cs typeface="Calibri"/>
                <a:sym typeface="Calibri"/>
              </a:rPr>
              <a:t>Adversary: Applicant  |  Method: Manipulate income or DTI to cross 0.80 threshold</a:t>
            </a:r>
            <a:endParaRPr sz="1200">
              <a:solidFill>
                <a:schemeClr val="dk1"/>
              </a:solidFill>
              <a:latin typeface="Calibri"/>
              <a:ea typeface="Calibri"/>
              <a:cs typeface="Calibri"/>
              <a:sym typeface="Calibri"/>
            </a:endParaRPr>
          </a:p>
        </p:txBody>
      </p:sp>
      <p:sp>
        <p:nvSpPr>
          <p:cNvPr id="237" name="Google Shape;237;p8"/>
          <p:cNvSpPr/>
          <p:nvPr/>
        </p:nvSpPr>
        <p:spPr>
          <a:xfrm>
            <a:off x="1828800" y="1984248"/>
            <a:ext cx="676656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4A6070"/>
                </a:solidFill>
                <a:latin typeface="Calibri"/>
                <a:ea typeface="Calibri"/>
                <a:cs typeface="Calibri"/>
                <a:sym typeface="Calibri"/>
              </a:rPr>
              <a:t>Finding: GBT: epsilon=0.1 shifts mean approval prob by -0.0054. LR more sensitive to gradient-based perturbation.</a:t>
            </a:r>
            <a:endParaRPr sz="1200">
              <a:solidFill>
                <a:schemeClr val="dk1"/>
              </a:solidFill>
              <a:latin typeface="Calibri"/>
              <a:ea typeface="Calibri"/>
              <a:cs typeface="Calibri"/>
              <a:sym typeface="Calibri"/>
            </a:endParaRPr>
          </a:p>
        </p:txBody>
      </p:sp>
      <p:sp>
        <p:nvSpPr>
          <p:cNvPr id="238" name="Google Shape;238;p8"/>
          <p:cNvSpPr/>
          <p:nvPr/>
        </p:nvSpPr>
        <p:spPr>
          <a:xfrm>
            <a:off x="411480" y="2514600"/>
            <a:ext cx="8321040" cy="1078992"/>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8"/>
          <p:cNvSpPr/>
          <p:nvPr/>
        </p:nvSpPr>
        <p:spPr>
          <a:xfrm>
            <a:off x="411480" y="2514600"/>
            <a:ext cx="1280160" cy="1078992"/>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8"/>
          <p:cNvSpPr/>
          <p:nvPr/>
        </p:nvSpPr>
        <p:spPr>
          <a:xfrm>
            <a:off x="411480" y="2606040"/>
            <a:ext cx="1280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lang="en-US" sz="2000">
                <a:solidFill>
                  <a:srgbClr val="FFFFFF"/>
                </a:solidFill>
                <a:latin typeface="Calibri"/>
                <a:ea typeface="Calibri"/>
                <a:cs typeface="Calibri"/>
                <a:sym typeface="Calibri"/>
              </a:rPr>
              <a:t>HIGH</a:t>
            </a:r>
            <a:endParaRPr sz="2000">
              <a:solidFill>
                <a:schemeClr val="dk1"/>
              </a:solidFill>
              <a:latin typeface="Calibri"/>
              <a:ea typeface="Calibri"/>
              <a:cs typeface="Calibri"/>
              <a:sym typeface="Calibri"/>
            </a:endParaRPr>
          </a:p>
        </p:txBody>
      </p:sp>
      <p:sp>
        <p:nvSpPr>
          <p:cNvPr id="241" name="Google Shape;241;p8"/>
          <p:cNvSpPr/>
          <p:nvPr/>
        </p:nvSpPr>
        <p:spPr>
          <a:xfrm>
            <a:off x="411480" y="2990088"/>
            <a:ext cx="128016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lang="en-US" sz="1100">
                <a:solidFill>
                  <a:srgbClr val="FFFFFF"/>
                </a:solidFill>
                <a:latin typeface="Calibri"/>
                <a:ea typeface="Calibri"/>
                <a:cs typeface="Calibri"/>
                <a:sym typeface="Calibri"/>
              </a:rPr>
              <a:t>Label-Flip Poisoning</a:t>
            </a:r>
            <a:endParaRPr sz="1100">
              <a:solidFill>
                <a:schemeClr val="dk1"/>
              </a:solidFill>
              <a:latin typeface="Calibri"/>
              <a:ea typeface="Calibri"/>
              <a:cs typeface="Calibri"/>
              <a:sym typeface="Calibri"/>
            </a:endParaRPr>
          </a:p>
        </p:txBody>
      </p:sp>
      <p:sp>
        <p:nvSpPr>
          <p:cNvPr id="242" name="Google Shape;242;p8"/>
          <p:cNvSpPr/>
          <p:nvPr/>
        </p:nvSpPr>
        <p:spPr>
          <a:xfrm>
            <a:off x="1828800" y="2587752"/>
            <a:ext cx="676656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000"/>
              <a:buFont typeface="Calibri"/>
              <a:buNone/>
            </a:pPr>
            <a:r>
              <a:rPr b="1" lang="en-US" sz="2000">
                <a:solidFill>
                  <a:srgbClr val="0D1B2A"/>
                </a:solidFill>
                <a:latin typeface="Calibri"/>
                <a:ea typeface="Calibri"/>
                <a:cs typeface="Calibri"/>
                <a:sym typeface="Calibri"/>
              </a:rPr>
              <a:t>Label-Flip Poisoning</a:t>
            </a:r>
            <a:endParaRPr sz="2000">
              <a:solidFill>
                <a:schemeClr val="dk1"/>
              </a:solidFill>
              <a:latin typeface="Calibri"/>
              <a:ea typeface="Calibri"/>
              <a:cs typeface="Calibri"/>
              <a:sym typeface="Calibri"/>
            </a:endParaRPr>
          </a:p>
        </p:txBody>
      </p:sp>
      <p:sp>
        <p:nvSpPr>
          <p:cNvPr id="243" name="Google Shape;243;p8"/>
          <p:cNvSpPr/>
          <p:nvPr/>
        </p:nvSpPr>
        <p:spPr>
          <a:xfrm>
            <a:off x="1828800" y="2898648"/>
            <a:ext cx="67665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lang="en-US" sz="1200">
                <a:solidFill>
                  <a:srgbClr val="1B6CA8"/>
                </a:solidFill>
                <a:latin typeface="Calibri"/>
                <a:ea typeface="Calibri"/>
                <a:cs typeface="Calibri"/>
                <a:sym typeface="Calibri"/>
              </a:rPr>
              <a:t>Adversary: Insider / Data Handler  |  Method: Flip approved labels for Black applicants in training data</a:t>
            </a:r>
            <a:endParaRPr sz="1200">
              <a:solidFill>
                <a:schemeClr val="dk1"/>
              </a:solidFill>
              <a:latin typeface="Calibri"/>
              <a:ea typeface="Calibri"/>
              <a:cs typeface="Calibri"/>
              <a:sym typeface="Calibri"/>
            </a:endParaRPr>
          </a:p>
        </p:txBody>
      </p:sp>
      <p:sp>
        <p:nvSpPr>
          <p:cNvPr id="244" name="Google Shape;244;p8"/>
          <p:cNvSpPr/>
          <p:nvPr/>
        </p:nvSpPr>
        <p:spPr>
          <a:xfrm>
            <a:off x="1828800" y="3172968"/>
            <a:ext cx="676656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4A6070"/>
                </a:solidFill>
                <a:latin typeface="Calibri"/>
                <a:ea typeface="Calibri"/>
                <a:cs typeface="Calibri"/>
                <a:sym typeface="Calibri"/>
              </a:rPr>
              <a:t>Finding: GBT: 5% poison rate produces delta AUC of only +0.0004 while fairness metrics shift materially — invisible to AUC monitoring</a:t>
            </a:r>
            <a:endParaRPr sz="1200">
              <a:solidFill>
                <a:schemeClr val="dk1"/>
              </a:solidFill>
              <a:latin typeface="Calibri"/>
              <a:ea typeface="Calibri"/>
              <a:cs typeface="Calibri"/>
              <a:sym typeface="Calibri"/>
            </a:endParaRPr>
          </a:p>
        </p:txBody>
      </p:sp>
      <p:sp>
        <p:nvSpPr>
          <p:cNvPr id="245" name="Google Shape;245;p8"/>
          <p:cNvSpPr/>
          <p:nvPr/>
        </p:nvSpPr>
        <p:spPr>
          <a:xfrm>
            <a:off x="411480" y="3703320"/>
            <a:ext cx="8321040" cy="1078992"/>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8"/>
          <p:cNvSpPr/>
          <p:nvPr/>
        </p:nvSpPr>
        <p:spPr>
          <a:xfrm>
            <a:off x="411480" y="3703320"/>
            <a:ext cx="1280160" cy="1078992"/>
          </a:xfrm>
          <a:prstGeom prst="rect">
            <a:avLst/>
          </a:prstGeom>
          <a:solidFill>
            <a:srgbClr val="1A7A4A"/>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8"/>
          <p:cNvSpPr/>
          <p:nvPr/>
        </p:nvSpPr>
        <p:spPr>
          <a:xfrm>
            <a:off x="411480" y="3794760"/>
            <a:ext cx="1280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lang="en-US" sz="2000">
                <a:solidFill>
                  <a:srgbClr val="FFFFFF"/>
                </a:solidFill>
                <a:latin typeface="Calibri"/>
                <a:ea typeface="Calibri"/>
                <a:cs typeface="Calibri"/>
                <a:sym typeface="Calibri"/>
              </a:rPr>
              <a:t>LOW</a:t>
            </a:r>
            <a:endParaRPr sz="2000">
              <a:solidFill>
                <a:schemeClr val="dk1"/>
              </a:solidFill>
              <a:latin typeface="Calibri"/>
              <a:ea typeface="Calibri"/>
              <a:cs typeface="Calibri"/>
              <a:sym typeface="Calibri"/>
            </a:endParaRPr>
          </a:p>
        </p:txBody>
      </p:sp>
      <p:sp>
        <p:nvSpPr>
          <p:cNvPr id="248" name="Google Shape;248;p8"/>
          <p:cNvSpPr/>
          <p:nvPr/>
        </p:nvSpPr>
        <p:spPr>
          <a:xfrm>
            <a:off x="411480" y="4178808"/>
            <a:ext cx="128016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lang="en-US" sz="1100">
                <a:solidFill>
                  <a:srgbClr val="FFFFFF"/>
                </a:solidFill>
                <a:latin typeface="Calibri"/>
                <a:ea typeface="Calibri"/>
                <a:cs typeface="Calibri"/>
                <a:sym typeface="Calibri"/>
              </a:rPr>
              <a:t>Membership Inference</a:t>
            </a:r>
            <a:endParaRPr sz="1100">
              <a:solidFill>
                <a:schemeClr val="dk1"/>
              </a:solidFill>
              <a:latin typeface="Calibri"/>
              <a:ea typeface="Calibri"/>
              <a:cs typeface="Calibri"/>
              <a:sym typeface="Calibri"/>
            </a:endParaRPr>
          </a:p>
        </p:txBody>
      </p:sp>
      <p:sp>
        <p:nvSpPr>
          <p:cNvPr id="249" name="Google Shape;249;p8"/>
          <p:cNvSpPr/>
          <p:nvPr/>
        </p:nvSpPr>
        <p:spPr>
          <a:xfrm>
            <a:off x="1828800" y="3776472"/>
            <a:ext cx="676656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000"/>
              <a:buFont typeface="Calibri"/>
              <a:buNone/>
            </a:pPr>
            <a:r>
              <a:rPr b="1" lang="en-US" sz="2000">
                <a:solidFill>
                  <a:srgbClr val="0D1B2A"/>
                </a:solidFill>
                <a:latin typeface="Calibri"/>
                <a:ea typeface="Calibri"/>
                <a:cs typeface="Calibri"/>
                <a:sym typeface="Calibri"/>
              </a:rPr>
              <a:t>Membership Inference</a:t>
            </a:r>
            <a:endParaRPr sz="2000">
              <a:solidFill>
                <a:schemeClr val="dk1"/>
              </a:solidFill>
              <a:latin typeface="Calibri"/>
              <a:ea typeface="Calibri"/>
              <a:cs typeface="Calibri"/>
              <a:sym typeface="Calibri"/>
            </a:endParaRPr>
          </a:p>
        </p:txBody>
      </p:sp>
      <p:sp>
        <p:nvSpPr>
          <p:cNvPr id="250" name="Google Shape;250;p8"/>
          <p:cNvSpPr/>
          <p:nvPr/>
        </p:nvSpPr>
        <p:spPr>
          <a:xfrm>
            <a:off x="1828800" y="4087368"/>
            <a:ext cx="67665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6CA8"/>
              </a:buClr>
              <a:buSzPts val="1200"/>
              <a:buFont typeface="Calibri"/>
              <a:buNone/>
            </a:pPr>
            <a:r>
              <a:rPr lang="en-US" sz="1200">
                <a:solidFill>
                  <a:srgbClr val="1B6CA8"/>
                </a:solidFill>
                <a:latin typeface="Calibri"/>
                <a:ea typeface="Calibri"/>
                <a:cs typeface="Calibri"/>
                <a:sym typeface="Calibri"/>
              </a:rPr>
              <a:t>Adversary: API User  |  Method: Query model to determine if specific applicant was in training data</a:t>
            </a:r>
            <a:endParaRPr sz="1200">
              <a:solidFill>
                <a:schemeClr val="dk1"/>
              </a:solidFill>
              <a:latin typeface="Calibri"/>
              <a:ea typeface="Calibri"/>
              <a:cs typeface="Calibri"/>
              <a:sym typeface="Calibri"/>
            </a:endParaRPr>
          </a:p>
        </p:txBody>
      </p:sp>
      <p:sp>
        <p:nvSpPr>
          <p:cNvPr id="251" name="Google Shape;251;p8"/>
          <p:cNvSpPr/>
          <p:nvPr/>
        </p:nvSpPr>
        <p:spPr>
          <a:xfrm>
            <a:off x="1828800" y="4361688"/>
            <a:ext cx="676656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4A6070"/>
                </a:solidFill>
                <a:latin typeface="Calibri"/>
                <a:ea typeface="Calibri"/>
                <a:cs typeface="Calibri"/>
                <a:sym typeface="Calibri"/>
              </a:rPr>
              <a:t>Finding: GBT MI AUC = 0.500, LR MI AUC = 0.500,  no detectable privacy leakage. Near-zero gen gaps prevent exploitation.</a:t>
            </a:r>
            <a:endParaRPr sz="1200">
              <a:solidFill>
                <a:schemeClr val="dk1"/>
              </a:solidFill>
              <a:latin typeface="Calibri"/>
              <a:ea typeface="Calibri"/>
              <a:cs typeface="Calibri"/>
              <a:sym typeface="Calibri"/>
            </a:endParaRPr>
          </a:p>
        </p:txBody>
      </p:sp>
      <p:sp>
        <p:nvSpPr>
          <p:cNvPr id="252" name="Google Shape;252;p8"/>
          <p:cNvSpPr/>
          <p:nvPr/>
        </p:nvSpPr>
        <p:spPr>
          <a:xfrm>
            <a:off x="411480" y="4846320"/>
            <a:ext cx="8321040" cy="23774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0392B"/>
              </a:buClr>
              <a:buSzPts val="1000"/>
              <a:buFont typeface="Calibri"/>
              <a:buNone/>
            </a:pPr>
            <a:r>
              <a:rPr i="1" lang="en-US" sz="1000">
                <a:solidFill>
                  <a:srgbClr val="C0392B"/>
                </a:solidFill>
                <a:latin typeface="Calibri"/>
                <a:ea typeface="Calibri"/>
                <a:cs typeface="Calibri"/>
                <a:sym typeface="Calibri"/>
              </a:rPr>
              <a:t>Highest operational risk: label-flip poisoning by an insider — invisible to AUC and PSI monitoring. Requires subgroup-level FPR monitoring to detect.</a:t>
            </a:r>
            <a:endParaRPr sz="10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9"/>
          <p:cNvSpPr/>
          <p:nvPr/>
        </p:nvSpPr>
        <p:spPr>
          <a:xfrm>
            <a:off x="411480" y="201168"/>
            <a:ext cx="201168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9"/>
          <p:cNvSpPr/>
          <p:nvPr/>
        </p:nvSpPr>
        <p:spPr>
          <a:xfrm>
            <a:off x="411480" y="201168"/>
            <a:ext cx="201168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MODEL</a:t>
            </a:r>
            <a:endParaRPr sz="900">
              <a:solidFill>
                <a:schemeClr val="dk1"/>
              </a:solidFill>
              <a:latin typeface="Calibri"/>
              <a:ea typeface="Calibri"/>
              <a:cs typeface="Calibri"/>
              <a:sym typeface="Calibri"/>
            </a:endParaRPr>
          </a:p>
        </p:txBody>
      </p:sp>
      <p:sp>
        <p:nvSpPr>
          <p:cNvPr id="260" name="Google Shape;260;p9"/>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Three Models Compared — GBT Selected</a:t>
            </a:r>
            <a:endParaRPr sz="2600">
              <a:solidFill>
                <a:schemeClr val="dk1"/>
              </a:solidFill>
              <a:latin typeface="Calibri"/>
              <a:ea typeface="Calibri"/>
              <a:cs typeface="Calibri"/>
              <a:sym typeface="Calibri"/>
            </a:endParaRPr>
          </a:p>
        </p:txBody>
      </p:sp>
      <p:sp>
        <p:nvSpPr>
          <p:cNvPr id="261" name="Google Shape;261;p9"/>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9 / 18</a:t>
            </a:r>
            <a:endParaRPr sz="900">
              <a:solidFill>
                <a:schemeClr val="dk1"/>
              </a:solidFill>
              <a:latin typeface="Calibri"/>
              <a:ea typeface="Calibri"/>
              <a:cs typeface="Calibri"/>
              <a:sym typeface="Calibri"/>
            </a:endParaRPr>
          </a:p>
        </p:txBody>
      </p:sp>
      <p:sp>
        <p:nvSpPr>
          <p:cNvPr id="262" name="Google Shape;262;p9"/>
          <p:cNvSpPr/>
          <p:nvPr/>
        </p:nvSpPr>
        <p:spPr>
          <a:xfrm>
            <a:off x="411480" y="1261872"/>
            <a:ext cx="2788920" cy="3566160"/>
          </a:xfrm>
          <a:prstGeom prst="rect">
            <a:avLst/>
          </a:prstGeom>
          <a:solidFill>
            <a:srgbClr val="FFFFFF"/>
          </a:solidFill>
          <a:ln cap="flat" cmpd="sng" w="12700">
            <a:solidFill>
              <a:srgbClr val="3A86C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3" name="Google Shape;263;p9"/>
          <p:cNvSpPr/>
          <p:nvPr/>
        </p:nvSpPr>
        <p:spPr>
          <a:xfrm>
            <a:off x="411480" y="1261872"/>
            <a:ext cx="2788920" cy="411480"/>
          </a:xfrm>
          <a:prstGeom prst="rect">
            <a:avLst/>
          </a:prstGeom>
          <a:solidFill>
            <a:srgbClr val="3A86C8"/>
          </a:solidFill>
          <a:ln cap="flat" cmpd="sng" w="12700">
            <a:solidFill>
              <a:srgbClr val="3A86C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9"/>
          <p:cNvSpPr/>
          <p:nvPr/>
        </p:nvSpPr>
        <p:spPr>
          <a:xfrm>
            <a:off x="411480" y="1261872"/>
            <a:ext cx="2788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Baseline</a:t>
            </a:r>
            <a:endParaRPr sz="1000">
              <a:solidFill>
                <a:schemeClr val="dk1"/>
              </a:solidFill>
              <a:latin typeface="Calibri"/>
              <a:ea typeface="Calibri"/>
              <a:cs typeface="Calibri"/>
              <a:sym typeface="Calibri"/>
            </a:endParaRPr>
          </a:p>
        </p:txBody>
      </p:sp>
      <p:sp>
        <p:nvSpPr>
          <p:cNvPr id="265" name="Google Shape;265;p9"/>
          <p:cNvSpPr/>
          <p:nvPr/>
        </p:nvSpPr>
        <p:spPr>
          <a:xfrm>
            <a:off x="521208" y="1755648"/>
            <a:ext cx="2560320"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300"/>
              <a:buFont typeface="Calibri"/>
              <a:buNone/>
            </a:pPr>
            <a:r>
              <a:rPr b="1" lang="en-US" sz="1300">
                <a:solidFill>
                  <a:srgbClr val="0D1B2A"/>
                </a:solidFill>
                <a:latin typeface="Calibri"/>
                <a:ea typeface="Calibri"/>
                <a:cs typeface="Calibri"/>
                <a:sym typeface="Calibri"/>
              </a:rPr>
              <a:t>Logistic Regression</a:t>
            </a:r>
            <a:endParaRPr sz="1300">
              <a:solidFill>
                <a:schemeClr val="dk1"/>
              </a:solidFill>
              <a:latin typeface="Calibri"/>
              <a:ea typeface="Calibri"/>
              <a:cs typeface="Calibri"/>
              <a:sym typeface="Calibri"/>
            </a:endParaRPr>
          </a:p>
        </p:txBody>
      </p:sp>
      <p:sp>
        <p:nvSpPr>
          <p:cNvPr id="266" name="Google Shape;266;p9"/>
          <p:cNvSpPr/>
          <p:nvPr/>
        </p:nvSpPr>
        <p:spPr>
          <a:xfrm>
            <a:off x="521208" y="221284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Test AUC</a:t>
            </a:r>
            <a:endParaRPr sz="950">
              <a:solidFill>
                <a:schemeClr val="dk1"/>
              </a:solidFill>
              <a:latin typeface="Calibri"/>
              <a:ea typeface="Calibri"/>
              <a:cs typeface="Calibri"/>
              <a:sym typeface="Calibri"/>
            </a:endParaRPr>
          </a:p>
        </p:txBody>
      </p:sp>
      <p:sp>
        <p:nvSpPr>
          <p:cNvPr id="267" name="Google Shape;267;p9"/>
          <p:cNvSpPr/>
          <p:nvPr/>
        </p:nvSpPr>
        <p:spPr>
          <a:xfrm>
            <a:off x="1920240" y="221284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0.781</a:t>
            </a:r>
            <a:endParaRPr sz="1050">
              <a:solidFill>
                <a:schemeClr val="dk1"/>
              </a:solidFill>
              <a:latin typeface="Calibri"/>
              <a:ea typeface="Calibri"/>
              <a:cs typeface="Calibri"/>
              <a:sym typeface="Calibri"/>
            </a:endParaRPr>
          </a:p>
        </p:txBody>
      </p:sp>
      <p:sp>
        <p:nvSpPr>
          <p:cNvPr id="268" name="Google Shape;268;p9"/>
          <p:cNvSpPr/>
          <p:nvPr/>
        </p:nvSpPr>
        <p:spPr>
          <a:xfrm>
            <a:off x="521208" y="2560320"/>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Brier Score</a:t>
            </a:r>
            <a:endParaRPr sz="950">
              <a:solidFill>
                <a:schemeClr val="dk1"/>
              </a:solidFill>
              <a:latin typeface="Calibri"/>
              <a:ea typeface="Calibri"/>
              <a:cs typeface="Calibri"/>
              <a:sym typeface="Calibri"/>
            </a:endParaRPr>
          </a:p>
        </p:txBody>
      </p:sp>
      <p:sp>
        <p:nvSpPr>
          <p:cNvPr id="269" name="Google Shape;269;p9"/>
          <p:cNvSpPr/>
          <p:nvPr/>
        </p:nvSpPr>
        <p:spPr>
          <a:xfrm>
            <a:off x="1920240" y="2560320"/>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0.145</a:t>
            </a:r>
            <a:endParaRPr sz="1050">
              <a:solidFill>
                <a:schemeClr val="dk1"/>
              </a:solidFill>
              <a:latin typeface="Calibri"/>
              <a:ea typeface="Calibri"/>
              <a:cs typeface="Calibri"/>
              <a:sym typeface="Calibri"/>
            </a:endParaRPr>
          </a:p>
        </p:txBody>
      </p:sp>
      <p:sp>
        <p:nvSpPr>
          <p:cNvPr id="270" name="Google Shape;270;p9"/>
          <p:cNvSpPr/>
          <p:nvPr/>
        </p:nvSpPr>
        <p:spPr>
          <a:xfrm>
            <a:off x="521208" y="2907792"/>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AIR (approval)</a:t>
            </a:r>
            <a:endParaRPr sz="950">
              <a:solidFill>
                <a:schemeClr val="dk1"/>
              </a:solidFill>
              <a:latin typeface="Calibri"/>
              <a:ea typeface="Calibri"/>
              <a:cs typeface="Calibri"/>
              <a:sym typeface="Calibri"/>
            </a:endParaRPr>
          </a:p>
        </p:txBody>
      </p:sp>
      <p:sp>
        <p:nvSpPr>
          <p:cNvPr id="271" name="Google Shape;271;p9"/>
          <p:cNvSpPr/>
          <p:nvPr/>
        </p:nvSpPr>
        <p:spPr>
          <a:xfrm>
            <a:off x="1920240" y="2907792"/>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0.923</a:t>
            </a:r>
            <a:endParaRPr sz="1050">
              <a:solidFill>
                <a:schemeClr val="dk1"/>
              </a:solidFill>
              <a:latin typeface="Calibri"/>
              <a:ea typeface="Calibri"/>
              <a:cs typeface="Calibri"/>
              <a:sym typeface="Calibri"/>
            </a:endParaRPr>
          </a:p>
        </p:txBody>
      </p:sp>
      <p:sp>
        <p:nvSpPr>
          <p:cNvPr id="272" name="Google Shape;272;p9"/>
          <p:cNvSpPr/>
          <p:nvPr/>
        </p:nvSpPr>
        <p:spPr>
          <a:xfrm>
            <a:off x="521208" y="3255264"/>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Gen Gap</a:t>
            </a:r>
            <a:endParaRPr sz="950">
              <a:solidFill>
                <a:schemeClr val="dk1"/>
              </a:solidFill>
              <a:latin typeface="Calibri"/>
              <a:ea typeface="Calibri"/>
              <a:cs typeface="Calibri"/>
              <a:sym typeface="Calibri"/>
            </a:endParaRPr>
          </a:p>
        </p:txBody>
      </p:sp>
      <p:sp>
        <p:nvSpPr>
          <p:cNvPr id="273" name="Google Shape;273;p9"/>
          <p:cNvSpPr/>
          <p:nvPr/>
        </p:nvSpPr>
        <p:spPr>
          <a:xfrm>
            <a:off x="1920240" y="3255264"/>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0.000</a:t>
            </a:r>
            <a:endParaRPr sz="1050">
              <a:solidFill>
                <a:schemeClr val="dk1"/>
              </a:solidFill>
              <a:latin typeface="Calibri"/>
              <a:ea typeface="Calibri"/>
              <a:cs typeface="Calibri"/>
              <a:sym typeface="Calibri"/>
            </a:endParaRPr>
          </a:p>
        </p:txBody>
      </p:sp>
      <p:sp>
        <p:nvSpPr>
          <p:cNvPr id="274" name="Google Shape;274;p9"/>
          <p:cNvSpPr/>
          <p:nvPr/>
        </p:nvSpPr>
        <p:spPr>
          <a:xfrm>
            <a:off x="521208" y="3602736"/>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FPR Black</a:t>
            </a:r>
            <a:endParaRPr sz="950">
              <a:solidFill>
                <a:schemeClr val="dk1"/>
              </a:solidFill>
              <a:latin typeface="Calibri"/>
              <a:ea typeface="Calibri"/>
              <a:cs typeface="Calibri"/>
              <a:sym typeface="Calibri"/>
            </a:endParaRPr>
          </a:p>
        </p:txBody>
      </p:sp>
      <p:sp>
        <p:nvSpPr>
          <p:cNvPr id="275" name="Google Shape;275;p9"/>
          <p:cNvSpPr/>
          <p:nvPr/>
        </p:nvSpPr>
        <p:spPr>
          <a:xfrm>
            <a:off x="1920240" y="3602736"/>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0.254</a:t>
            </a:r>
            <a:endParaRPr sz="1050">
              <a:solidFill>
                <a:schemeClr val="dk1"/>
              </a:solidFill>
              <a:latin typeface="Calibri"/>
              <a:ea typeface="Calibri"/>
              <a:cs typeface="Calibri"/>
              <a:sym typeface="Calibri"/>
            </a:endParaRPr>
          </a:p>
        </p:txBody>
      </p:sp>
      <p:sp>
        <p:nvSpPr>
          <p:cNvPr id="276" name="Google Shape;276;p9"/>
          <p:cNvSpPr/>
          <p:nvPr/>
        </p:nvSpPr>
        <p:spPr>
          <a:xfrm>
            <a:off x="521208" y="395020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FPR White</a:t>
            </a:r>
            <a:endParaRPr sz="950">
              <a:solidFill>
                <a:schemeClr val="dk1"/>
              </a:solidFill>
              <a:latin typeface="Calibri"/>
              <a:ea typeface="Calibri"/>
              <a:cs typeface="Calibri"/>
              <a:sym typeface="Calibri"/>
            </a:endParaRPr>
          </a:p>
        </p:txBody>
      </p:sp>
      <p:sp>
        <p:nvSpPr>
          <p:cNvPr id="277" name="Google Shape;277;p9"/>
          <p:cNvSpPr/>
          <p:nvPr/>
        </p:nvSpPr>
        <p:spPr>
          <a:xfrm>
            <a:off x="1920240" y="395020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0.239</a:t>
            </a:r>
            <a:endParaRPr sz="1050">
              <a:solidFill>
                <a:schemeClr val="dk1"/>
              </a:solidFill>
              <a:latin typeface="Calibri"/>
              <a:ea typeface="Calibri"/>
              <a:cs typeface="Calibri"/>
              <a:sym typeface="Calibri"/>
            </a:endParaRPr>
          </a:p>
        </p:txBody>
      </p:sp>
      <p:sp>
        <p:nvSpPr>
          <p:cNvPr id="278" name="Google Shape;278;p9"/>
          <p:cNvSpPr/>
          <p:nvPr/>
        </p:nvSpPr>
        <p:spPr>
          <a:xfrm>
            <a:off x="521208" y="4315968"/>
            <a:ext cx="2560320" cy="4389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850"/>
              <a:buFont typeface="Calibri"/>
              <a:buNone/>
            </a:pPr>
            <a:r>
              <a:rPr i="1" lang="en-US" sz="850">
                <a:solidFill>
                  <a:srgbClr val="8096A8"/>
                </a:solidFill>
                <a:latin typeface="Calibri"/>
                <a:ea typeface="Calibri"/>
                <a:cs typeface="Calibri"/>
                <a:sym typeface="Calibri"/>
              </a:rPr>
              <a:t>Interpretable but lowest AUC; highest Black FPR.</a:t>
            </a:r>
            <a:endParaRPr sz="850">
              <a:solidFill>
                <a:schemeClr val="dk1"/>
              </a:solidFill>
              <a:latin typeface="Calibri"/>
              <a:ea typeface="Calibri"/>
              <a:cs typeface="Calibri"/>
              <a:sym typeface="Calibri"/>
            </a:endParaRPr>
          </a:p>
        </p:txBody>
      </p:sp>
      <p:sp>
        <p:nvSpPr>
          <p:cNvPr id="279" name="Google Shape;279;p9"/>
          <p:cNvSpPr/>
          <p:nvPr/>
        </p:nvSpPr>
        <p:spPr>
          <a:xfrm>
            <a:off x="3337560" y="1261872"/>
            <a:ext cx="2788920" cy="3566160"/>
          </a:xfrm>
          <a:prstGeom prst="rect">
            <a:avLst/>
          </a:prstGeom>
          <a:solidFill>
            <a:srgbClr val="0D1B2A"/>
          </a:solidFill>
          <a:ln cap="flat" cmpd="sng" w="25400">
            <a:solidFill>
              <a:srgbClr val="1B6CA8"/>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0" name="Google Shape;280;p9"/>
          <p:cNvSpPr/>
          <p:nvPr/>
        </p:nvSpPr>
        <p:spPr>
          <a:xfrm>
            <a:off x="3337560" y="1261872"/>
            <a:ext cx="2788920" cy="41148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9"/>
          <p:cNvSpPr/>
          <p:nvPr/>
        </p:nvSpPr>
        <p:spPr>
          <a:xfrm>
            <a:off x="3337560" y="1261872"/>
            <a:ext cx="2788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SELECTED</a:t>
            </a:r>
            <a:endParaRPr sz="1000">
              <a:solidFill>
                <a:schemeClr val="dk1"/>
              </a:solidFill>
              <a:latin typeface="Calibri"/>
              <a:ea typeface="Calibri"/>
              <a:cs typeface="Calibri"/>
              <a:sym typeface="Calibri"/>
            </a:endParaRPr>
          </a:p>
        </p:txBody>
      </p:sp>
      <p:sp>
        <p:nvSpPr>
          <p:cNvPr id="282" name="Google Shape;282;p9"/>
          <p:cNvSpPr/>
          <p:nvPr/>
        </p:nvSpPr>
        <p:spPr>
          <a:xfrm>
            <a:off x="3447288" y="1755648"/>
            <a:ext cx="2560320"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Gradient Boosting</a:t>
            </a:r>
            <a:endParaRPr sz="1300">
              <a:solidFill>
                <a:schemeClr val="dk1"/>
              </a:solidFill>
              <a:latin typeface="Calibri"/>
              <a:ea typeface="Calibri"/>
              <a:cs typeface="Calibri"/>
              <a:sym typeface="Calibri"/>
            </a:endParaRPr>
          </a:p>
        </p:txBody>
      </p:sp>
      <p:sp>
        <p:nvSpPr>
          <p:cNvPr id="283" name="Google Shape;283;p9"/>
          <p:cNvSpPr/>
          <p:nvPr/>
        </p:nvSpPr>
        <p:spPr>
          <a:xfrm>
            <a:off x="3447288" y="221284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Test AUC</a:t>
            </a:r>
            <a:endParaRPr sz="950">
              <a:solidFill>
                <a:schemeClr val="dk1"/>
              </a:solidFill>
              <a:latin typeface="Calibri"/>
              <a:ea typeface="Calibri"/>
              <a:cs typeface="Calibri"/>
              <a:sym typeface="Calibri"/>
            </a:endParaRPr>
          </a:p>
        </p:txBody>
      </p:sp>
      <p:sp>
        <p:nvSpPr>
          <p:cNvPr id="284" name="Google Shape;284;p9"/>
          <p:cNvSpPr/>
          <p:nvPr/>
        </p:nvSpPr>
        <p:spPr>
          <a:xfrm>
            <a:off x="4846320" y="221284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0.838</a:t>
            </a:r>
            <a:endParaRPr sz="1050">
              <a:solidFill>
                <a:schemeClr val="dk1"/>
              </a:solidFill>
              <a:latin typeface="Calibri"/>
              <a:ea typeface="Calibri"/>
              <a:cs typeface="Calibri"/>
              <a:sym typeface="Calibri"/>
            </a:endParaRPr>
          </a:p>
        </p:txBody>
      </p:sp>
      <p:sp>
        <p:nvSpPr>
          <p:cNvPr id="285" name="Google Shape;285;p9"/>
          <p:cNvSpPr/>
          <p:nvPr/>
        </p:nvSpPr>
        <p:spPr>
          <a:xfrm>
            <a:off x="3447288" y="2560320"/>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Brier Score</a:t>
            </a:r>
            <a:endParaRPr sz="950">
              <a:solidFill>
                <a:schemeClr val="dk1"/>
              </a:solidFill>
              <a:latin typeface="Calibri"/>
              <a:ea typeface="Calibri"/>
              <a:cs typeface="Calibri"/>
              <a:sym typeface="Calibri"/>
            </a:endParaRPr>
          </a:p>
        </p:txBody>
      </p:sp>
      <p:sp>
        <p:nvSpPr>
          <p:cNvPr id="286" name="Google Shape;286;p9"/>
          <p:cNvSpPr/>
          <p:nvPr/>
        </p:nvSpPr>
        <p:spPr>
          <a:xfrm>
            <a:off x="4846320" y="2560320"/>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0.122</a:t>
            </a:r>
            <a:endParaRPr sz="1050">
              <a:solidFill>
                <a:schemeClr val="dk1"/>
              </a:solidFill>
              <a:latin typeface="Calibri"/>
              <a:ea typeface="Calibri"/>
              <a:cs typeface="Calibri"/>
              <a:sym typeface="Calibri"/>
            </a:endParaRPr>
          </a:p>
        </p:txBody>
      </p:sp>
      <p:sp>
        <p:nvSpPr>
          <p:cNvPr id="287" name="Google Shape;287;p9"/>
          <p:cNvSpPr/>
          <p:nvPr/>
        </p:nvSpPr>
        <p:spPr>
          <a:xfrm>
            <a:off x="3447288" y="2907792"/>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AIR (approval)</a:t>
            </a:r>
            <a:endParaRPr sz="950">
              <a:solidFill>
                <a:schemeClr val="dk1"/>
              </a:solidFill>
              <a:latin typeface="Calibri"/>
              <a:ea typeface="Calibri"/>
              <a:cs typeface="Calibri"/>
              <a:sym typeface="Calibri"/>
            </a:endParaRPr>
          </a:p>
        </p:txBody>
      </p:sp>
      <p:sp>
        <p:nvSpPr>
          <p:cNvPr id="288" name="Google Shape;288;p9"/>
          <p:cNvSpPr/>
          <p:nvPr/>
        </p:nvSpPr>
        <p:spPr>
          <a:xfrm>
            <a:off x="4846320" y="2907792"/>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0.945</a:t>
            </a:r>
            <a:endParaRPr sz="1050">
              <a:solidFill>
                <a:schemeClr val="dk1"/>
              </a:solidFill>
              <a:latin typeface="Calibri"/>
              <a:ea typeface="Calibri"/>
              <a:cs typeface="Calibri"/>
              <a:sym typeface="Calibri"/>
            </a:endParaRPr>
          </a:p>
        </p:txBody>
      </p:sp>
      <p:sp>
        <p:nvSpPr>
          <p:cNvPr id="289" name="Google Shape;289;p9"/>
          <p:cNvSpPr/>
          <p:nvPr/>
        </p:nvSpPr>
        <p:spPr>
          <a:xfrm>
            <a:off x="3447288" y="3255264"/>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Gen Gap</a:t>
            </a:r>
            <a:endParaRPr sz="950">
              <a:solidFill>
                <a:schemeClr val="dk1"/>
              </a:solidFill>
              <a:latin typeface="Calibri"/>
              <a:ea typeface="Calibri"/>
              <a:cs typeface="Calibri"/>
              <a:sym typeface="Calibri"/>
            </a:endParaRPr>
          </a:p>
        </p:txBody>
      </p:sp>
      <p:sp>
        <p:nvSpPr>
          <p:cNvPr id="290" name="Google Shape;290;p9"/>
          <p:cNvSpPr/>
          <p:nvPr/>
        </p:nvSpPr>
        <p:spPr>
          <a:xfrm>
            <a:off x="4846320" y="3255264"/>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0.001</a:t>
            </a:r>
            <a:endParaRPr sz="1050">
              <a:solidFill>
                <a:schemeClr val="dk1"/>
              </a:solidFill>
              <a:latin typeface="Calibri"/>
              <a:ea typeface="Calibri"/>
              <a:cs typeface="Calibri"/>
              <a:sym typeface="Calibri"/>
            </a:endParaRPr>
          </a:p>
        </p:txBody>
      </p:sp>
      <p:sp>
        <p:nvSpPr>
          <p:cNvPr id="291" name="Google Shape;291;p9"/>
          <p:cNvSpPr/>
          <p:nvPr/>
        </p:nvSpPr>
        <p:spPr>
          <a:xfrm>
            <a:off x="3447288" y="3602736"/>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FPR Black</a:t>
            </a:r>
            <a:endParaRPr sz="950">
              <a:solidFill>
                <a:schemeClr val="dk1"/>
              </a:solidFill>
              <a:latin typeface="Calibri"/>
              <a:ea typeface="Calibri"/>
              <a:cs typeface="Calibri"/>
              <a:sym typeface="Calibri"/>
            </a:endParaRPr>
          </a:p>
        </p:txBody>
      </p:sp>
      <p:sp>
        <p:nvSpPr>
          <p:cNvPr id="292" name="Google Shape;292;p9"/>
          <p:cNvSpPr/>
          <p:nvPr/>
        </p:nvSpPr>
        <p:spPr>
          <a:xfrm>
            <a:off x="4846320" y="3602736"/>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0.206</a:t>
            </a:r>
            <a:endParaRPr sz="1050">
              <a:solidFill>
                <a:schemeClr val="dk1"/>
              </a:solidFill>
              <a:latin typeface="Calibri"/>
              <a:ea typeface="Calibri"/>
              <a:cs typeface="Calibri"/>
              <a:sym typeface="Calibri"/>
            </a:endParaRPr>
          </a:p>
        </p:txBody>
      </p:sp>
      <p:sp>
        <p:nvSpPr>
          <p:cNvPr id="293" name="Google Shape;293;p9"/>
          <p:cNvSpPr/>
          <p:nvPr/>
        </p:nvSpPr>
        <p:spPr>
          <a:xfrm>
            <a:off x="3447288" y="395020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950"/>
              <a:buFont typeface="Calibri"/>
              <a:buNone/>
            </a:pPr>
            <a:r>
              <a:rPr lang="en-US" sz="950">
                <a:solidFill>
                  <a:srgbClr val="C8DCF0"/>
                </a:solidFill>
                <a:latin typeface="Calibri"/>
                <a:ea typeface="Calibri"/>
                <a:cs typeface="Calibri"/>
                <a:sym typeface="Calibri"/>
              </a:rPr>
              <a:t>FPR White</a:t>
            </a:r>
            <a:endParaRPr sz="950">
              <a:solidFill>
                <a:schemeClr val="dk1"/>
              </a:solidFill>
              <a:latin typeface="Calibri"/>
              <a:ea typeface="Calibri"/>
              <a:cs typeface="Calibri"/>
              <a:sym typeface="Calibri"/>
            </a:endParaRPr>
          </a:p>
        </p:txBody>
      </p:sp>
      <p:sp>
        <p:nvSpPr>
          <p:cNvPr id="294" name="Google Shape;294;p9"/>
          <p:cNvSpPr/>
          <p:nvPr/>
        </p:nvSpPr>
        <p:spPr>
          <a:xfrm>
            <a:off x="4846320" y="395020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E8A020"/>
              </a:buClr>
              <a:buSzPts val="1050"/>
              <a:buFont typeface="Calibri"/>
              <a:buNone/>
            </a:pPr>
            <a:r>
              <a:rPr b="1" lang="en-US" sz="1050">
                <a:solidFill>
                  <a:srgbClr val="E8A020"/>
                </a:solidFill>
                <a:latin typeface="Calibri"/>
                <a:ea typeface="Calibri"/>
                <a:cs typeface="Calibri"/>
                <a:sym typeface="Calibri"/>
              </a:rPr>
              <a:t>0.184</a:t>
            </a:r>
            <a:endParaRPr sz="1050">
              <a:solidFill>
                <a:schemeClr val="dk1"/>
              </a:solidFill>
              <a:latin typeface="Calibri"/>
              <a:ea typeface="Calibri"/>
              <a:cs typeface="Calibri"/>
              <a:sym typeface="Calibri"/>
            </a:endParaRPr>
          </a:p>
        </p:txBody>
      </p:sp>
      <p:sp>
        <p:nvSpPr>
          <p:cNvPr id="295" name="Google Shape;295;p9"/>
          <p:cNvSpPr/>
          <p:nvPr/>
        </p:nvSpPr>
        <p:spPr>
          <a:xfrm>
            <a:off x="3447288" y="4315968"/>
            <a:ext cx="2560320" cy="4389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CF0"/>
              </a:buClr>
              <a:buSzPts val="850"/>
              <a:buFont typeface="Calibri"/>
              <a:buNone/>
            </a:pPr>
            <a:r>
              <a:rPr i="1" lang="en-US" sz="850">
                <a:solidFill>
                  <a:srgbClr val="C8DCF0"/>
                </a:solidFill>
                <a:latin typeface="Calibri"/>
                <a:ea typeface="Calibri"/>
                <a:cs typeface="Calibri"/>
                <a:sym typeface="Calibri"/>
              </a:rPr>
              <a:t>GBT selected: highest AUC (0.838), lowest Brier (0.122), and lowest Black FPR (0.206), but residual subgroup gaps remain. </a:t>
            </a:r>
            <a:endParaRPr sz="850">
              <a:solidFill>
                <a:schemeClr val="dk1"/>
              </a:solidFill>
              <a:latin typeface="Calibri"/>
              <a:ea typeface="Calibri"/>
              <a:cs typeface="Calibri"/>
              <a:sym typeface="Calibri"/>
            </a:endParaRPr>
          </a:p>
        </p:txBody>
      </p:sp>
      <p:sp>
        <p:nvSpPr>
          <p:cNvPr id="296" name="Google Shape;296;p9"/>
          <p:cNvSpPr/>
          <p:nvPr/>
        </p:nvSpPr>
        <p:spPr>
          <a:xfrm>
            <a:off x="6263640" y="1261872"/>
            <a:ext cx="2788920" cy="3566160"/>
          </a:xfrm>
          <a:prstGeom prst="rect">
            <a:avLst/>
          </a:prstGeom>
          <a:solidFill>
            <a:srgbClr val="FFFFFF"/>
          </a:solidFill>
          <a:ln cap="flat" cmpd="sng" w="12700">
            <a:solidFill>
              <a:srgbClr val="4A607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7" name="Google Shape;297;p9"/>
          <p:cNvSpPr/>
          <p:nvPr/>
        </p:nvSpPr>
        <p:spPr>
          <a:xfrm>
            <a:off x="6263640" y="1261872"/>
            <a:ext cx="2788920" cy="411480"/>
          </a:xfrm>
          <a:prstGeom prst="rect">
            <a:avLst/>
          </a:prstGeom>
          <a:solidFill>
            <a:srgbClr val="4A6070"/>
          </a:solidFill>
          <a:ln cap="flat" cmpd="sng" w="12700">
            <a:solidFill>
              <a:srgbClr val="4A607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8" name="Google Shape;298;p9"/>
          <p:cNvSpPr/>
          <p:nvPr/>
        </p:nvSpPr>
        <p:spPr>
          <a:xfrm>
            <a:off x="6263640" y="1261872"/>
            <a:ext cx="2788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Challenger</a:t>
            </a:r>
            <a:endParaRPr sz="1000">
              <a:solidFill>
                <a:schemeClr val="dk1"/>
              </a:solidFill>
              <a:latin typeface="Calibri"/>
              <a:ea typeface="Calibri"/>
              <a:cs typeface="Calibri"/>
              <a:sym typeface="Calibri"/>
            </a:endParaRPr>
          </a:p>
        </p:txBody>
      </p:sp>
      <p:sp>
        <p:nvSpPr>
          <p:cNvPr id="299" name="Google Shape;299;p9"/>
          <p:cNvSpPr/>
          <p:nvPr/>
        </p:nvSpPr>
        <p:spPr>
          <a:xfrm>
            <a:off x="6373368" y="1755648"/>
            <a:ext cx="2560320"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300"/>
              <a:buFont typeface="Calibri"/>
              <a:buNone/>
            </a:pPr>
            <a:r>
              <a:rPr b="1" lang="en-US" sz="1300">
                <a:solidFill>
                  <a:srgbClr val="0D1B2A"/>
                </a:solidFill>
                <a:latin typeface="Calibri"/>
                <a:ea typeface="Calibri"/>
                <a:cs typeface="Calibri"/>
                <a:sym typeface="Calibri"/>
              </a:rPr>
              <a:t>Random Forest</a:t>
            </a:r>
            <a:endParaRPr sz="1300">
              <a:solidFill>
                <a:schemeClr val="dk1"/>
              </a:solidFill>
              <a:latin typeface="Calibri"/>
              <a:ea typeface="Calibri"/>
              <a:cs typeface="Calibri"/>
              <a:sym typeface="Calibri"/>
            </a:endParaRPr>
          </a:p>
        </p:txBody>
      </p:sp>
      <p:sp>
        <p:nvSpPr>
          <p:cNvPr id="300" name="Google Shape;300;p9"/>
          <p:cNvSpPr/>
          <p:nvPr/>
        </p:nvSpPr>
        <p:spPr>
          <a:xfrm>
            <a:off x="6373368" y="221284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Test AUC</a:t>
            </a:r>
            <a:endParaRPr sz="950">
              <a:solidFill>
                <a:schemeClr val="dk1"/>
              </a:solidFill>
              <a:latin typeface="Calibri"/>
              <a:ea typeface="Calibri"/>
              <a:cs typeface="Calibri"/>
              <a:sym typeface="Calibri"/>
            </a:endParaRPr>
          </a:p>
        </p:txBody>
      </p:sp>
      <p:sp>
        <p:nvSpPr>
          <p:cNvPr id="301" name="Google Shape;301;p9"/>
          <p:cNvSpPr/>
          <p:nvPr/>
        </p:nvSpPr>
        <p:spPr>
          <a:xfrm>
            <a:off x="7772400" y="221284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0.843</a:t>
            </a:r>
            <a:endParaRPr sz="1050">
              <a:solidFill>
                <a:schemeClr val="dk1"/>
              </a:solidFill>
              <a:latin typeface="Calibri"/>
              <a:ea typeface="Calibri"/>
              <a:cs typeface="Calibri"/>
              <a:sym typeface="Calibri"/>
            </a:endParaRPr>
          </a:p>
        </p:txBody>
      </p:sp>
      <p:sp>
        <p:nvSpPr>
          <p:cNvPr id="302" name="Google Shape;302;p9"/>
          <p:cNvSpPr/>
          <p:nvPr/>
        </p:nvSpPr>
        <p:spPr>
          <a:xfrm>
            <a:off x="6373368" y="2560320"/>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Brier Score</a:t>
            </a:r>
            <a:endParaRPr sz="950">
              <a:solidFill>
                <a:schemeClr val="dk1"/>
              </a:solidFill>
              <a:latin typeface="Calibri"/>
              <a:ea typeface="Calibri"/>
              <a:cs typeface="Calibri"/>
              <a:sym typeface="Calibri"/>
            </a:endParaRPr>
          </a:p>
        </p:txBody>
      </p:sp>
      <p:sp>
        <p:nvSpPr>
          <p:cNvPr id="303" name="Google Shape;303;p9"/>
          <p:cNvSpPr/>
          <p:nvPr/>
        </p:nvSpPr>
        <p:spPr>
          <a:xfrm>
            <a:off x="7772400" y="2560320"/>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0.121 </a:t>
            </a:r>
            <a:endParaRPr sz="1050">
              <a:solidFill>
                <a:schemeClr val="dk1"/>
              </a:solidFill>
              <a:latin typeface="Calibri"/>
              <a:ea typeface="Calibri"/>
              <a:cs typeface="Calibri"/>
              <a:sym typeface="Calibri"/>
            </a:endParaRPr>
          </a:p>
        </p:txBody>
      </p:sp>
      <p:sp>
        <p:nvSpPr>
          <p:cNvPr id="304" name="Google Shape;304;p9"/>
          <p:cNvSpPr/>
          <p:nvPr/>
        </p:nvSpPr>
        <p:spPr>
          <a:xfrm>
            <a:off x="6373368" y="2907792"/>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AIR (approval)</a:t>
            </a:r>
            <a:endParaRPr sz="950">
              <a:solidFill>
                <a:schemeClr val="dk1"/>
              </a:solidFill>
              <a:latin typeface="Calibri"/>
              <a:ea typeface="Calibri"/>
              <a:cs typeface="Calibri"/>
              <a:sym typeface="Calibri"/>
            </a:endParaRPr>
          </a:p>
        </p:txBody>
      </p:sp>
      <p:sp>
        <p:nvSpPr>
          <p:cNvPr id="305" name="Google Shape;305;p9"/>
          <p:cNvSpPr/>
          <p:nvPr/>
        </p:nvSpPr>
        <p:spPr>
          <a:xfrm>
            <a:off x="7772400" y="2907792"/>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0.938</a:t>
            </a:r>
            <a:endParaRPr sz="1050">
              <a:solidFill>
                <a:schemeClr val="dk1"/>
              </a:solidFill>
              <a:latin typeface="Calibri"/>
              <a:ea typeface="Calibri"/>
              <a:cs typeface="Calibri"/>
              <a:sym typeface="Calibri"/>
            </a:endParaRPr>
          </a:p>
        </p:txBody>
      </p:sp>
      <p:sp>
        <p:nvSpPr>
          <p:cNvPr id="306" name="Google Shape;306;p9"/>
          <p:cNvSpPr/>
          <p:nvPr/>
        </p:nvSpPr>
        <p:spPr>
          <a:xfrm>
            <a:off x="6373368" y="3255264"/>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Gen Gap</a:t>
            </a:r>
            <a:endParaRPr sz="950">
              <a:solidFill>
                <a:schemeClr val="dk1"/>
              </a:solidFill>
              <a:latin typeface="Calibri"/>
              <a:ea typeface="Calibri"/>
              <a:cs typeface="Calibri"/>
              <a:sym typeface="Calibri"/>
            </a:endParaRPr>
          </a:p>
        </p:txBody>
      </p:sp>
      <p:sp>
        <p:nvSpPr>
          <p:cNvPr id="307" name="Google Shape;307;p9"/>
          <p:cNvSpPr/>
          <p:nvPr/>
        </p:nvSpPr>
        <p:spPr>
          <a:xfrm>
            <a:off x="7772400" y="3255264"/>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0.001 </a:t>
            </a:r>
            <a:endParaRPr sz="1050">
              <a:solidFill>
                <a:schemeClr val="dk1"/>
              </a:solidFill>
              <a:latin typeface="Calibri"/>
              <a:ea typeface="Calibri"/>
              <a:cs typeface="Calibri"/>
              <a:sym typeface="Calibri"/>
            </a:endParaRPr>
          </a:p>
        </p:txBody>
      </p:sp>
      <p:sp>
        <p:nvSpPr>
          <p:cNvPr id="308" name="Google Shape;308;p9"/>
          <p:cNvSpPr/>
          <p:nvPr/>
        </p:nvSpPr>
        <p:spPr>
          <a:xfrm>
            <a:off x="6373368" y="3602736"/>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FPR Black</a:t>
            </a:r>
            <a:endParaRPr sz="950">
              <a:solidFill>
                <a:schemeClr val="dk1"/>
              </a:solidFill>
              <a:latin typeface="Calibri"/>
              <a:ea typeface="Calibri"/>
              <a:cs typeface="Calibri"/>
              <a:sym typeface="Calibri"/>
            </a:endParaRPr>
          </a:p>
        </p:txBody>
      </p:sp>
      <p:sp>
        <p:nvSpPr>
          <p:cNvPr id="309" name="Google Shape;309;p9"/>
          <p:cNvSpPr/>
          <p:nvPr/>
        </p:nvSpPr>
        <p:spPr>
          <a:xfrm>
            <a:off x="7772400" y="3602736"/>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0.236</a:t>
            </a:r>
            <a:endParaRPr sz="1050">
              <a:solidFill>
                <a:schemeClr val="dk1"/>
              </a:solidFill>
              <a:latin typeface="Calibri"/>
              <a:ea typeface="Calibri"/>
              <a:cs typeface="Calibri"/>
              <a:sym typeface="Calibri"/>
            </a:endParaRPr>
          </a:p>
        </p:txBody>
      </p:sp>
      <p:sp>
        <p:nvSpPr>
          <p:cNvPr id="310" name="Google Shape;310;p9"/>
          <p:cNvSpPr/>
          <p:nvPr/>
        </p:nvSpPr>
        <p:spPr>
          <a:xfrm>
            <a:off x="6373368" y="3950208"/>
            <a:ext cx="13716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950"/>
              <a:buFont typeface="Calibri"/>
              <a:buNone/>
            </a:pPr>
            <a:r>
              <a:rPr lang="en-US" sz="950">
                <a:solidFill>
                  <a:srgbClr val="8096A8"/>
                </a:solidFill>
                <a:latin typeface="Calibri"/>
                <a:ea typeface="Calibri"/>
                <a:cs typeface="Calibri"/>
                <a:sym typeface="Calibri"/>
              </a:rPr>
              <a:t>FPR White</a:t>
            </a:r>
            <a:endParaRPr sz="950">
              <a:solidFill>
                <a:schemeClr val="dk1"/>
              </a:solidFill>
              <a:latin typeface="Calibri"/>
              <a:ea typeface="Calibri"/>
              <a:cs typeface="Calibri"/>
              <a:sym typeface="Calibri"/>
            </a:endParaRPr>
          </a:p>
        </p:txBody>
      </p:sp>
      <p:sp>
        <p:nvSpPr>
          <p:cNvPr id="311" name="Google Shape;311;p9"/>
          <p:cNvSpPr/>
          <p:nvPr/>
        </p:nvSpPr>
        <p:spPr>
          <a:xfrm>
            <a:off x="7772400" y="3950208"/>
            <a:ext cx="1188720" cy="292608"/>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6CA8"/>
              </a:buClr>
              <a:buSzPts val="1050"/>
              <a:buFont typeface="Calibri"/>
              <a:buNone/>
            </a:pPr>
            <a:r>
              <a:rPr b="1" lang="en-US" sz="1050">
                <a:solidFill>
                  <a:srgbClr val="1B6CA8"/>
                </a:solidFill>
                <a:latin typeface="Calibri"/>
                <a:ea typeface="Calibri"/>
                <a:cs typeface="Calibri"/>
                <a:sym typeface="Calibri"/>
              </a:rPr>
              <a:t>0.254</a:t>
            </a:r>
            <a:endParaRPr sz="1050">
              <a:solidFill>
                <a:schemeClr val="dk1"/>
              </a:solidFill>
              <a:latin typeface="Calibri"/>
              <a:ea typeface="Calibri"/>
              <a:cs typeface="Calibri"/>
              <a:sym typeface="Calibri"/>
            </a:endParaRPr>
          </a:p>
        </p:txBody>
      </p:sp>
      <p:sp>
        <p:nvSpPr>
          <p:cNvPr id="312" name="Google Shape;312;p9"/>
          <p:cNvSpPr/>
          <p:nvPr/>
        </p:nvSpPr>
        <p:spPr>
          <a:xfrm>
            <a:off x="6373368" y="4315968"/>
            <a:ext cx="2560320" cy="4389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096A8"/>
              </a:buClr>
              <a:buSzPts val="850"/>
              <a:buFont typeface="Calibri"/>
              <a:buNone/>
            </a:pPr>
            <a:r>
              <a:rPr i="1" lang="en-US" sz="850">
                <a:solidFill>
                  <a:srgbClr val="8096A8"/>
                </a:solidFill>
                <a:latin typeface="Calibri"/>
                <a:ea typeface="Calibri"/>
                <a:cs typeface="Calibri"/>
                <a:sym typeface="Calibri"/>
              </a:rPr>
              <a:t>Strong Brier and gen gap, but higher Black FPR than GBT </a:t>
            </a:r>
            <a:endParaRPr sz="850">
              <a:solidFill>
                <a:schemeClr val="dk1"/>
              </a:solidFill>
              <a:latin typeface="Calibri"/>
              <a:ea typeface="Calibri"/>
              <a:cs typeface="Calibri"/>
              <a:sym typeface="Calibri"/>
            </a:endParaRPr>
          </a:p>
        </p:txBody>
      </p:sp>
      <p:sp>
        <p:nvSpPr>
          <p:cNvPr id="313" name="Google Shape;313;p9"/>
          <p:cNvSpPr/>
          <p:nvPr/>
        </p:nvSpPr>
        <p:spPr>
          <a:xfrm>
            <a:off x="411480" y="4864608"/>
            <a:ext cx="8321040" cy="2011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6CA8"/>
              </a:buClr>
              <a:buSzPts val="1000"/>
              <a:buFont typeface="Calibri"/>
              <a:buNone/>
            </a:pPr>
            <a:r>
              <a:rPr i="1" lang="en-US" sz="1000">
                <a:solidFill>
                  <a:srgbClr val="1B6CA8"/>
                </a:solidFill>
                <a:latin typeface="Calibri"/>
                <a:ea typeface="Calibri"/>
                <a:cs typeface="Calibri"/>
                <a:sym typeface="Calibri"/>
              </a:rPr>
              <a:t>GBT selected: strong AUC and Brier, lowest Black FPR, but subgroup gaps remain.</a:t>
            </a:r>
            <a:endParaRPr sz="10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10"/>
          <p:cNvSpPr txBox="1"/>
          <p:nvPr/>
        </p:nvSpPr>
        <p:spPr>
          <a:xfrm>
            <a:off x="8046725" y="1316800"/>
            <a:ext cx="1097400" cy="26334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000"/>
              <a:t>AIR = group protected group approval rate ÷ reference group approval rate .</a:t>
            </a:r>
            <a:endParaRPr sz="1000"/>
          </a:p>
          <a:p>
            <a:pPr indent="0" lvl="0" marL="0" rtl="0" algn="just">
              <a:spcBef>
                <a:spcPts val="0"/>
              </a:spcBef>
              <a:spcAft>
                <a:spcPts val="0"/>
              </a:spcAft>
              <a:buNone/>
            </a:pPr>
            <a:r>
              <a:t/>
            </a:r>
            <a:endParaRPr sz="1000"/>
          </a:p>
          <a:p>
            <a:pPr indent="0" lvl="0" marL="0" rtl="0" algn="just">
              <a:spcBef>
                <a:spcPts val="0"/>
              </a:spcBef>
              <a:spcAft>
                <a:spcPts val="0"/>
              </a:spcAft>
              <a:buNone/>
            </a:pPr>
            <a:r>
              <a:rPr i="1" lang="en-US" sz="1000"/>
              <a:t>Note: Four-fifths rule: </a:t>
            </a:r>
            <a:endParaRPr i="1" sz="1000"/>
          </a:p>
          <a:p>
            <a:pPr indent="0" lvl="0" marL="0" rtl="0" algn="just">
              <a:spcBef>
                <a:spcPts val="0"/>
              </a:spcBef>
              <a:spcAft>
                <a:spcPts val="0"/>
              </a:spcAft>
              <a:buNone/>
            </a:pPr>
            <a:r>
              <a:rPr i="1" lang="en-US" sz="1000"/>
              <a:t>AIR &lt; 0.80 is flagged </a:t>
            </a:r>
            <a:endParaRPr i="1" sz="1000"/>
          </a:p>
        </p:txBody>
      </p:sp>
      <p:sp>
        <p:nvSpPr>
          <p:cNvPr id="320" name="Google Shape;320;p10"/>
          <p:cNvSpPr/>
          <p:nvPr/>
        </p:nvSpPr>
        <p:spPr>
          <a:xfrm>
            <a:off x="411480" y="201168"/>
            <a:ext cx="2011680" cy="292608"/>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1" name="Google Shape;321;p10"/>
          <p:cNvSpPr/>
          <p:nvPr/>
        </p:nvSpPr>
        <p:spPr>
          <a:xfrm>
            <a:off x="411480" y="201168"/>
            <a:ext cx="201168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Q3  SUBGROUP ERRORS — RACE</a:t>
            </a:r>
            <a:endParaRPr sz="900">
              <a:solidFill>
                <a:schemeClr val="dk1"/>
              </a:solidFill>
              <a:latin typeface="Calibri"/>
              <a:ea typeface="Calibri"/>
              <a:cs typeface="Calibri"/>
              <a:sym typeface="Calibri"/>
            </a:endParaRPr>
          </a:p>
        </p:txBody>
      </p:sp>
      <p:sp>
        <p:nvSpPr>
          <p:cNvPr id="322" name="Google Shape;322;p10"/>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Race (GBT Model)</a:t>
            </a:r>
            <a:endParaRPr sz="2600">
              <a:solidFill>
                <a:schemeClr val="dk1"/>
              </a:solidFill>
              <a:latin typeface="Calibri"/>
              <a:ea typeface="Calibri"/>
              <a:cs typeface="Calibri"/>
              <a:sym typeface="Calibri"/>
            </a:endParaRPr>
          </a:p>
        </p:txBody>
      </p:sp>
      <p:sp>
        <p:nvSpPr>
          <p:cNvPr id="323" name="Google Shape;323;p10"/>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10 / 18</a:t>
            </a:r>
            <a:endParaRPr sz="900">
              <a:solidFill>
                <a:schemeClr val="dk1"/>
              </a:solidFill>
              <a:latin typeface="Calibri"/>
              <a:ea typeface="Calibri"/>
              <a:cs typeface="Calibri"/>
              <a:sym typeface="Calibri"/>
            </a:endParaRPr>
          </a:p>
        </p:txBody>
      </p:sp>
      <p:graphicFrame>
        <p:nvGraphicFramePr>
          <p:cNvPr id="324" name="Google Shape;324;p10"/>
          <p:cNvGraphicFramePr/>
          <p:nvPr/>
        </p:nvGraphicFramePr>
        <p:xfrm>
          <a:off x="411480" y="1316798"/>
          <a:ext cx="3000000" cy="3000000"/>
        </p:xfrm>
        <a:graphic>
          <a:graphicData uri="http://schemas.openxmlformats.org/drawingml/2006/table">
            <a:tbl>
              <a:tblPr>
                <a:noFill/>
                <a:tableStyleId>{DE8012B9-8EC4-40CB-9E28-2F91E47B8B41}</a:tableStyleId>
              </a:tblPr>
              <a:tblGrid>
                <a:gridCol w="2048150"/>
                <a:gridCol w="979550"/>
                <a:gridCol w="1068600"/>
                <a:gridCol w="1068600"/>
                <a:gridCol w="801450"/>
                <a:gridCol w="801450"/>
                <a:gridCol w="801450"/>
              </a:tblGrid>
              <a:tr h="438900">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Group</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N (Test)</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Approval Rate</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AIR vs White</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FPR</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FNR</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950"/>
                        <a:buFont typeface="Calibri"/>
                        <a:buNone/>
                      </a:pPr>
                      <a:r>
                        <a:rPr b="1" lang="en-US" sz="950" u="none" cap="none" strike="noStrike">
                          <a:solidFill>
                            <a:srgbClr val="FFFFFF"/>
                          </a:solidFill>
                        </a:rPr>
                        <a:t>AUC</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r>
              <a:tr h="438900">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White (Non-Hispanic)</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488,758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53.8%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Reference</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0.184</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0.359</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0.833</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38900">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Black / African American</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105,564</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50.8%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0.945</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0.206</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0.320</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0.833</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38900">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Hispanic or Latino</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121,967</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58.8%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1.093</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0.220</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0.257</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0.847</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38900">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Asian</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63,939</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70.3%</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1.308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0.258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0.174</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0.864</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38900">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Am. Indian / AK Native</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9,432</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47.9%</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0.891</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0.158</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u="none" cap="none" strike="noStrike">
                          <a:solidFill>
                            <a:srgbClr val="000000"/>
                          </a:solidFill>
                        </a:rPr>
                        <a:t>0.340</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950"/>
                        <a:buFont typeface="Calibri"/>
                        <a:buNone/>
                      </a:pPr>
                      <a:r>
                        <a:rPr lang="en-US" sz="950"/>
                        <a:t>0.849</a:t>
                      </a:r>
                      <a:endParaRPr sz="95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bl>
          </a:graphicData>
        </a:graphic>
      </p:graphicFrame>
      <p:sp>
        <p:nvSpPr>
          <p:cNvPr id="325" name="Google Shape;325;p10"/>
          <p:cNvSpPr/>
          <p:nvPr/>
        </p:nvSpPr>
        <p:spPr>
          <a:xfrm>
            <a:off x="411480" y="3950208"/>
            <a:ext cx="4023360" cy="868680"/>
          </a:xfrm>
          <a:prstGeom prst="rect">
            <a:avLst/>
          </a:prstGeom>
          <a:solidFill>
            <a:srgbClr val="FDECEA"/>
          </a:solidFill>
          <a:ln cap="flat" cmpd="sng" w="1905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10"/>
          <p:cNvSpPr/>
          <p:nvPr/>
        </p:nvSpPr>
        <p:spPr>
          <a:xfrm>
            <a:off x="4617720" y="3950208"/>
            <a:ext cx="4114800" cy="868680"/>
          </a:xfrm>
          <a:prstGeom prst="rect">
            <a:avLst/>
          </a:prstGeom>
          <a:solidFill>
            <a:srgbClr val="FFF3CD"/>
          </a:solidFill>
          <a:ln cap="flat" cmpd="sng" w="1905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10"/>
          <p:cNvSpPr/>
          <p:nvPr/>
        </p:nvSpPr>
        <p:spPr>
          <a:xfrm>
            <a:off x="4800600" y="4005072"/>
            <a:ext cx="3749040" cy="7498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000"/>
              <a:buFont typeface="Calibri"/>
              <a:buNone/>
            </a:pPr>
            <a:r>
              <a:rPr lang="en-US" sz="1000">
                <a:solidFill>
                  <a:srgbClr val="1A2836"/>
                </a:solidFill>
                <a:latin typeface="Calibri"/>
                <a:ea typeface="Calibri"/>
                <a:cs typeface="Calibri"/>
                <a:sym typeface="Calibri"/>
              </a:rPr>
              <a:t>Age &gt;74 AIR = 0.898, above 0.80 but still lower than the 45–54 reference group. The main concern is the &gt;74 female subgroup, where AIR falls below 0.80 </a:t>
            </a:r>
            <a:r>
              <a:rPr lang="en-US" sz="1000">
                <a:solidFill>
                  <a:srgbClr val="1A2836"/>
                </a:solidFill>
                <a:latin typeface="Calibri"/>
                <a:ea typeface="Calibri"/>
                <a:cs typeface="Calibri"/>
                <a:sym typeface="Calibri"/>
              </a:rPr>
              <a:t>. GBT age intersectional worst group: &gt;74 Female at AIR 0.623. Requires ECOA review.</a:t>
            </a:r>
            <a:endParaRPr sz="1000">
              <a:solidFill>
                <a:schemeClr val="dk1"/>
              </a:solidFill>
              <a:latin typeface="Calibri"/>
              <a:ea typeface="Calibri"/>
              <a:cs typeface="Calibri"/>
              <a:sym typeface="Calibri"/>
            </a:endParaRPr>
          </a:p>
        </p:txBody>
      </p:sp>
      <p:sp>
        <p:nvSpPr>
          <p:cNvPr id="328" name="Google Shape;328;p10"/>
          <p:cNvSpPr/>
          <p:nvPr/>
        </p:nvSpPr>
        <p:spPr>
          <a:xfrm>
            <a:off x="594360" y="4005072"/>
            <a:ext cx="3657600" cy="7498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000"/>
              <a:buFont typeface="Calibri"/>
              <a:buNone/>
            </a:pPr>
            <a:r>
              <a:rPr lang="en-US" sz="1000">
                <a:solidFill>
                  <a:srgbClr val="1A2836"/>
                </a:solidFill>
                <a:latin typeface="Calibri"/>
                <a:ea typeface="Calibri"/>
                <a:cs typeface="Calibri"/>
                <a:sym typeface="Calibri"/>
              </a:rPr>
              <a:t>Black AIR = 0.945, above the 0.80 threshold. However, Black FPR is higher than White FPR by 2.2pp and statistically significant</a:t>
            </a:r>
            <a:r>
              <a:rPr lang="en-US" sz="1000">
                <a:solidFill>
                  <a:srgbClr val="1A2836"/>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33" name="Shape 333"/>
        <p:cNvGrpSpPr/>
        <p:nvPr/>
      </p:nvGrpSpPr>
      <p:grpSpPr>
        <a:xfrm>
          <a:off x="0" y="0"/>
          <a:ext cx="0" cy="0"/>
          <a:chOff x="0" y="0"/>
          <a:chExt cx="0" cy="0"/>
        </a:xfrm>
      </p:grpSpPr>
      <p:sp>
        <p:nvSpPr>
          <p:cNvPr id="334" name="Google Shape;334;p11"/>
          <p:cNvSpPr/>
          <p:nvPr/>
        </p:nvSpPr>
        <p:spPr>
          <a:xfrm>
            <a:off x="411480" y="201168"/>
            <a:ext cx="2056656" cy="292608"/>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11"/>
          <p:cNvSpPr/>
          <p:nvPr/>
        </p:nvSpPr>
        <p:spPr>
          <a:xfrm>
            <a:off x="411479" y="201168"/>
            <a:ext cx="2056657"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Q3  SUBGROUP ERRORS — SEX &amp; AGE</a:t>
            </a:r>
            <a:endParaRPr sz="950">
              <a:solidFill>
                <a:schemeClr val="dk1"/>
              </a:solidFill>
              <a:latin typeface="Calibri"/>
              <a:ea typeface="Calibri"/>
              <a:cs typeface="Calibri"/>
              <a:sym typeface="Calibri"/>
            </a:endParaRPr>
          </a:p>
        </p:txBody>
      </p:sp>
      <p:sp>
        <p:nvSpPr>
          <p:cNvPr id="336" name="Google Shape;336;p11"/>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Sex and Age</a:t>
            </a:r>
            <a:endParaRPr sz="2600">
              <a:solidFill>
                <a:schemeClr val="dk1"/>
              </a:solidFill>
              <a:latin typeface="Calibri"/>
              <a:ea typeface="Calibri"/>
              <a:cs typeface="Calibri"/>
              <a:sym typeface="Calibri"/>
            </a:endParaRPr>
          </a:p>
        </p:txBody>
      </p:sp>
      <p:sp>
        <p:nvSpPr>
          <p:cNvPr id="337" name="Google Shape;337;p11"/>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9 / 18</a:t>
            </a:r>
            <a:endParaRPr sz="900">
              <a:solidFill>
                <a:schemeClr val="dk1"/>
              </a:solidFill>
              <a:latin typeface="Calibri"/>
              <a:ea typeface="Calibri"/>
              <a:cs typeface="Calibri"/>
              <a:sym typeface="Calibri"/>
            </a:endParaRPr>
          </a:p>
        </p:txBody>
      </p:sp>
      <p:sp>
        <p:nvSpPr>
          <p:cNvPr id="338" name="Google Shape;338;p11"/>
          <p:cNvSpPr/>
          <p:nvPr/>
        </p:nvSpPr>
        <p:spPr>
          <a:xfrm>
            <a:off x="411480" y="1261871"/>
            <a:ext cx="3977640" cy="2276851"/>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11"/>
          <p:cNvSpPr/>
          <p:nvPr/>
        </p:nvSpPr>
        <p:spPr>
          <a:xfrm>
            <a:off x="594360" y="1371600"/>
            <a:ext cx="36118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300"/>
              <a:buFont typeface="Calibri"/>
              <a:buNone/>
            </a:pPr>
            <a:r>
              <a:rPr b="1" lang="en-US" sz="1300">
                <a:solidFill>
                  <a:srgbClr val="0D1B2A"/>
                </a:solidFill>
                <a:latin typeface="Calibri"/>
                <a:ea typeface="Calibri"/>
                <a:cs typeface="Calibri"/>
                <a:sym typeface="Calibri"/>
              </a:rPr>
              <a:t>By Sex (GBT Model)</a:t>
            </a:r>
            <a:endParaRPr sz="1300">
              <a:solidFill>
                <a:schemeClr val="dk1"/>
              </a:solidFill>
              <a:latin typeface="Calibri"/>
              <a:ea typeface="Calibri"/>
              <a:cs typeface="Calibri"/>
              <a:sym typeface="Calibri"/>
            </a:endParaRPr>
          </a:p>
        </p:txBody>
      </p:sp>
      <p:graphicFrame>
        <p:nvGraphicFramePr>
          <p:cNvPr id="340" name="Google Shape;340;p11"/>
          <p:cNvGraphicFramePr/>
          <p:nvPr/>
        </p:nvGraphicFramePr>
        <p:xfrm>
          <a:off x="411480" y="1719071"/>
          <a:ext cx="3977640" cy="1728215"/>
        </p:xfrm>
        <a:graphic>
          <a:graphicData uri="http://schemas.openxmlformats.org/drawingml/2006/chart">
            <c:chart r:id="rId3"/>
          </a:graphicData>
        </a:graphic>
      </p:graphicFrame>
      <p:sp>
        <p:nvSpPr>
          <p:cNvPr id="341" name="Google Shape;341;p11"/>
          <p:cNvSpPr/>
          <p:nvPr/>
        </p:nvSpPr>
        <p:spPr>
          <a:xfrm>
            <a:off x="594360" y="3634323"/>
            <a:ext cx="3657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i="1" lang="en-US" sz="1100">
                <a:solidFill>
                  <a:srgbClr val="4A6070"/>
                </a:solidFill>
                <a:latin typeface="Calibri"/>
                <a:ea typeface="Calibri"/>
                <a:cs typeface="Calibri"/>
                <a:sym typeface="Calibri"/>
              </a:rPr>
              <a:t>Female AIR = 0.938 (above 0.80 threshold). SMD = −7.03. Statistically significant but not practically flagged under current guidelines.</a:t>
            </a:r>
            <a:endParaRPr sz="1100">
              <a:solidFill>
                <a:schemeClr val="dk1"/>
              </a:solidFill>
              <a:latin typeface="Calibri"/>
              <a:ea typeface="Calibri"/>
              <a:cs typeface="Calibri"/>
              <a:sym typeface="Calibri"/>
            </a:endParaRPr>
          </a:p>
        </p:txBody>
      </p:sp>
      <p:sp>
        <p:nvSpPr>
          <p:cNvPr id="342" name="Google Shape;342;p11"/>
          <p:cNvSpPr/>
          <p:nvPr/>
        </p:nvSpPr>
        <p:spPr>
          <a:xfrm>
            <a:off x="4572000" y="1261872"/>
            <a:ext cx="4160520" cy="233172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3" name="Google Shape;343;p11"/>
          <p:cNvSpPr/>
          <p:nvPr/>
        </p:nvSpPr>
        <p:spPr>
          <a:xfrm>
            <a:off x="4754880" y="1371600"/>
            <a:ext cx="37947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300"/>
              <a:buFont typeface="Calibri"/>
              <a:buNone/>
            </a:pPr>
            <a:r>
              <a:rPr b="1" lang="en-US" sz="1300">
                <a:solidFill>
                  <a:srgbClr val="0D1B2A"/>
                </a:solidFill>
                <a:latin typeface="Calibri"/>
                <a:ea typeface="Calibri"/>
                <a:cs typeface="Calibri"/>
                <a:sym typeface="Calibri"/>
              </a:rPr>
              <a:t>By Age Group (GBT Model — ref: 45-54)</a:t>
            </a:r>
            <a:endParaRPr sz="1300">
              <a:solidFill>
                <a:schemeClr val="dk1"/>
              </a:solidFill>
              <a:latin typeface="Calibri"/>
              <a:ea typeface="Calibri"/>
              <a:cs typeface="Calibri"/>
              <a:sym typeface="Calibri"/>
            </a:endParaRPr>
          </a:p>
        </p:txBody>
      </p:sp>
      <p:graphicFrame>
        <p:nvGraphicFramePr>
          <p:cNvPr id="344" name="Google Shape;344;p11"/>
          <p:cNvGraphicFramePr/>
          <p:nvPr/>
        </p:nvGraphicFramePr>
        <p:xfrm>
          <a:off x="4572000" y="1719072"/>
          <a:ext cx="4160520" cy="1783080"/>
        </p:xfrm>
        <a:graphic>
          <a:graphicData uri="http://schemas.openxmlformats.org/drawingml/2006/chart">
            <c:chart r:id="rId4"/>
          </a:graphicData>
        </a:graphic>
      </p:graphicFrame>
      <p:sp>
        <p:nvSpPr>
          <p:cNvPr id="345" name="Google Shape;345;p11"/>
          <p:cNvSpPr/>
          <p:nvPr/>
        </p:nvSpPr>
        <p:spPr>
          <a:xfrm>
            <a:off x="4754880" y="3588603"/>
            <a:ext cx="379476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100"/>
              <a:buFont typeface="Calibri"/>
              <a:buNone/>
            </a:pPr>
            <a:r>
              <a:rPr i="1" lang="en-US" sz="1100">
                <a:solidFill>
                  <a:srgbClr val="4A6070"/>
                </a:solidFill>
                <a:latin typeface="Calibri"/>
                <a:ea typeface="Calibri"/>
                <a:cs typeface="Calibri"/>
                <a:sym typeface="Calibri"/>
              </a:rPr>
              <a:t>Applicants aged &gt;74 have AIR = 0.64 and SMD = −36.0 (practically significant). ECOA protects against age discrimination — this warrants investigation.</a:t>
            </a:r>
            <a:endParaRPr sz="1100">
              <a:solidFill>
                <a:schemeClr val="dk1"/>
              </a:solidFill>
              <a:latin typeface="Calibri"/>
              <a:ea typeface="Calibri"/>
              <a:cs typeface="Calibri"/>
              <a:sym typeface="Calibri"/>
            </a:endParaRPr>
          </a:p>
        </p:txBody>
      </p:sp>
      <p:sp>
        <p:nvSpPr>
          <p:cNvPr id="346" name="Google Shape;346;p11"/>
          <p:cNvSpPr/>
          <p:nvPr/>
        </p:nvSpPr>
        <p:spPr>
          <a:xfrm>
            <a:off x="411480" y="4206244"/>
            <a:ext cx="8321040" cy="656693"/>
          </a:xfrm>
          <a:prstGeom prst="rect">
            <a:avLst/>
          </a:prstGeom>
          <a:solidFill>
            <a:srgbClr val="EEF4FA"/>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p:txBody>
      </p:sp>
      <p:sp>
        <p:nvSpPr>
          <p:cNvPr id="347" name="Google Shape;347;p11"/>
          <p:cNvSpPr/>
          <p:nvPr/>
        </p:nvSpPr>
        <p:spPr>
          <a:xfrm>
            <a:off x="594360" y="4235610"/>
            <a:ext cx="7955280" cy="2156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b="1" lang="en-US" sz="1200">
                <a:solidFill>
                  <a:srgbClr val="0D1B2A"/>
                </a:solidFill>
                <a:latin typeface="Calibri"/>
                <a:ea typeface="Calibri"/>
                <a:cs typeface="Calibri"/>
                <a:sym typeface="Calibri"/>
              </a:rPr>
              <a:t>Intersectional Analysis (Race × Sex)</a:t>
            </a:r>
            <a:endParaRPr sz="1200">
              <a:solidFill>
                <a:schemeClr val="dk1"/>
              </a:solidFill>
              <a:latin typeface="Calibri"/>
              <a:ea typeface="Calibri"/>
              <a:cs typeface="Calibri"/>
              <a:sym typeface="Calibri"/>
            </a:endParaRPr>
          </a:p>
        </p:txBody>
      </p:sp>
      <p:sp>
        <p:nvSpPr>
          <p:cNvPr id="348" name="Google Shape;348;p11"/>
          <p:cNvSpPr/>
          <p:nvPr/>
        </p:nvSpPr>
        <p:spPr>
          <a:xfrm>
            <a:off x="594360" y="4472525"/>
            <a:ext cx="7955280" cy="356619"/>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1200"/>
              <a:buFont typeface="Calibri"/>
              <a:buNone/>
            </a:pPr>
            <a:r>
              <a:rPr lang="en-US" sz="1200">
                <a:solidFill>
                  <a:srgbClr val="4A6070"/>
                </a:solidFill>
                <a:latin typeface="Calibri"/>
                <a:ea typeface="Calibri"/>
                <a:cs typeface="Calibri"/>
                <a:sym typeface="Calibri"/>
              </a:rPr>
              <a:t>Intersectional audit confirmed disparities invisible in single-attribute analysis. Combined race and sex subgroups reveal concentrated harm for specific applicant profiles that aggregate metrics would mask.</a:t>
            </a:r>
            <a:endParaRPr sz="1200">
              <a:solidFill>
                <a:schemeClr val="dk1"/>
              </a:solidFill>
              <a:latin typeface="Calibri"/>
              <a:ea typeface="Calibri"/>
              <a:cs typeface="Calibri"/>
              <a:sym typeface="Calibri"/>
            </a:endParaRPr>
          </a:p>
        </p:txBody>
      </p:sp>
      <p:sp>
        <p:nvSpPr>
          <p:cNvPr id="349" name="Google Shape;349;p11"/>
          <p:cNvSpPr/>
          <p:nvPr/>
        </p:nvSpPr>
        <p:spPr>
          <a:xfrm>
            <a:off x="4601825" y="1721375"/>
            <a:ext cx="390300" cy="14229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54" name="Shape 354"/>
        <p:cNvGrpSpPr/>
        <p:nvPr/>
      </p:nvGrpSpPr>
      <p:grpSpPr>
        <a:xfrm>
          <a:off x="0" y="0"/>
          <a:ext cx="0" cy="0"/>
          <a:chOff x="0" y="0"/>
          <a:chExt cx="0" cy="0"/>
        </a:xfrm>
      </p:grpSpPr>
      <p:sp>
        <p:nvSpPr>
          <p:cNvPr id="355" name="Google Shape;355;g3df2678a462_6_0"/>
          <p:cNvSpPr/>
          <p:nvPr/>
        </p:nvSpPr>
        <p:spPr>
          <a:xfrm>
            <a:off x="411480" y="201168"/>
            <a:ext cx="21945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6" name="Google Shape;356;g3df2678a462_6_0"/>
          <p:cNvSpPr/>
          <p:nvPr/>
        </p:nvSpPr>
        <p:spPr>
          <a:xfrm>
            <a:off x="411480" y="201168"/>
            <a:ext cx="21945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Q3  GEOGRAPHIC DISPARITY</a:t>
            </a:r>
            <a:endParaRPr sz="900">
              <a:solidFill>
                <a:schemeClr val="dk1"/>
              </a:solidFill>
              <a:latin typeface="Calibri"/>
              <a:ea typeface="Calibri"/>
              <a:cs typeface="Calibri"/>
              <a:sym typeface="Calibri"/>
            </a:endParaRPr>
          </a:p>
        </p:txBody>
      </p:sp>
      <p:sp>
        <p:nvSpPr>
          <p:cNvPr id="357" name="Google Shape;357;g3df2678a462_6_0"/>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State-Level Approval Rate Disparities</a:t>
            </a:r>
            <a:endParaRPr sz="2600">
              <a:solidFill>
                <a:schemeClr val="dk1"/>
              </a:solidFill>
              <a:latin typeface="Calibri"/>
              <a:ea typeface="Calibri"/>
              <a:cs typeface="Calibri"/>
              <a:sym typeface="Calibri"/>
            </a:endParaRPr>
          </a:p>
        </p:txBody>
      </p:sp>
      <p:sp>
        <p:nvSpPr>
          <p:cNvPr id="358" name="Google Shape;358;g3df2678a462_6_0"/>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13 / 18</a:t>
            </a:r>
            <a:endParaRPr sz="900">
              <a:solidFill>
                <a:schemeClr val="dk1"/>
              </a:solidFill>
              <a:latin typeface="Calibri"/>
              <a:ea typeface="Calibri"/>
              <a:cs typeface="Calibri"/>
              <a:sym typeface="Calibri"/>
            </a:endParaRPr>
          </a:p>
        </p:txBody>
      </p:sp>
      <p:sp>
        <p:nvSpPr>
          <p:cNvPr id="359" name="Google Shape;359;g3df2678a462_6_0"/>
          <p:cNvSpPr/>
          <p:nvPr/>
        </p:nvSpPr>
        <p:spPr>
          <a:xfrm>
            <a:off x="411480" y="1261872"/>
            <a:ext cx="8321100" cy="384000"/>
          </a:xfrm>
          <a:prstGeom prst="rect">
            <a:avLst/>
          </a:prstGeom>
          <a:solidFill>
            <a:srgbClr val="EEF4FA"/>
          </a:solidFill>
          <a:ln cap="flat" cmpd="sng" w="12700">
            <a:solidFill>
              <a:srgbClr val="D8E4E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0" name="Google Shape;360;g3df2678a462_6_0"/>
          <p:cNvSpPr/>
          <p:nvPr/>
        </p:nvSpPr>
        <p:spPr>
          <a:xfrm>
            <a:off x="594360" y="1298448"/>
            <a:ext cx="79554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6070"/>
              </a:buClr>
              <a:buSzPts val="950"/>
              <a:buFont typeface="Calibri"/>
              <a:buNone/>
            </a:pPr>
            <a:r>
              <a:rPr i="1" lang="en-US" sz="950">
                <a:solidFill>
                  <a:srgbClr val="4A6070"/>
                </a:solidFill>
                <a:latin typeface="Calibri"/>
                <a:ea typeface="Calibri"/>
                <a:cs typeface="Calibri"/>
                <a:sym typeface="Calibri"/>
              </a:rPr>
              <a:t>Approval rates from RF model. Reference group: Texas (TX) at 60.0%. All values are Percent Favorable from solas-ai AIR by State output.</a:t>
            </a:r>
            <a:endParaRPr sz="950">
              <a:solidFill>
                <a:schemeClr val="dk1"/>
              </a:solidFill>
              <a:latin typeface="Calibri"/>
              <a:ea typeface="Calibri"/>
              <a:cs typeface="Calibri"/>
              <a:sym typeface="Calibri"/>
            </a:endParaRPr>
          </a:p>
        </p:txBody>
      </p:sp>
      <p:sp>
        <p:nvSpPr>
          <p:cNvPr id="361" name="Google Shape;361;g3df2678a462_6_0"/>
          <p:cNvSpPr/>
          <p:nvPr/>
        </p:nvSpPr>
        <p:spPr>
          <a:xfrm>
            <a:off x="411480" y="1755648"/>
            <a:ext cx="4160400" cy="315480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6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2" name="Google Shape;362;g3df2678a462_6_0"/>
          <p:cNvSpPr/>
          <p:nvPr/>
        </p:nvSpPr>
        <p:spPr>
          <a:xfrm>
            <a:off x="594360" y="1847088"/>
            <a:ext cx="37947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0392B"/>
              </a:buClr>
              <a:buSzPts val="1200"/>
              <a:buFont typeface="Calibri"/>
              <a:buNone/>
            </a:pPr>
            <a:r>
              <a:rPr b="1" lang="en-US" sz="1200">
                <a:solidFill>
                  <a:srgbClr val="C0392B"/>
                </a:solidFill>
                <a:latin typeface="Calibri"/>
                <a:ea typeface="Calibri"/>
                <a:cs typeface="Calibri"/>
                <a:sym typeface="Calibri"/>
              </a:rPr>
              <a:t>Lowest Approval Rate States</a:t>
            </a:r>
            <a:endParaRPr sz="1200">
              <a:solidFill>
                <a:schemeClr val="dk1"/>
              </a:solidFill>
              <a:latin typeface="Calibri"/>
              <a:ea typeface="Calibri"/>
              <a:cs typeface="Calibri"/>
              <a:sym typeface="Calibri"/>
            </a:endParaRPr>
          </a:p>
        </p:txBody>
      </p:sp>
      <p:pic>
        <p:nvPicPr>
          <p:cNvPr id="363" name="Google Shape;363;g3df2678a462_6_0"/>
          <p:cNvPicPr preferRelativeResize="0"/>
          <p:nvPr/>
        </p:nvPicPr>
        <p:blipFill rotWithShape="1">
          <a:blip r:embed="rId3">
            <a:alphaModFix/>
          </a:blip>
          <a:srcRect b="0" l="0" r="0" t="0"/>
          <a:stretch/>
        </p:blipFill>
        <p:spPr>
          <a:xfrm>
            <a:off x="411480" y="2194560"/>
            <a:ext cx="4160400" cy="2606100"/>
          </a:xfrm>
          <a:prstGeom prst="rect">
            <a:avLst/>
          </a:prstGeom>
          <a:noFill/>
          <a:ln>
            <a:noFill/>
          </a:ln>
        </p:spPr>
      </p:pic>
      <p:sp>
        <p:nvSpPr>
          <p:cNvPr id="364" name="Google Shape;364;g3df2678a462_6_0"/>
          <p:cNvSpPr/>
          <p:nvPr/>
        </p:nvSpPr>
        <p:spPr>
          <a:xfrm>
            <a:off x="4663440" y="1755648"/>
            <a:ext cx="4069200" cy="315480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6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g3df2678a462_6_0"/>
          <p:cNvSpPr/>
          <p:nvPr/>
        </p:nvSpPr>
        <p:spPr>
          <a:xfrm>
            <a:off x="4846320" y="1847088"/>
            <a:ext cx="370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7A4A"/>
              </a:buClr>
              <a:buSzPts val="1200"/>
              <a:buFont typeface="Calibri"/>
              <a:buNone/>
            </a:pPr>
            <a:r>
              <a:rPr b="1" lang="en-US" sz="1200">
                <a:solidFill>
                  <a:srgbClr val="1A7A4A"/>
                </a:solidFill>
                <a:latin typeface="Calibri"/>
                <a:ea typeface="Calibri"/>
                <a:cs typeface="Calibri"/>
                <a:sym typeface="Calibri"/>
              </a:rPr>
              <a:t>Highest Approval Rate States</a:t>
            </a:r>
            <a:endParaRPr sz="1200">
              <a:solidFill>
                <a:schemeClr val="dk1"/>
              </a:solidFill>
              <a:latin typeface="Calibri"/>
              <a:ea typeface="Calibri"/>
              <a:cs typeface="Calibri"/>
              <a:sym typeface="Calibri"/>
            </a:endParaRPr>
          </a:p>
        </p:txBody>
      </p:sp>
      <p:pic>
        <p:nvPicPr>
          <p:cNvPr id="366" name="Google Shape;366;g3df2678a462_6_0"/>
          <p:cNvPicPr preferRelativeResize="0"/>
          <p:nvPr/>
        </p:nvPicPr>
        <p:blipFill rotWithShape="1">
          <a:blip r:embed="rId4">
            <a:alphaModFix/>
          </a:blip>
          <a:srcRect b="0" l="0" r="0" t="0"/>
          <a:stretch/>
        </p:blipFill>
        <p:spPr>
          <a:xfrm>
            <a:off x="4663440" y="2194560"/>
            <a:ext cx="4069200" cy="2606100"/>
          </a:xfrm>
          <a:prstGeom prst="rect">
            <a:avLst/>
          </a:prstGeom>
          <a:noFill/>
          <a:ln>
            <a:noFill/>
          </a:ln>
        </p:spPr>
      </p:pic>
      <p:sp>
        <p:nvSpPr>
          <p:cNvPr id="367" name="Google Shape;367;g3df2678a462_6_0"/>
          <p:cNvSpPr/>
          <p:nvPr/>
        </p:nvSpPr>
        <p:spPr>
          <a:xfrm>
            <a:off x="411480" y="4885395"/>
            <a:ext cx="8321100" cy="2376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4A6070"/>
              </a:buClr>
              <a:buSzPts val="900"/>
              <a:buFont typeface="Calibri"/>
              <a:buNone/>
            </a:pPr>
            <a:r>
              <a:rPr i="1" lang="en-US" sz="900">
                <a:solidFill>
                  <a:srgbClr val="4A6070"/>
                </a:solidFill>
                <a:latin typeface="Calibri"/>
                <a:ea typeface="Calibri"/>
                <a:cs typeface="Calibri"/>
                <a:sym typeface="Calibri"/>
              </a:rPr>
              <a:t>35-point spread: MS (40.5%) to PR (75.8%). TX reference at 60.0%. Mississippi is the lowest-performing state. Geographic disparity warrants deeper fair-lending review.</a:t>
            </a:r>
            <a:endParaRPr sz="9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13"/>
          <p:cNvSpPr/>
          <p:nvPr/>
        </p:nvSpPr>
        <p:spPr>
          <a:xfrm>
            <a:off x="411480" y="201168"/>
            <a:ext cx="201168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13"/>
          <p:cNvSpPr/>
          <p:nvPr/>
        </p:nvSpPr>
        <p:spPr>
          <a:xfrm>
            <a:off x="411480" y="201168"/>
            <a:ext cx="201168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Q3  MODEL PERFORMANCE BY RACE</a:t>
            </a:r>
            <a:endParaRPr sz="900">
              <a:solidFill>
                <a:schemeClr val="dk1"/>
              </a:solidFill>
              <a:latin typeface="Calibri"/>
              <a:ea typeface="Calibri"/>
              <a:cs typeface="Calibri"/>
              <a:sym typeface="Calibri"/>
            </a:endParaRPr>
          </a:p>
        </p:txBody>
      </p:sp>
      <p:sp>
        <p:nvSpPr>
          <p:cNvPr id="375" name="Google Shape;375;p13"/>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All Three Models: FPR by Race</a:t>
            </a:r>
            <a:endParaRPr sz="2600">
              <a:solidFill>
                <a:schemeClr val="dk1"/>
              </a:solidFill>
              <a:latin typeface="Calibri"/>
              <a:ea typeface="Calibri"/>
              <a:cs typeface="Calibri"/>
              <a:sym typeface="Calibri"/>
            </a:endParaRPr>
          </a:p>
        </p:txBody>
      </p:sp>
      <p:sp>
        <p:nvSpPr>
          <p:cNvPr id="376" name="Google Shape;376;p13"/>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13 / 18</a:t>
            </a:r>
            <a:endParaRPr sz="900">
              <a:solidFill>
                <a:schemeClr val="dk1"/>
              </a:solidFill>
              <a:latin typeface="Calibri"/>
              <a:ea typeface="Calibri"/>
              <a:cs typeface="Calibri"/>
              <a:sym typeface="Calibri"/>
            </a:endParaRPr>
          </a:p>
        </p:txBody>
      </p:sp>
      <p:graphicFrame>
        <p:nvGraphicFramePr>
          <p:cNvPr id="377" name="Google Shape;377;p13"/>
          <p:cNvGraphicFramePr/>
          <p:nvPr/>
        </p:nvGraphicFramePr>
        <p:xfrm>
          <a:off x="411480" y="1298448"/>
          <a:ext cx="8321040" cy="3383280"/>
        </p:xfrm>
        <a:graphic>
          <a:graphicData uri="http://schemas.openxmlformats.org/drawingml/2006/chart">
            <c:chart r:id="rId3"/>
          </a:graphicData>
        </a:graphic>
      </p:graphicFrame>
      <p:sp>
        <p:nvSpPr>
          <p:cNvPr id="378" name="Google Shape;378;p13"/>
          <p:cNvSpPr/>
          <p:nvPr/>
        </p:nvSpPr>
        <p:spPr>
          <a:xfrm>
            <a:off x="411480" y="4709160"/>
            <a:ext cx="8321040" cy="347472"/>
          </a:xfrm>
          <a:prstGeom prst="rect">
            <a:avLst/>
          </a:prstGeom>
          <a:solidFill>
            <a:srgbClr val="E8F5EC"/>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9" name="Google Shape;379;p13"/>
          <p:cNvSpPr/>
          <p:nvPr/>
        </p:nvSpPr>
        <p:spPr>
          <a:xfrm>
            <a:off x="594360" y="4745736"/>
            <a:ext cx="795528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950"/>
              <a:buFont typeface="Calibri"/>
              <a:buNone/>
            </a:pPr>
            <a:r>
              <a:rPr lang="en-US" sz="950">
                <a:solidFill>
                  <a:srgbClr val="1A2836"/>
                </a:solidFill>
                <a:latin typeface="Calibri"/>
                <a:ea typeface="Calibri"/>
                <a:cs typeface="Calibri"/>
                <a:sym typeface="Calibri"/>
              </a:rPr>
              <a:t>GBT has the lowest FPR for Black/AA applicants (0.206) across all three models. RF has the lowest for Am. Indian (0.208). LR is highest across most groups.</a:t>
            </a:r>
            <a:endParaRPr sz="95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14"/>
          <p:cNvSpPr/>
          <p:nvPr/>
        </p:nvSpPr>
        <p:spPr>
          <a:xfrm>
            <a:off x="411480" y="201168"/>
            <a:ext cx="201168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6" name="Google Shape;386;p14"/>
          <p:cNvSpPr/>
          <p:nvPr/>
        </p:nvSpPr>
        <p:spPr>
          <a:xfrm>
            <a:off x="411480" y="201168"/>
            <a:ext cx="201168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Q4  ROBUSTNESS &amp; DRIFT</a:t>
            </a:r>
            <a:endParaRPr sz="900">
              <a:solidFill>
                <a:schemeClr val="dk1"/>
              </a:solidFill>
              <a:latin typeface="Calibri"/>
              <a:ea typeface="Calibri"/>
              <a:cs typeface="Calibri"/>
              <a:sym typeface="Calibri"/>
            </a:endParaRPr>
          </a:p>
        </p:txBody>
      </p:sp>
      <p:sp>
        <p:nvSpPr>
          <p:cNvPr id="387" name="Google Shape;387;p14"/>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Model Stability Under Stress and Drift</a:t>
            </a:r>
            <a:endParaRPr sz="2600">
              <a:solidFill>
                <a:schemeClr val="dk1"/>
              </a:solidFill>
              <a:latin typeface="Calibri"/>
              <a:ea typeface="Calibri"/>
              <a:cs typeface="Calibri"/>
              <a:sym typeface="Calibri"/>
            </a:endParaRPr>
          </a:p>
        </p:txBody>
      </p:sp>
      <p:sp>
        <p:nvSpPr>
          <p:cNvPr id="388" name="Google Shape;388;p14"/>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14 / 18</a:t>
            </a:r>
            <a:endParaRPr sz="900">
              <a:solidFill>
                <a:schemeClr val="dk1"/>
              </a:solidFill>
              <a:latin typeface="Calibri"/>
              <a:ea typeface="Calibri"/>
              <a:cs typeface="Calibri"/>
              <a:sym typeface="Calibri"/>
            </a:endParaRPr>
          </a:p>
        </p:txBody>
      </p:sp>
      <p:sp>
        <p:nvSpPr>
          <p:cNvPr id="389" name="Google Shape;389;p14"/>
          <p:cNvSpPr/>
          <p:nvPr/>
        </p:nvSpPr>
        <p:spPr>
          <a:xfrm>
            <a:off x="411480" y="1261872"/>
            <a:ext cx="1920240" cy="914400"/>
          </a:xfrm>
          <a:prstGeom prst="rect">
            <a:avLst/>
          </a:prstGeom>
          <a:solidFill>
            <a:srgbClr val="1A7A4A"/>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4"/>
          <p:cNvSpPr/>
          <p:nvPr/>
        </p:nvSpPr>
        <p:spPr>
          <a:xfrm>
            <a:off x="411480" y="1353312"/>
            <a:ext cx="1920240" cy="50292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000"/>
              <a:buFont typeface="Calibri"/>
              <a:buNone/>
            </a:pPr>
            <a:r>
              <a:rPr b="1" lang="en-US" sz="3000">
                <a:solidFill>
                  <a:srgbClr val="FFFFFF"/>
                </a:solidFill>
                <a:latin typeface="Calibri"/>
                <a:ea typeface="Calibri"/>
                <a:cs typeface="Calibri"/>
                <a:sym typeface="Calibri"/>
              </a:rPr>
              <a:t>0.0006</a:t>
            </a:r>
            <a:endParaRPr sz="3000">
              <a:solidFill>
                <a:schemeClr val="dk1"/>
              </a:solidFill>
              <a:latin typeface="Calibri"/>
              <a:ea typeface="Calibri"/>
              <a:cs typeface="Calibri"/>
              <a:sym typeface="Calibri"/>
            </a:endParaRPr>
          </a:p>
        </p:txBody>
      </p:sp>
      <p:sp>
        <p:nvSpPr>
          <p:cNvPr id="391" name="Google Shape;391;p14"/>
          <p:cNvSpPr/>
          <p:nvPr/>
        </p:nvSpPr>
        <p:spPr>
          <a:xfrm>
            <a:off x="411480" y="1792224"/>
            <a:ext cx="1920240" cy="347472"/>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GBT Gen Gap</a:t>
            </a:r>
            <a:endParaRPr sz="10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(Train-Test AUC)</a:t>
            </a:r>
            <a:endParaRPr sz="1000">
              <a:solidFill>
                <a:schemeClr val="dk1"/>
              </a:solidFill>
              <a:latin typeface="Calibri"/>
              <a:ea typeface="Calibri"/>
              <a:cs typeface="Calibri"/>
              <a:sym typeface="Calibri"/>
            </a:endParaRPr>
          </a:p>
        </p:txBody>
      </p:sp>
      <p:sp>
        <p:nvSpPr>
          <p:cNvPr id="392" name="Google Shape;392;p14"/>
          <p:cNvSpPr/>
          <p:nvPr/>
        </p:nvSpPr>
        <p:spPr>
          <a:xfrm>
            <a:off x="2423160" y="1261872"/>
            <a:ext cx="1920240" cy="914400"/>
          </a:xfrm>
          <a:prstGeom prst="rect">
            <a:avLst/>
          </a:prstGeom>
          <a:solidFill>
            <a:srgbClr val="1B6CA8"/>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4"/>
          <p:cNvSpPr/>
          <p:nvPr/>
        </p:nvSpPr>
        <p:spPr>
          <a:xfrm>
            <a:off x="2423160" y="1353312"/>
            <a:ext cx="1920240" cy="50292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000"/>
              <a:buFont typeface="Calibri"/>
              <a:buNone/>
            </a:pPr>
            <a:r>
              <a:rPr b="1" lang="en-US" sz="3000">
                <a:solidFill>
                  <a:srgbClr val="FFFFFF"/>
                </a:solidFill>
                <a:latin typeface="Calibri"/>
                <a:ea typeface="Calibri"/>
                <a:cs typeface="Calibri"/>
                <a:sym typeface="Calibri"/>
              </a:rPr>
              <a:t>-0.0003</a:t>
            </a:r>
            <a:endParaRPr sz="3000">
              <a:solidFill>
                <a:schemeClr val="dk1"/>
              </a:solidFill>
              <a:latin typeface="Calibri"/>
              <a:ea typeface="Calibri"/>
              <a:cs typeface="Calibri"/>
              <a:sym typeface="Calibri"/>
            </a:endParaRPr>
          </a:p>
        </p:txBody>
      </p:sp>
      <p:sp>
        <p:nvSpPr>
          <p:cNvPr id="394" name="Google Shape;394;p14"/>
          <p:cNvSpPr/>
          <p:nvPr/>
        </p:nvSpPr>
        <p:spPr>
          <a:xfrm>
            <a:off x="2423160" y="1792224"/>
            <a:ext cx="1920240" cy="347472"/>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LR Gen Gap</a:t>
            </a:r>
            <a:endParaRPr sz="1000">
              <a:solidFill>
                <a:schemeClr val="dk1"/>
              </a:solidFill>
              <a:latin typeface="Calibri"/>
              <a:ea typeface="Calibri"/>
              <a:cs typeface="Calibri"/>
              <a:sym typeface="Calibri"/>
            </a:endParaRPr>
          </a:p>
        </p:txBody>
      </p:sp>
      <p:sp>
        <p:nvSpPr>
          <p:cNvPr id="395" name="Google Shape;395;p14"/>
          <p:cNvSpPr/>
          <p:nvPr/>
        </p:nvSpPr>
        <p:spPr>
          <a:xfrm>
            <a:off x="4434840" y="1261872"/>
            <a:ext cx="1920240" cy="914400"/>
          </a:xfrm>
          <a:prstGeom prst="rect">
            <a:avLst/>
          </a:prstGeom>
          <a:solidFill>
            <a:srgbClr val="4A6070"/>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14"/>
          <p:cNvSpPr/>
          <p:nvPr/>
        </p:nvSpPr>
        <p:spPr>
          <a:xfrm>
            <a:off x="4434840" y="1353312"/>
            <a:ext cx="1920240" cy="50292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000"/>
              <a:buFont typeface="Calibri"/>
              <a:buNone/>
            </a:pPr>
            <a:r>
              <a:rPr b="1" lang="en-US" sz="3000">
                <a:solidFill>
                  <a:srgbClr val="FFFFFF"/>
                </a:solidFill>
                <a:latin typeface="Calibri"/>
                <a:ea typeface="Calibri"/>
                <a:cs typeface="Calibri"/>
                <a:sym typeface="Calibri"/>
              </a:rPr>
              <a:t>0.0008</a:t>
            </a:r>
            <a:endParaRPr sz="3000">
              <a:solidFill>
                <a:schemeClr val="dk1"/>
              </a:solidFill>
              <a:latin typeface="Calibri"/>
              <a:ea typeface="Calibri"/>
              <a:cs typeface="Calibri"/>
              <a:sym typeface="Calibri"/>
            </a:endParaRPr>
          </a:p>
        </p:txBody>
      </p:sp>
      <p:sp>
        <p:nvSpPr>
          <p:cNvPr id="397" name="Google Shape;397;p14"/>
          <p:cNvSpPr/>
          <p:nvPr/>
        </p:nvSpPr>
        <p:spPr>
          <a:xfrm>
            <a:off x="4434840" y="1792224"/>
            <a:ext cx="1920240" cy="347472"/>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RF Gen Gap</a:t>
            </a:r>
            <a:endParaRPr sz="10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(pending)</a:t>
            </a:r>
            <a:endParaRPr sz="1000">
              <a:solidFill>
                <a:schemeClr val="dk1"/>
              </a:solidFill>
              <a:latin typeface="Calibri"/>
              <a:ea typeface="Calibri"/>
              <a:cs typeface="Calibri"/>
              <a:sym typeface="Calibri"/>
            </a:endParaRPr>
          </a:p>
        </p:txBody>
      </p:sp>
      <p:sp>
        <p:nvSpPr>
          <p:cNvPr id="398" name="Google Shape;398;p14"/>
          <p:cNvSpPr/>
          <p:nvPr/>
        </p:nvSpPr>
        <p:spPr>
          <a:xfrm>
            <a:off x="6446520" y="1261872"/>
            <a:ext cx="1920240" cy="914400"/>
          </a:xfrm>
          <a:prstGeom prst="rect">
            <a:avLst/>
          </a:prstGeom>
          <a:solidFill>
            <a:srgbClr val="1A7A4A"/>
          </a:solidFill>
          <a:ln>
            <a:noFill/>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4"/>
          <p:cNvSpPr/>
          <p:nvPr/>
        </p:nvSpPr>
        <p:spPr>
          <a:xfrm>
            <a:off x="6446520" y="1353312"/>
            <a:ext cx="1920240" cy="50292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3000"/>
              <a:buFont typeface="Calibri"/>
              <a:buNone/>
            </a:pPr>
            <a:r>
              <a:rPr b="1" lang="en-US" sz="3000">
                <a:solidFill>
                  <a:srgbClr val="FFFFFF"/>
                </a:solidFill>
                <a:latin typeface="Calibri"/>
                <a:ea typeface="Calibri"/>
                <a:cs typeface="Calibri"/>
                <a:sym typeface="Calibri"/>
              </a:rPr>
              <a:t>Stable</a:t>
            </a:r>
            <a:endParaRPr sz="3000">
              <a:solidFill>
                <a:schemeClr val="dk1"/>
              </a:solidFill>
              <a:latin typeface="Calibri"/>
              <a:ea typeface="Calibri"/>
              <a:cs typeface="Calibri"/>
              <a:sym typeface="Calibri"/>
            </a:endParaRPr>
          </a:p>
        </p:txBody>
      </p:sp>
      <p:sp>
        <p:nvSpPr>
          <p:cNvPr id="400" name="Google Shape;400;p14"/>
          <p:cNvSpPr/>
          <p:nvPr/>
        </p:nvSpPr>
        <p:spPr>
          <a:xfrm>
            <a:off x="6446520" y="1792224"/>
            <a:ext cx="1920240" cy="347472"/>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lang="en-US" sz="1000">
                <a:solidFill>
                  <a:srgbClr val="FFFFFF"/>
                </a:solidFill>
                <a:latin typeface="Calibri"/>
                <a:ea typeface="Calibri"/>
                <a:cs typeface="Calibri"/>
                <a:sym typeface="Calibri"/>
              </a:rPr>
              <a:t>PSI — Key Features</a:t>
            </a:r>
            <a:endParaRPr sz="1000">
              <a:solidFill>
                <a:schemeClr val="dk1"/>
              </a:solidFill>
              <a:latin typeface="Calibri"/>
              <a:ea typeface="Calibri"/>
              <a:cs typeface="Calibri"/>
              <a:sym typeface="Calibri"/>
            </a:endParaRPr>
          </a:p>
        </p:txBody>
      </p:sp>
      <p:sp>
        <p:nvSpPr>
          <p:cNvPr id="401" name="Google Shape;401;p14"/>
          <p:cNvSpPr/>
          <p:nvPr/>
        </p:nvSpPr>
        <p:spPr>
          <a:xfrm>
            <a:off x="5577840" y="2331720"/>
            <a:ext cx="3154680" cy="2560320"/>
          </a:xfrm>
          <a:prstGeom prst="rect">
            <a:avLst/>
          </a:prstGeom>
          <a:solidFill>
            <a:srgbClr val="FFFFFF"/>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2" name="Google Shape;402;p14"/>
          <p:cNvSpPr/>
          <p:nvPr/>
        </p:nvSpPr>
        <p:spPr>
          <a:xfrm>
            <a:off x="5760720" y="2423160"/>
            <a:ext cx="278892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1200"/>
              <a:buFont typeface="Calibri"/>
              <a:buNone/>
            </a:pPr>
            <a:r>
              <a:rPr b="1" lang="en-US" sz="1200">
                <a:solidFill>
                  <a:srgbClr val="0D1B2A"/>
                </a:solidFill>
                <a:latin typeface="Calibri"/>
                <a:ea typeface="Calibri"/>
                <a:cs typeface="Calibri"/>
                <a:sym typeface="Calibri"/>
              </a:rPr>
              <a:t>Drift Assessment</a:t>
            </a:r>
            <a:endParaRPr sz="1200">
              <a:solidFill>
                <a:schemeClr val="dk1"/>
              </a:solidFill>
              <a:latin typeface="Calibri"/>
              <a:ea typeface="Calibri"/>
              <a:cs typeface="Calibri"/>
              <a:sym typeface="Calibri"/>
            </a:endParaRPr>
          </a:p>
        </p:txBody>
      </p:sp>
      <p:sp>
        <p:nvSpPr>
          <p:cNvPr id="403" name="Google Shape;403;p14"/>
          <p:cNvSpPr/>
          <p:nvPr/>
        </p:nvSpPr>
        <p:spPr>
          <a:xfrm>
            <a:off x="5760720" y="2834640"/>
            <a:ext cx="2788920" cy="3657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950"/>
              <a:buFont typeface="Calibri"/>
              <a:buChar char="•"/>
            </a:pPr>
            <a:r>
              <a:rPr lang="en-US" sz="950">
                <a:solidFill>
                  <a:srgbClr val="4A6070"/>
                </a:solidFill>
                <a:latin typeface="Calibri"/>
                <a:ea typeface="Calibri"/>
                <a:cs typeface="Calibri"/>
                <a:sym typeface="Calibri"/>
              </a:rPr>
              <a:t>GBT and LR gen gaps near zero — no overfitting detected</a:t>
            </a:r>
            <a:endParaRPr sz="950">
              <a:solidFill>
                <a:schemeClr val="dk1"/>
              </a:solidFill>
              <a:latin typeface="Calibri"/>
              <a:ea typeface="Calibri"/>
              <a:cs typeface="Calibri"/>
              <a:sym typeface="Calibri"/>
            </a:endParaRPr>
          </a:p>
        </p:txBody>
      </p:sp>
      <p:sp>
        <p:nvSpPr>
          <p:cNvPr id="404" name="Google Shape;404;p14"/>
          <p:cNvSpPr/>
          <p:nvPr/>
        </p:nvSpPr>
        <p:spPr>
          <a:xfrm>
            <a:off x="5760720" y="3236976"/>
            <a:ext cx="2788920" cy="3657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950"/>
              <a:buFont typeface="Calibri"/>
              <a:buChar char="•"/>
            </a:pPr>
            <a:r>
              <a:rPr lang="en-US" sz="950">
                <a:solidFill>
                  <a:srgbClr val="4A6070"/>
                </a:solidFill>
                <a:latin typeface="Calibri"/>
                <a:ea typeface="Calibri"/>
                <a:cs typeface="Calibri"/>
                <a:sym typeface="Calibri"/>
              </a:rPr>
              <a:t>All input features show PSI = 0.0 (Stable) — no covariate shift</a:t>
            </a:r>
            <a:endParaRPr sz="950">
              <a:solidFill>
                <a:schemeClr val="dk1"/>
              </a:solidFill>
              <a:latin typeface="Calibri"/>
              <a:ea typeface="Calibri"/>
              <a:cs typeface="Calibri"/>
              <a:sym typeface="Calibri"/>
            </a:endParaRPr>
          </a:p>
        </p:txBody>
      </p:sp>
      <p:sp>
        <p:nvSpPr>
          <p:cNvPr id="405" name="Google Shape;405;p14"/>
          <p:cNvSpPr/>
          <p:nvPr/>
        </p:nvSpPr>
        <p:spPr>
          <a:xfrm>
            <a:off x="5760720" y="3639312"/>
            <a:ext cx="2788920" cy="3657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950"/>
              <a:buFont typeface="Calibri"/>
              <a:buChar char="•"/>
            </a:pPr>
            <a:r>
              <a:rPr lang="en-US" sz="950">
                <a:solidFill>
                  <a:srgbClr val="4A6070"/>
                </a:solidFill>
                <a:latin typeface="Calibri"/>
                <a:ea typeface="Calibri"/>
                <a:cs typeface="Calibri"/>
                <a:sym typeface="Calibri"/>
              </a:rPr>
              <a:t>DTI most sensitive: avg prediction range 0.73 vs income 0.03</a:t>
            </a:r>
            <a:endParaRPr sz="950">
              <a:solidFill>
                <a:schemeClr val="dk1"/>
              </a:solidFill>
              <a:latin typeface="Calibri"/>
              <a:ea typeface="Calibri"/>
              <a:cs typeface="Calibri"/>
              <a:sym typeface="Calibri"/>
            </a:endParaRPr>
          </a:p>
        </p:txBody>
      </p:sp>
      <p:sp>
        <p:nvSpPr>
          <p:cNvPr id="406" name="Google Shape;406;p14"/>
          <p:cNvSpPr/>
          <p:nvPr/>
        </p:nvSpPr>
        <p:spPr>
          <a:xfrm>
            <a:off x="5760720" y="4041648"/>
            <a:ext cx="2788920" cy="3657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950"/>
              <a:buFont typeface="Calibri"/>
              <a:buChar char="•"/>
            </a:pPr>
            <a:r>
              <a:rPr lang="en-US" sz="950">
                <a:solidFill>
                  <a:srgbClr val="4A6070"/>
                </a:solidFill>
                <a:latin typeface="Calibri"/>
                <a:ea typeface="Calibri"/>
                <a:cs typeface="Calibri"/>
                <a:sym typeface="Calibri"/>
              </a:rPr>
              <a:t>Interest rate environment is primary post-2024 concept drift risk</a:t>
            </a:r>
            <a:endParaRPr sz="950">
              <a:solidFill>
                <a:schemeClr val="dk1"/>
              </a:solidFill>
              <a:latin typeface="Calibri"/>
              <a:ea typeface="Calibri"/>
              <a:cs typeface="Calibri"/>
              <a:sym typeface="Calibri"/>
            </a:endParaRPr>
          </a:p>
        </p:txBody>
      </p:sp>
      <p:sp>
        <p:nvSpPr>
          <p:cNvPr id="407" name="Google Shape;407;p14"/>
          <p:cNvSpPr/>
          <p:nvPr/>
        </p:nvSpPr>
        <p:spPr>
          <a:xfrm>
            <a:off x="5760720" y="4443984"/>
            <a:ext cx="2788920" cy="3657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4A6070"/>
              </a:buClr>
              <a:buSzPts val="950"/>
              <a:buFont typeface="Calibri"/>
              <a:buChar char="•"/>
            </a:pPr>
            <a:r>
              <a:rPr lang="en-US" sz="950">
                <a:solidFill>
                  <a:srgbClr val="4A6070"/>
                </a:solidFill>
                <a:latin typeface="Calibri"/>
                <a:ea typeface="Calibri"/>
                <a:cs typeface="Calibri"/>
                <a:sym typeface="Calibri"/>
              </a:rPr>
              <a:t>GBT Brier = 0.122, LR Brier = 0.145 — GBT better calibrated</a:t>
            </a:r>
            <a:endParaRPr sz="950">
              <a:solidFill>
                <a:schemeClr val="dk1"/>
              </a:solidFill>
              <a:latin typeface="Calibri"/>
              <a:ea typeface="Calibri"/>
              <a:cs typeface="Calibri"/>
              <a:sym typeface="Calibri"/>
            </a:endParaRPr>
          </a:p>
        </p:txBody>
      </p:sp>
      <p:pic>
        <p:nvPicPr>
          <p:cNvPr id="408" name="Google Shape;408;p14"/>
          <p:cNvPicPr preferRelativeResize="0"/>
          <p:nvPr/>
        </p:nvPicPr>
        <p:blipFill>
          <a:blip r:embed="rId3">
            <a:alphaModFix/>
          </a:blip>
          <a:stretch>
            <a:fillRect/>
          </a:stretch>
        </p:blipFill>
        <p:spPr>
          <a:xfrm>
            <a:off x="411470" y="2331725"/>
            <a:ext cx="4882479" cy="25603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413" name="Shape 413"/>
        <p:cNvGrpSpPr/>
        <p:nvPr/>
      </p:nvGrpSpPr>
      <p:grpSpPr>
        <a:xfrm>
          <a:off x="0" y="0"/>
          <a:ext cx="0" cy="0"/>
          <a:chOff x="0" y="0"/>
          <a:chExt cx="0" cy="0"/>
        </a:xfrm>
      </p:grpSpPr>
      <p:graphicFrame>
        <p:nvGraphicFramePr>
          <p:cNvPr id="414" name="Google Shape;414;p15"/>
          <p:cNvGraphicFramePr/>
          <p:nvPr/>
        </p:nvGraphicFramePr>
        <p:xfrm>
          <a:off x="411480" y="1126998"/>
          <a:ext cx="3000000" cy="3000000"/>
        </p:xfrm>
        <a:graphic>
          <a:graphicData uri="http://schemas.openxmlformats.org/drawingml/2006/table">
            <a:tbl>
              <a:tblPr>
                <a:noFill/>
                <a:tableStyleId>{DE8012B9-8EC4-40CB-9E28-2F91E47B8B41}</a:tableStyleId>
              </a:tblPr>
              <a:tblGrid>
                <a:gridCol w="2194550"/>
                <a:gridCol w="2194550"/>
                <a:gridCol w="2011675"/>
                <a:gridCol w="1920250"/>
              </a:tblGrid>
              <a:tr h="612650">
                <a:tc>
                  <a:txBody>
                    <a:bodyPr/>
                    <a:lstStyle/>
                    <a:p>
                      <a:pPr indent="0" lvl="0" marL="0" marR="0" rtl="0" algn="l">
                        <a:spcBef>
                          <a:spcPts val="0"/>
                        </a:spcBef>
                        <a:spcAft>
                          <a:spcPts val="0"/>
                        </a:spcAft>
                        <a:buClr>
                          <a:srgbClr val="FFFFFF"/>
                        </a:buClr>
                        <a:buSzPts val="1800"/>
                        <a:buFont typeface="Calibri"/>
                        <a:buNone/>
                      </a:pPr>
                      <a:r>
                        <a:rPr b="1" lang="en-US" sz="1800" u="none" cap="none" strike="noStrike">
                          <a:solidFill>
                            <a:srgbClr val="FFFFFF"/>
                          </a:solidFill>
                        </a:rPr>
                        <a:t>Risk</a:t>
                      </a:r>
                      <a:endParaRPr sz="18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800"/>
                        <a:buFont typeface="Calibri"/>
                        <a:buNone/>
                      </a:pPr>
                      <a:r>
                        <a:rPr b="1" lang="en-US" sz="1800" u="none" cap="none" strike="noStrike">
                          <a:solidFill>
                            <a:srgbClr val="FFFFFF"/>
                          </a:solidFill>
                        </a:rPr>
                        <a:t>Mitigation Attempted</a:t>
                      </a:r>
                      <a:endParaRPr sz="18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800"/>
                        <a:buFont typeface="Calibri"/>
                        <a:buNone/>
                      </a:pPr>
                      <a:r>
                        <a:rPr b="1" lang="en-US" sz="1800" u="none" cap="none" strike="noStrike">
                          <a:solidFill>
                            <a:srgbClr val="FFFFFF"/>
                          </a:solidFill>
                        </a:rPr>
                        <a:t>Outcome</a:t>
                      </a:r>
                      <a:endParaRPr sz="18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800"/>
                        <a:buFont typeface="Calibri"/>
                        <a:buNone/>
                      </a:pPr>
                      <a:r>
                        <a:rPr b="1" lang="en-US" sz="1800" u="none" cap="none" strike="noStrike">
                          <a:solidFill>
                            <a:srgbClr val="FFFFFF"/>
                          </a:solidFill>
                        </a:rPr>
                        <a:t>Accepted Residual</a:t>
                      </a:r>
                      <a:endParaRPr sz="18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solidFill>
                      <a:srgbClr val="0D1B2A"/>
                    </a:solidFill>
                  </a:tcPr>
                </a:tc>
              </a:tr>
              <a:tr h="612650">
                <a:tc>
                  <a:txBody>
                    <a:bodyPr/>
                    <a:lstStyle/>
                    <a:p>
                      <a:pPr indent="0" lvl="0" marL="0" rtl="0" algn="l">
                        <a:lnSpc>
                          <a:spcPct val="115000"/>
                        </a:lnSpc>
                        <a:spcBef>
                          <a:spcPts val="0"/>
                        </a:spcBef>
                        <a:spcAft>
                          <a:spcPts val="0"/>
                        </a:spcAft>
                        <a:buNone/>
                      </a:pPr>
                      <a:r>
                        <a:rPr lang="en-US" sz="1000"/>
                        <a:t>Racial FPR disparity (GBT Black FPR = 0.206 vs White 0.184)</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Model selection (GBT outperforms LR/RF on Black FPR); threshold tuning</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GBT lowest Black FPR of three models. Gap reduced but not eliminated</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Small residual gap accepted. Monitor post-deployment monthly</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r>
              <a:tr h="612650">
                <a:tc>
                  <a:txBody>
                    <a:bodyPr/>
                    <a:lstStyle/>
                    <a:p>
                      <a:pPr indent="0" lvl="0" marL="0" rtl="0" algn="l">
                        <a:lnSpc>
                          <a:spcPct val="115000"/>
                        </a:lnSpc>
                        <a:spcBef>
                          <a:spcPts val="0"/>
                        </a:spcBef>
                        <a:spcAft>
                          <a:spcPts val="0"/>
                        </a:spcAft>
                        <a:buNone/>
                      </a:pPr>
                      <a:r>
                        <a:rPr lang="en-US" sz="1000"/>
                        <a:t>Age disparity &gt;74 (AIR below 0.80 threshold)</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Flagged in audit. No model change — ECOA compliance under review</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Practically significant. Intersectional worst group AIR = 0.490</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Cannot accept — requires legal review before deployment</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r>
              <a:tr h="612650">
                <a:tc>
                  <a:txBody>
                    <a:bodyPr/>
                    <a:lstStyle/>
                    <a:p>
                      <a:pPr indent="0" lvl="0" marL="0" rtl="0" algn="l">
                        <a:lnSpc>
                          <a:spcPct val="115000"/>
                        </a:lnSpc>
                        <a:spcBef>
                          <a:spcPts val="0"/>
                        </a:spcBef>
                        <a:spcAft>
                          <a:spcPts val="0"/>
                        </a:spcAft>
                        <a:buNone/>
                      </a:pPr>
                      <a:r>
                        <a:rPr lang="en-US" sz="1000"/>
                        <a:t>Concept drift post-2024</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PSI and KS monitoring plan; retraining triggers defined</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No current drift detected. All PSI = 0.0 (Stable). Forward-looking risk</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Accepted with quarterly recalibration schedule</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r>
              <a:tr h="612650">
                <a:tc>
                  <a:txBody>
                    <a:bodyPr/>
                    <a:lstStyle/>
                    <a:p>
                      <a:pPr indent="0" lvl="0" marL="0" rtl="0" algn="l">
                        <a:lnSpc>
                          <a:spcPct val="115000"/>
                        </a:lnSpc>
                        <a:spcBef>
                          <a:spcPts val="0"/>
                        </a:spcBef>
                        <a:spcAft>
                          <a:spcPts val="0"/>
                        </a:spcAft>
                        <a:buNone/>
                      </a:pPr>
                      <a:r>
                        <a:rPr lang="en-US" sz="1000"/>
                        <a:t>Label-flip poisoning vulnerability</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Subgroup FPR monitoring added; data provenance controls recommended</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Attack confirmed invisible to AUC (delta = 0.0004 at 5% poison rate)</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Residual insider threat — data access controls required</a:t>
                      </a:r>
                      <a:endParaRPr sz="1000"/>
                    </a:p>
                  </a:txBody>
                  <a:tcPr marT="91425" marB="91425" marR="91425" marL="91425">
                    <a:lnL cap="flat" cmpd="sng" w="4775">
                      <a:solidFill>
                        <a:srgbClr val="D8E4EE"/>
                      </a:solidFill>
                      <a:prstDash val="solid"/>
                      <a:round/>
                      <a:headEnd len="sm" w="sm" type="none"/>
                      <a:tailEnd len="sm" w="sm" type="none"/>
                    </a:lnL>
                    <a:lnR cap="flat" cmpd="sng" w="4775">
                      <a:solidFill>
                        <a:srgbClr val="D8E4EE"/>
                      </a:solidFill>
                      <a:prstDash val="solid"/>
                      <a:round/>
                      <a:headEnd len="sm" w="sm" type="none"/>
                      <a:tailEnd len="sm" w="sm" type="none"/>
                    </a:lnR>
                    <a:lnT cap="flat" cmpd="sng" w="4775">
                      <a:solidFill>
                        <a:srgbClr val="D8E4EE"/>
                      </a:solidFill>
                      <a:prstDash val="solid"/>
                      <a:round/>
                      <a:headEnd len="sm" w="sm" type="none"/>
                      <a:tailEnd len="sm" w="sm" type="none"/>
                    </a:lnT>
                    <a:lnB cap="flat" cmpd="sng" w="4775">
                      <a:solidFill>
                        <a:srgbClr val="D8E4EE"/>
                      </a:solidFill>
                      <a:prstDash val="solid"/>
                      <a:round/>
                      <a:headEnd len="sm" w="sm" type="none"/>
                      <a:tailEnd len="sm" w="sm" type="none"/>
                    </a:lnB>
                  </a:tcPr>
                </a:tc>
              </a:tr>
            </a:tbl>
          </a:graphicData>
        </a:graphic>
      </p:graphicFrame>
      <p:sp>
        <p:nvSpPr>
          <p:cNvPr id="415" name="Google Shape;415;p15"/>
          <p:cNvSpPr/>
          <p:nvPr/>
        </p:nvSpPr>
        <p:spPr>
          <a:xfrm>
            <a:off x="411480" y="201168"/>
            <a:ext cx="1828800" cy="292608"/>
          </a:xfrm>
          <a:prstGeom prst="roundRect">
            <a:avLst>
              <a:gd fmla="val 15625" name="adj"/>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5"/>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Q4  RESIDUAL RISKS</a:t>
            </a:r>
            <a:endParaRPr sz="950">
              <a:solidFill>
                <a:schemeClr val="dk1"/>
              </a:solidFill>
              <a:latin typeface="Calibri"/>
              <a:ea typeface="Calibri"/>
              <a:cs typeface="Calibri"/>
              <a:sym typeface="Calibri"/>
            </a:endParaRPr>
          </a:p>
        </p:txBody>
      </p:sp>
      <p:sp>
        <p:nvSpPr>
          <p:cNvPr id="417" name="Google Shape;417;p15"/>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What Remains After Mitigation?</a:t>
            </a:r>
            <a:endParaRPr sz="2600">
              <a:solidFill>
                <a:schemeClr val="dk1"/>
              </a:solidFill>
              <a:latin typeface="Calibri"/>
              <a:ea typeface="Calibri"/>
              <a:cs typeface="Calibri"/>
              <a:sym typeface="Calibri"/>
            </a:endParaRPr>
          </a:p>
        </p:txBody>
      </p:sp>
      <p:sp>
        <p:nvSpPr>
          <p:cNvPr id="418" name="Google Shape;418;p15"/>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15 / 18</a:t>
            </a:r>
            <a:endParaRPr sz="9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423" name="Shape 423"/>
        <p:cNvGrpSpPr/>
        <p:nvPr/>
      </p:nvGrpSpPr>
      <p:grpSpPr>
        <a:xfrm>
          <a:off x="0" y="0"/>
          <a:ext cx="0" cy="0"/>
          <a:chOff x="0" y="0"/>
          <a:chExt cx="0" cy="0"/>
        </a:xfrm>
      </p:grpSpPr>
      <p:sp>
        <p:nvSpPr>
          <p:cNvPr id="424" name="Google Shape;424;p16"/>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5" name="Google Shape;425;p16"/>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Q4/Q5  MONITORING PLAN</a:t>
            </a:r>
            <a:endParaRPr sz="950">
              <a:solidFill>
                <a:schemeClr val="dk1"/>
              </a:solidFill>
              <a:latin typeface="Calibri"/>
              <a:ea typeface="Calibri"/>
              <a:cs typeface="Calibri"/>
              <a:sym typeface="Calibri"/>
            </a:endParaRPr>
          </a:p>
        </p:txBody>
      </p:sp>
      <p:sp>
        <p:nvSpPr>
          <p:cNvPr id="426" name="Google Shape;426;p16"/>
          <p:cNvSpPr/>
          <p:nvPr/>
        </p:nvSpPr>
        <p:spPr>
          <a:xfrm>
            <a:off x="411480" y="566928"/>
            <a:ext cx="832104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Post-Deployment Monitoring Framework</a:t>
            </a:r>
            <a:endParaRPr sz="2600">
              <a:solidFill>
                <a:schemeClr val="dk1"/>
              </a:solidFill>
              <a:latin typeface="Calibri"/>
              <a:ea typeface="Calibri"/>
              <a:cs typeface="Calibri"/>
              <a:sym typeface="Calibri"/>
            </a:endParaRPr>
          </a:p>
        </p:txBody>
      </p:sp>
      <p:sp>
        <p:nvSpPr>
          <p:cNvPr id="427" name="Google Shape;427;p16"/>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16 / 18</a:t>
            </a:r>
            <a:endParaRPr sz="900">
              <a:solidFill>
                <a:schemeClr val="dk1"/>
              </a:solidFill>
              <a:latin typeface="Calibri"/>
              <a:ea typeface="Calibri"/>
              <a:cs typeface="Calibri"/>
              <a:sym typeface="Calibri"/>
            </a:endParaRPr>
          </a:p>
        </p:txBody>
      </p:sp>
      <p:graphicFrame>
        <p:nvGraphicFramePr>
          <p:cNvPr id="428" name="Google Shape;428;p16"/>
          <p:cNvGraphicFramePr/>
          <p:nvPr/>
        </p:nvGraphicFramePr>
        <p:xfrm>
          <a:off x="411480" y="1298448"/>
          <a:ext cx="3000000" cy="3000000"/>
        </p:xfrm>
        <a:graphic>
          <a:graphicData uri="http://schemas.openxmlformats.org/drawingml/2006/table">
            <a:tbl>
              <a:tblPr>
                <a:noFill/>
                <a:tableStyleId>{DE8012B9-8EC4-40CB-9E28-2F91E47B8B41}</a:tableStyleId>
              </a:tblPr>
              <a:tblGrid>
                <a:gridCol w="1280150"/>
                <a:gridCol w="2560325"/>
                <a:gridCol w="2560325"/>
                <a:gridCol w="1280150"/>
              </a:tblGrid>
              <a:tr h="475500">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Area</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Metric</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Alert Trigger</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rPr>
                        <a:t>Frequency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0D1B2A"/>
                    </a:solidFill>
                  </a:tcPr>
                </a:tc>
              </a:tr>
              <a:tr h="475500">
                <a:tc>
                  <a:txBody>
                    <a:bodyPr/>
                    <a:lstStyle/>
                    <a:p>
                      <a:pPr indent="0" lvl="0" marL="0" marR="0" rtl="0" algn="l">
                        <a:spcBef>
                          <a:spcPts val="0"/>
                        </a:spcBef>
                        <a:spcAft>
                          <a:spcPts val="0"/>
                        </a:spcAft>
                        <a:buClr>
                          <a:srgbClr val="C0392B"/>
                        </a:buClr>
                        <a:buSzPts val="1400"/>
                        <a:buFont typeface="Calibri"/>
                        <a:buNone/>
                      </a:pPr>
                      <a:r>
                        <a:rPr b="1" lang="en-US" sz="1400" u="none" cap="none" strike="noStrike">
                          <a:solidFill>
                            <a:srgbClr val="C0392B"/>
                          </a:solidFill>
                        </a:rPr>
                        <a:t>Fairness</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AIR by race and sex</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AIR &lt; 0.80 or &gt; 1.25</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Monthly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75500">
                <a:tc>
                  <a:txBody>
                    <a:bodyPr/>
                    <a:lstStyle/>
                    <a:p>
                      <a:pPr indent="0" lvl="0" marL="0" marR="0" rtl="0" algn="l">
                        <a:spcBef>
                          <a:spcPts val="0"/>
                        </a:spcBef>
                        <a:spcAft>
                          <a:spcPts val="0"/>
                        </a:spcAft>
                        <a:buClr>
                          <a:srgbClr val="C0392B"/>
                        </a:buClr>
                        <a:buSzPts val="1400"/>
                        <a:buFont typeface="Calibri"/>
                        <a:buNone/>
                      </a:pPr>
                      <a:r>
                        <a:rPr b="1" lang="en-US" sz="1400" u="none" cap="none" strike="noStrike">
                          <a:solidFill>
                            <a:srgbClr val="C0392B"/>
                          </a:solidFill>
                        </a:rPr>
                        <a:t>Fairness</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FPR disparity by race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FPR gap &gt; 5pp</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Monthly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75500">
                <a:tc>
                  <a:txBody>
                    <a:bodyPr/>
                    <a:lstStyle/>
                    <a:p>
                      <a:pPr indent="0" lvl="0" marL="0" marR="0" rtl="0" algn="l">
                        <a:spcBef>
                          <a:spcPts val="0"/>
                        </a:spcBef>
                        <a:spcAft>
                          <a:spcPts val="0"/>
                        </a:spcAft>
                        <a:buClr>
                          <a:srgbClr val="1B6CA8"/>
                        </a:buClr>
                        <a:buSzPts val="1400"/>
                        <a:buFont typeface="Calibri"/>
                        <a:buNone/>
                      </a:pPr>
                      <a:r>
                        <a:rPr b="1" lang="en-US" sz="1400" u="none" cap="none" strike="noStrike">
                          <a:solidFill>
                            <a:srgbClr val="1B6CA8"/>
                          </a:solidFill>
                        </a:rPr>
                        <a:t>Performance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Test AUC and log loss</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AUC drops &gt; 2pp from baseline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Monthly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75500">
                <a:tc>
                  <a:txBody>
                    <a:bodyPr/>
                    <a:lstStyle/>
                    <a:p>
                      <a:pPr indent="0" lvl="0" marL="0" marR="0" rtl="0" algn="l">
                        <a:spcBef>
                          <a:spcPts val="0"/>
                        </a:spcBef>
                        <a:spcAft>
                          <a:spcPts val="0"/>
                        </a:spcAft>
                        <a:buClr>
                          <a:srgbClr val="3A86C8"/>
                        </a:buClr>
                        <a:buSzPts val="1400"/>
                        <a:buFont typeface="Calibri"/>
                        <a:buNone/>
                      </a:pPr>
                      <a:r>
                        <a:rPr b="1" lang="en-US" sz="1400" u="none" cap="none" strike="noStrike">
                          <a:solidFill>
                            <a:srgbClr val="3A86C8"/>
                          </a:solidFill>
                        </a:rPr>
                        <a:t>Calibration</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Brier score by subgroup</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Subgroup Brier &gt; 0.20</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Quarterly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75500">
                <a:tc>
                  <a:txBody>
                    <a:bodyPr/>
                    <a:lstStyle/>
                    <a:p>
                      <a:pPr indent="0" lvl="0" marL="0" marR="0" rtl="0" algn="l">
                        <a:spcBef>
                          <a:spcPts val="0"/>
                        </a:spcBef>
                        <a:spcAft>
                          <a:spcPts val="0"/>
                        </a:spcAft>
                        <a:buClr>
                          <a:srgbClr val="E8A020"/>
                        </a:buClr>
                        <a:buSzPts val="1400"/>
                        <a:buFont typeface="Calibri"/>
                        <a:buNone/>
                      </a:pPr>
                      <a:r>
                        <a:rPr b="1" lang="en-US" sz="1400" u="none" cap="none" strike="noStrike">
                          <a:solidFill>
                            <a:srgbClr val="E8A020"/>
                          </a:solidFill>
                        </a:rPr>
                        <a:t>Drift</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PSI on income, DTI, property value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PSI &gt; 0.25 on any feature</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Monthly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r h="475500">
                <a:tc>
                  <a:txBody>
                    <a:bodyPr/>
                    <a:lstStyle/>
                    <a:p>
                      <a:pPr indent="0" lvl="0" marL="0" marR="0" rtl="0" algn="l">
                        <a:spcBef>
                          <a:spcPts val="0"/>
                        </a:spcBef>
                        <a:spcAft>
                          <a:spcPts val="0"/>
                        </a:spcAft>
                        <a:buClr>
                          <a:srgbClr val="4A6070"/>
                        </a:buClr>
                        <a:buSzPts val="1400"/>
                        <a:buFont typeface="Calibri"/>
                        <a:buNone/>
                      </a:pPr>
                      <a:r>
                        <a:rPr b="1" lang="en-US" sz="1400" u="none" cap="none" strike="noStrike">
                          <a:solidFill>
                            <a:srgbClr val="4A6070"/>
                          </a:solidFill>
                        </a:rPr>
                        <a:t>Security</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Subgroup FPR post-retrain</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Any &gt; 10% shift from prior</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400"/>
                        <a:buFont typeface="Calibri"/>
                        <a:buNone/>
                      </a:pPr>
                      <a:r>
                        <a:rPr lang="en-US" sz="1400" u="none" cap="none" strike="noStrike">
                          <a:solidFill>
                            <a:srgbClr val="000000"/>
                          </a:solidFill>
                        </a:rPr>
                        <a:t>Each retrain</a:t>
                      </a:r>
                      <a:endParaRPr sz="1400" u="none" cap="none" strike="noStrike"/>
                    </a:p>
                  </a:txBody>
                  <a:tcPr marT="45725" marB="45725" marR="91450" marL="91450">
                    <a:lnL cap="flat" cmpd="sng" w="9525">
                      <a:solidFill>
                        <a:srgbClr val="D8E4EE"/>
                      </a:solidFill>
                      <a:prstDash val="solid"/>
                      <a:round/>
                      <a:headEnd len="sm" w="sm" type="none"/>
                      <a:tailEnd len="sm" w="sm" type="none"/>
                    </a:lnL>
                    <a:lnR cap="flat" cmpd="sng" w="9525">
                      <a:solidFill>
                        <a:srgbClr val="D8E4EE"/>
                      </a:solidFill>
                      <a:prstDash val="solid"/>
                      <a:round/>
                      <a:headEnd len="sm" w="sm" type="none"/>
                      <a:tailEnd len="sm" w="sm" type="none"/>
                    </a:lnR>
                    <a:lnT cap="flat" cmpd="sng" w="9525">
                      <a:solidFill>
                        <a:srgbClr val="D8E4EE"/>
                      </a:solidFill>
                      <a:prstDash val="solid"/>
                      <a:round/>
                      <a:headEnd len="sm" w="sm" type="none"/>
                      <a:tailEnd len="sm" w="sm" type="none"/>
                    </a:lnT>
                    <a:lnB cap="flat" cmpd="sng" w="9525">
                      <a:solidFill>
                        <a:srgbClr val="D8E4EE"/>
                      </a:solidFill>
                      <a:prstDash val="solid"/>
                      <a:round/>
                      <a:headEnd len="sm" w="sm" type="none"/>
                      <a:tailEnd len="sm" w="sm" type="none"/>
                    </a:lnB>
                    <a:solidFill>
                      <a:srgbClr val="FFFFFF"/>
                    </a:solidFill>
                  </a:tcPr>
                </a:tc>
              </a:tr>
            </a:tbl>
          </a:graphicData>
        </a:graphic>
      </p:graphicFrame>
      <p:sp>
        <p:nvSpPr>
          <p:cNvPr id="429" name="Google Shape;429;p16"/>
          <p:cNvSpPr/>
          <p:nvPr/>
        </p:nvSpPr>
        <p:spPr>
          <a:xfrm>
            <a:off x="411480" y="4716073"/>
            <a:ext cx="7680960" cy="347471"/>
          </a:xfrm>
          <a:prstGeom prst="rect">
            <a:avLst/>
          </a:prstGeom>
          <a:solidFill>
            <a:srgbClr val="E8F5EC"/>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6"/>
          <p:cNvSpPr/>
          <p:nvPr/>
        </p:nvSpPr>
        <p:spPr>
          <a:xfrm>
            <a:off x="594360" y="4716072"/>
            <a:ext cx="74523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836"/>
              </a:buClr>
              <a:buSzPts val="1200"/>
              <a:buFont typeface="Calibri"/>
              <a:buNone/>
            </a:pPr>
            <a:r>
              <a:rPr lang="en-US" sz="1200">
                <a:solidFill>
                  <a:srgbClr val="1A2836"/>
                </a:solidFill>
                <a:latin typeface="Calibri"/>
                <a:ea typeface="Calibri"/>
                <a:cs typeface="Calibri"/>
                <a:sym typeface="Calibri"/>
              </a:rPr>
              <a:t>Escalation policy: any fairness alert triggers a 30-day remediation review. Unresolved AIR violations pause deployment. GitHub repo maintained as the audit record.</a:t>
            </a:r>
            <a:endParaRPr sz="12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836"/>
        </a:solidFill>
      </p:bgPr>
    </p:bg>
    <p:spTree>
      <p:nvGrpSpPr>
        <p:cNvPr id="435" name="Shape 435"/>
        <p:cNvGrpSpPr/>
        <p:nvPr/>
      </p:nvGrpSpPr>
      <p:grpSpPr>
        <a:xfrm>
          <a:off x="0" y="0"/>
          <a:ext cx="0" cy="0"/>
          <a:chOff x="0" y="0"/>
          <a:chExt cx="0" cy="0"/>
        </a:xfrm>
      </p:grpSpPr>
      <p:sp>
        <p:nvSpPr>
          <p:cNvPr id="436" name="Google Shape;436;p17"/>
          <p:cNvSpPr/>
          <p:nvPr/>
        </p:nvSpPr>
        <p:spPr>
          <a:xfrm>
            <a:off x="411480" y="201168"/>
            <a:ext cx="1828800" cy="292608"/>
          </a:xfrm>
          <a:prstGeom prst="roundRect">
            <a:avLst>
              <a:gd fmla="val 15625" name="adj"/>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7" name="Google Shape;437;p17"/>
          <p:cNvSpPr/>
          <p:nvPr/>
        </p:nvSpPr>
        <p:spPr>
          <a:xfrm>
            <a:off x="411480" y="201168"/>
            <a:ext cx="18288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Q5  DEPLOYMENT DEFENSIBILITY</a:t>
            </a:r>
            <a:endParaRPr sz="950">
              <a:solidFill>
                <a:schemeClr val="dk1"/>
              </a:solidFill>
              <a:latin typeface="Calibri"/>
              <a:ea typeface="Calibri"/>
              <a:cs typeface="Calibri"/>
              <a:sym typeface="Calibri"/>
            </a:endParaRPr>
          </a:p>
        </p:txBody>
      </p:sp>
      <p:sp>
        <p:nvSpPr>
          <p:cNvPr id="438" name="Google Shape;438;p17"/>
          <p:cNvSpPr/>
          <p:nvPr/>
        </p:nvSpPr>
        <p:spPr>
          <a:xfrm>
            <a:off x="411480" y="640080"/>
            <a:ext cx="832104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libri"/>
              <a:buNone/>
            </a:pPr>
            <a:r>
              <a:rPr b="1" lang="en-US" sz="2800">
                <a:solidFill>
                  <a:srgbClr val="FFFFFF"/>
                </a:solidFill>
                <a:latin typeface="Calibri"/>
                <a:ea typeface="Calibri"/>
                <a:cs typeface="Calibri"/>
                <a:sym typeface="Calibri"/>
              </a:rPr>
              <a:t>Is Deployment Defensible?</a:t>
            </a:r>
            <a:endParaRPr sz="2800">
              <a:solidFill>
                <a:schemeClr val="dk1"/>
              </a:solidFill>
              <a:latin typeface="Calibri"/>
              <a:ea typeface="Calibri"/>
              <a:cs typeface="Calibri"/>
              <a:sym typeface="Calibri"/>
            </a:endParaRPr>
          </a:p>
        </p:txBody>
      </p:sp>
      <p:sp>
        <p:nvSpPr>
          <p:cNvPr id="439" name="Google Shape;439;p17"/>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17 / 18</a:t>
            </a:r>
            <a:endParaRPr sz="900">
              <a:solidFill>
                <a:schemeClr val="dk1"/>
              </a:solidFill>
              <a:latin typeface="Calibri"/>
              <a:ea typeface="Calibri"/>
              <a:cs typeface="Calibri"/>
              <a:sym typeface="Calibri"/>
            </a:endParaRPr>
          </a:p>
        </p:txBody>
      </p:sp>
      <p:sp>
        <p:nvSpPr>
          <p:cNvPr id="440" name="Google Shape;440;p17"/>
          <p:cNvSpPr/>
          <p:nvPr/>
        </p:nvSpPr>
        <p:spPr>
          <a:xfrm>
            <a:off x="411480" y="1417320"/>
            <a:ext cx="8321040" cy="68580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17"/>
          <p:cNvSpPr/>
          <p:nvPr/>
        </p:nvSpPr>
        <p:spPr>
          <a:xfrm>
            <a:off x="594360" y="1481328"/>
            <a:ext cx="7955280" cy="5303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lang="en-US" sz="1500">
                <a:solidFill>
                  <a:srgbClr val="FFFFFF"/>
                </a:solidFill>
                <a:latin typeface="Calibri"/>
                <a:ea typeface="Calibri"/>
                <a:cs typeface="Calibri"/>
                <a:sym typeface="Calibri"/>
              </a:rPr>
              <a:t>Recommendation: CONDITIONAL DEPLOYMENT — GBT Model with Active Monitoring</a:t>
            </a:r>
            <a:endParaRPr sz="1500">
              <a:solidFill>
                <a:schemeClr val="dk1"/>
              </a:solidFill>
              <a:latin typeface="Calibri"/>
              <a:ea typeface="Calibri"/>
              <a:cs typeface="Calibri"/>
              <a:sym typeface="Calibri"/>
            </a:endParaRPr>
          </a:p>
        </p:txBody>
      </p:sp>
      <p:sp>
        <p:nvSpPr>
          <p:cNvPr id="442" name="Google Shape;442;p17"/>
          <p:cNvSpPr/>
          <p:nvPr/>
        </p:nvSpPr>
        <p:spPr>
          <a:xfrm>
            <a:off x="411480" y="2240280"/>
            <a:ext cx="3977640" cy="2606040"/>
          </a:xfrm>
          <a:prstGeom prst="rect">
            <a:avLst/>
          </a:prstGeom>
          <a:solidFill>
            <a:srgbClr val="0D2A1A"/>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3" name="Google Shape;443;p17"/>
          <p:cNvSpPr/>
          <p:nvPr/>
        </p:nvSpPr>
        <p:spPr>
          <a:xfrm>
            <a:off x="594360" y="2331720"/>
            <a:ext cx="36118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7A4A"/>
              </a:buClr>
              <a:buSzPts val="1300"/>
              <a:buFont typeface="Calibri"/>
              <a:buNone/>
            </a:pPr>
            <a:r>
              <a:rPr b="1" lang="en-US" sz="1300">
                <a:solidFill>
                  <a:srgbClr val="1A7A4A"/>
                </a:solidFill>
                <a:latin typeface="Calibri"/>
                <a:ea typeface="Calibri"/>
                <a:cs typeface="Calibri"/>
                <a:sym typeface="Calibri"/>
              </a:rPr>
              <a:t>Defensible — Yes</a:t>
            </a:r>
            <a:endParaRPr sz="1300">
              <a:solidFill>
                <a:schemeClr val="dk1"/>
              </a:solidFill>
              <a:latin typeface="Calibri"/>
              <a:ea typeface="Calibri"/>
              <a:cs typeface="Calibri"/>
              <a:sym typeface="Calibri"/>
            </a:endParaRPr>
          </a:p>
        </p:txBody>
      </p:sp>
      <p:sp>
        <p:nvSpPr>
          <p:cNvPr id="444" name="Google Shape;444;p17"/>
          <p:cNvSpPr/>
          <p:nvPr/>
        </p:nvSpPr>
        <p:spPr>
          <a:xfrm>
            <a:off x="594360" y="2743200"/>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Optimization objective documented with business rationale</a:t>
            </a:r>
            <a:endParaRPr sz="950">
              <a:solidFill>
                <a:schemeClr val="dk1"/>
              </a:solidFill>
              <a:latin typeface="Calibri"/>
              <a:ea typeface="Calibri"/>
              <a:cs typeface="Calibri"/>
              <a:sym typeface="Calibri"/>
            </a:endParaRPr>
          </a:p>
        </p:txBody>
      </p:sp>
      <p:sp>
        <p:nvSpPr>
          <p:cNvPr id="445" name="Google Shape;445;p17"/>
          <p:cNvSpPr/>
          <p:nvPr/>
        </p:nvSpPr>
        <p:spPr>
          <a:xfrm>
            <a:off x="594360" y="3035808"/>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Failure mode table with trigger conditions and severity</a:t>
            </a:r>
            <a:endParaRPr sz="950">
              <a:solidFill>
                <a:schemeClr val="dk1"/>
              </a:solidFill>
              <a:latin typeface="Calibri"/>
              <a:ea typeface="Calibri"/>
              <a:cs typeface="Calibri"/>
              <a:sym typeface="Calibri"/>
            </a:endParaRPr>
          </a:p>
        </p:txBody>
      </p:sp>
      <p:sp>
        <p:nvSpPr>
          <p:cNvPr id="446" name="Google Shape;446;p17"/>
          <p:cNvSpPr/>
          <p:nvPr/>
        </p:nvSpPr>
        <p:spPr>
          <a:xfrm>
            <a:off x="594360" y="3328416"/>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AIR, SMD, FPR disparity computed across race, sex, age, state</a:t>
            </a:r>
            <a:endParaRPr sz="950">
              <a:solidFill>
                <a:schemeClr val="dk1"/>
              </a:solidFill>
              <a:latin typeface="Calibri"/>
              <a:ea typeface="Calibri"/>
              <a:cs typeface="Calibri"/>
              <a:sym typeface="Calibri"/>
            </a:endParaRPr>
          </a:p>
        </p:txBody>
      </p:sp>
      <p:sp>
        <p:nvSpPr>
          <p:cNvPr id="447" name="Google Shape;447;p17"/>
          <p:cNvSpPr/>
          <p:nvPr/>
        </p:nvSpPr>
        <p:spPr>
          <a:xfrm>
            <a:off x="594360" y="3621024"/>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Intersectional analysis completed</a:t>
            </a:r>
            <a:endParaRPr sz="950">
              <a:solidFill>
                <a:schemeClr val="dk1"/>
              </a:solidFill>
              <a:latin typeface="Calibri"/>
              <a:ea typeface="Calibri"/>
              <a:cs typeface="Calibri"/>
              <a:sym typeface="Calibri"/>
            </a:endParaRPr>
          </a:p>
        </p:txBody>
      </p:sp>
      <p:sp>
        <p:nvSpPr>
          <p:cNvPr id="448" name="Google Shape;448;p17"/>
          <p:cNvSpPr/>
          <p:nvPr/>
        </p:nvSpPr>
        <p:spPr>
          <a:xfrm>
            <a:off x="594360" y="3913632"/>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Robustness and drift testing conducted</a:t>
            </a:r>
            <a:endParaRPr sz="950">
              <a:solidFill>
                <a:schemeClr val="dk1"/>
              </a:solidFill>
              <a:latin typeface="Calibri"/>
              <a:ea typeface="Calibri"/>
              <a:cs typeface="Calibri"/>
              <a:sym typeface="Calibri"/>
            </a:endParaRPr>
          </a:p>
        </p:txBody>
      </p:sp>
      <p:sp>
        <p:nvSpPr>
          <p:cNvPr id="449" name="Google Shape;449;p17"/>
          <p:cNvSpPr/>
          <p:nvPr/>
        </p:nvSpPr>
        <p:spPr>
          <a:xfrm>
            <a:off x="594360" y="4206240"/>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Monitoring plan with defined alert thresholds</a:t>
            </a:r>
            <a:endParaRPr sz="950">
              <a:solidFill>
                <a:schemeClr val="dk1"/>
              </a:solidFill>
              <a:latin typeface="Calibri"/>
              <a:ea typeface="Calibri"/>
              <a:cs typeface="Calibri"/>
              <a:sym typeface="Calibri"/>
            </a:endParaRPr>
          </a:p>
        </p:txBody>
      </p:sp>
      <p:sp>
        <p:nvSpPr>
          <p:cNvPr id="450" name="Google Shape;450;p17"/>
          <p:cNvSpPr/>
          <p:nvPr/>
        </p:nvSpPr>
        <p:spPr>
          <a:xfrm>
            <a:off x="594360" y="4498848"/>
            <a:ext cx="3611880" cy="25603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98D4B0"/>
              </a:buClr>
              <a:buSzPts val="950"/>
              <a:buFont typeface="Calibri"/>
              <a:buChar char="•"/>
            </a:pPr>
            <a:r>
              <a:rPr lang="en-US" sz="950">
                <a:solidFill>
                  <a:srgbClr val="98D4B0"/>
                </a:solidFill>
                <a:latin typeface="Calibri"/>
                <a:ea typeface="Calibri"/>
                <a:cs typeface="Calibri"/>
                <a:sym typeface="Calibri"/>
              </a:rPr>
              <a:t>Reproducible GitHub codebase as audit record</a:t>
            </a:r>
            <a:endParaRPr sz="950">
              <a:solidFill>
                <a:schemeClr val="dk1"/>
              </a:solidFill>
              <a:latin typeface="Calibri"/>
              <a:ea typeface="Calibri"/>
              <a:cs typeface="Calibri"/>
              <a:sym typeface="Calibri"/>
            </a:endParaRPr>
          </a:p>
        </p:txBody>
      </p:sp>
      <p:sp>
        <p:nvSpPr>
          <p:cNvPr id="451" name="Google Shape;451;p17"/>
          <p:cNvSpPr/>
          <p:nvPr/>
        </p:nvSpPr>
        <p:spPr>
          <a:xfrm>
            <a:off x="4572000" y="2240280"/>
            <a:ext cx="4160520" cy="2606040"/>
          </a:xfrm>
          <a:prstGeom prst="rect">
            <a:avLst/>
          </a:prstGeom>
          <a:solidFill>
            <a:srgbClr val="2A1A0D"/>
          </a:solidFill>
          <a:ln cap="flat" cmpd="sng" w="12700">
            <a:solidFill>
              <a:srgbClr val="D8E4EE"/>
            </a:solidFill>
            <a:prstDash val="solid"/>
            <a:round/>
            <a:headEnd len="sm" w="sm" type="none"/>
            <a:tailEnd len="sm" w="sm" type="none"/>
          </a:ln>
          <a:effectLst>
            <a:outerShdw blurRad="762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2" name="Google Shape;452;p17"/>
          <p:cNvSpPr/>
          <p:nvPr/>
        </p:nvSpPr>
        <p:spPr>
          <a:xfrm>
            <a:off x="4754880" y="2331720"/>
            <a:ext cx="3794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A020"/>
              </a:buClr>
              <a:buSzPts val="1300"/>
              <a:buFont typeface="Calibri"/>
              <a:buNone/>
            </a:pPr>
            <a:r>
              <a:rPr b="1" lang="en-US" sz="1300">
                <a:solidFill>
                  <a:srgbClr val="E8A020"/>
                </a:solidFill>
                <a:latin typeface="Calibri"/>
                <a:ea typeface="Calibri"/>
                <a:cs typeface="Calibri"/>
                <a:sym typeface="Calibri"/>
              </a:rPr>
              <a:t>Conditions Required Before Full Deployment</a:t>
            </a:r>
            <a:endParaRPr sz="1300">
              <a:solidFill>
                <a:schemeClr val="dk1"/>
              </a:solidFill>
              <a:latin typeface="Calibri"/>
              <a:ea typeface="Calibri"/>
              <a:cs typeface="Calibri"/>
              <a:sym typeface="Calibri"/>
            </a:endParaRPr>
          </a:p>
        </p:txBody>
      </p:sp>
      <p:sp>
        <p:nvSpPr>
          <p:cNvPr id="453" name="Google Shape;453;p17"/>
          <p:cNvSpPr/>
          <p:nvPr/>
        </p:nvSpPr>
        <p:spPr>
          <a:xfrm>
            <a:off x="4754880" y="2743200"/>
            <a:ext cx="3794760" cy="34747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F4C38A"/>
              </a:buClr>
              <a:buSzPts val="950"/>
              <a:buFont typeface="Calibri"/>
              <a:buChar char="•"/>
            </a:pPr>
            <a:r>
              <a:rPr lang="en-US" sz="950">
                <a:solidFill>
                  <a:srgbClr val="F4C38A"/>
                </a:solidFill>
                <a:latin typeface="Calibri"/>
                <a:ea typeface="Calibri"/>
                <a:cs typeface="Calibri"/>
                <a:sym typeface="Calibri"/>
              </a:rPr>
              <a:t>Legal review of &gt;74 AIR below 0.80 under ECOA </a:t>
            </a:r>
            <a:endParaRPr sz="950">
              <a:solidFill>
                <a:schemeClr val="dk1"/>
              </a:solidFill>
              <a:latin typeface="Calibri"/>
              <a:ea typeface="Calibri"/>
              <a:cs typeface="Calibri"/>
              <a:sym typeface="Calibri"/>
            </a:endParaRPr>
          </a:p>
        </p:txBody>
      </p:sp>
      <p:sp>
        <p:nvSpPr>
          <p:cNvPr id="454" name="Google Shape;454;p17"/>
          <p:cNvSpPr/>
          <p:nvPr/>
        </p:nvSpPr>
        <p:spPr>
          <a:xfrm>
            <a:off x="4754880" y="3127248"/>
            <a:ext cx="3794760" cy="34747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F4C38A"/>
              </a:buClr>
              <a:buSzPts val="950"/>
              <a:buFont typeface="Calibri"/>
              <a:buChar char="•"/>
            </a:pPr>
            <a:r>
              <a:rPr lang="en-US" sz="950">
                <a:solidFill>
                  <a:srgbClr val="F4C38A"/>
                </a:solidFill>
                <a:latin typeface="Calibri"/>
                <a:ea typeface="Calibri"/>
                <a:cs typeface="Calibri"/>
                <a:sym typeface="Calibri"/>
              </a:rPr>
              <a:t>Legal review of borderline AIR 0.8 ratios for Female Native Hawaiians</a:t>
            </a:r>
            <a:endParaRPr sz="950">
              <a:solidFill>
                <a:schemeClr val="dk1"/>
              </a:solidFill>
              <a:latin typeface="Calibri"/>
              <a:ea typeface="Calibri"/>
              <a:cs typeface="Calibri"/>
              <a:sym typeface="Calibri"/>
            </a:endParaRPr>
          </a:p>
        </p:txBody>
      </p:sp>
      <p:sp>
        <p:nvSpPr>
          <p:cNvPr id="455" name="Google Shape;455;p17"/>
          <p:cNvSpPr/>
          <p:nvPr/>
        </p:nvSpPr>
        <p:spPr>
          <a:xfrm>
            <a:off x="4754880" y="3511296"/>
            <a:ext cx="3794760" cy="34747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F4C38A"/>
              </a:buClr>
              <a:buSzPts val="950"/>
              <a:buFont typeface="Calibri"/>
              <a:buChar char="•"/>
            </a:pPr>
            <a:r>
              <a:rPr lang="en-US" sz="950">
                <a:solidFill>
                  <a:srgbClr val="F4C38A"/>
                </a:solidFill>
                <a:latin typeface="Calibri"/>
                <a:ea typeface="Calibri"/>
                <a:cs typeface="Calibri"/>
                <a:sym typeface="Calibri"/>
              </a:rPr>
              <a:t>Data access controls to prevent insider label-flip poisoning</a:t>
            </a:r>
            <a:endParaRPr sz="950">
              <a:solidFill>
                <a:schemeClr val="dk1"/>
              </a:solidFill>
              <a:latin typeface="Calibri"/>
              <a:ea typeface="Calibri"/>
              <a:cs typeface="Calibri"/>
              <a:sym typeface="Calibri"/>
            </a:endParaRPr>
          </a:p>
        </p:txBody>
      </p:sp>
      <p:sp>
        <p:nvSpPr>
          <p:cNvPr id="456" name="Google Shape;456;p17"/>
          <p:cNvSpPr/>
          <p:nvPr/>
        </p:nvSpPr>
        <p:spPr>
          <a:xfrm>
            <a:off x="4754880" y="3895344"/>
            <a:ext cx="3794760" cy="34747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F4C38A"/>
              </a:buClr>
              <a:buSzPts val="950"/>
              <a:buFont typeface="Calibri"/>
              <a:buChar char="•"/>
            </a:pPr>
            <a:r>
              <a:rPr lang="en-US" sz="950">
                <a:solidFill>
                  <a:srgbClr val="F4C38A"/>
                </a:solidFill>
                <a:latin typeface="Calibri"/>
                <a:ea typeface="Calibri"/>
                <a:cs typeface="Calibri"/>
                <a:sym typeface="Calibri"/>
              </a:rPr>
              <a:t>RF challenger results documented, but GBT retained due to lower Black FPR </a:t>
            </a:r>
            <a:endParaRPr sz="950">
              <a:solidFill>
                <a:schemeClr val="dk1"/>
              </a:solidFill>
              <a:latin typeface="Calibri"/>
              <a:ea typeface="Calibri"/>
              <a:cs typeface="Calibri"/>
              <a:sym typeface="Calibri"/>
            </a:endParaRPr>
          </a:p>
        </p:txBody>
      </p:sp>
      <p:sp>
        <p:nvSpPr>
          <p:cNvPr id="457" name="Google Shape;457;p17"/>
          <p:cNvSpPr/>
          <p:nvPr/>
        </p:nvSpPr>
        <p:spPr>
          <a:xfrm>
            <a:off x="4754880" y="4279392"/>
            <a:ext cx="3794760" cy="347472"/>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F4C38A"/>
              </a:buClr>
              <a:buSzPts val="950"/>
              <a:buFont typeface="Calibri"/>
              <a:buChar char="•"/>
            </a:pPr>
            <a:r>
              <a:rPr lang="en-US" sz="950">
                <a:solidFill>
                  <a:srgbClr val="F4C38A"/>
                </a:solidFill>
                <a:latin typeface="Calibri"/>
                <a:ea typeface="Calibri"/>
                <a:cs typeface="Calibri"/>
                <a:sym typeface="Calibri"/>
              </a:rPr>
              <a:t>Threshold 0.80 validated against lender's risk appetite</a:t>
            </a:r>
            <a:endParaRPr sz="950">
              <a:solidFill>
                <a:schemeClr val="dk1"/>
              </a:solidFill>
              <a:latin typeface="Calibri"/>
              <a:ea typeface="Calibri"/>
              <a:cs typeface="Calibri"/>
              <a:sym typeface="Calibri"/>
            </a:endParaRPr>
          </a:p>
        </p:txBody>
      </p:sp>
      <p:sp>
        <p:nvSpPr>
          <p:cNvPr id="458" name="Google Shape;458;p17"/>
          <p:cNvSpPr/>
          <p:nvPr/>
        </p:nvSpPr>
        <p:spPr>
          <a:xfrm>
            <a:off x="411480" y="4864608"/>
            <a:ext cx="8321040" cy="2011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096A8"/>
              </a:buClr>
              <a:buSzPts val="950"/>
              <a:buFont typeface="Calibri"/>
              <a:buNone/>
            </a:pPr>
            <a:r>
              <a:rPr i="1" lang="en-US" sz="950">
                <a:solidFill>
                  <a:srgbClr val="8096A8"/>
                </a:solidFill>
                <a:latin typeface="Calibri"/>
                <a:ea typeface="Calibri"/>
                <a:cs typeface="Calibri"/>
                <a:sym typeface="Calibri"/>
              </a:rPr>
              <a:t>Pause deployment if: AIR falls below 0.80  |  Age disparity legal review unresolved  |  Any poisoning attack detected post-launch</a:t>
            </a:r>
            <a:endParaRPr sz="95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463" name="Shape 463"/>
        <p:cNvGrpSpPr/>
        <p:nvPr/>
      </p:nvGrpSpPr>
      <p:grpSpPr>
        <a:xfrm>
          <a:off x="0" y="0"/>
          <a:ext cx="0" cy="0"/>
          <a:chOff x="0" y="0"/>
          <a:chExt cx="0" cy="0"/>
        </a:xfrm>
      </p:grpSpPr>
      <p:sp>
        <p:nvSpPr>
          <p:cNvPr id="464" name="Google Shape;464;p18"/>
          <p:cNvSpPr/>
          <p:nvPr/>
        </p:nvSpPr>
        <p:spPr>
          <a:xfrm>
            <a:off x="0" y="0"/>
            <a:ext cx="109728" cy="514350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8"/>
          <p:cNvSpPr/>
          <p:nvPr/>
        </p:nvSpPr>
        <p:spPr>
          <a:xfrm>
            <a:off x="457200" y="1097280"/>
            <a:ext cx="8229600" cy="685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200"/>
              <a:buFont typeface="Calibri"/>
              <a:buNone/>
            </a:pPr>
            <a:r>
              <a:rPr b="1" lang="en-US" sz="4200">
                <a:solidFill>
                  <a:srgbClr val="FFFFFF"/>
                </a:solidFill>
                <a:latin typeface="Calibri"/>
                <a:ea typeface="Calibri"/>
                <a:cs typeface="Calibri"/>
                <a:sym typeface="Calibri"/>
              </a:rPr>
              <a:t>Thank You</a:t>
            </a:r>
            <a:endParaRPr sz="4200">
              <a:solidFill>
                <a:schemeClr val="dk1"/>
              </a:solidFill>
              <a:latin typeface="Calibri"/>
              <a:ea typeface="Calibri"/>
              <a:cs typeface="Calibri"/>
              <a:sym typeface="Calibri"/>
            </a:endParaRPr>
          </a:p>
        </p:txBody>
      </p:sp>
      <p:cxnSp>
        <p:nvCxnSpPr>
          <p:cNvPr id="466" name="Google Shape;466;p18"/>
          <p:cNvCxnSpPr/>
          <p:nvPr/>
        </p:nvCxnSpPr>
        <p:spPr>
          <a:xfrm>
            <a:off x="2286000" y="1920240"/>
            <a:ext cx="4572000" cy="0"/>
          </a:xfrm>
          <a:prstGeom prst="straightConnector1">
            <a:avLst/>
          </a:prstGeom>
          <a:noFill/>
          <a:ln cap="flat" cmpd="sng" w="19050">
            <a:solidFill>
              <a:srgbClr val="1B6CA8"/>
            </a:solidFill>
            <a:prstDash val="solid"/>
            <a:round/>
            <a:headEnd len="sm" w="sm" type="none"/>
            <a:tailEnd len="sm" w="sm" type="none"/>
          </a:ln>
        </p:spPr>
      </p:cxnSp>
      <p:sp>
        <p:nvSpPr>
          <p:cNvPr id="467" name="Google Shape;467;p18"/>
          <p:cNvSpPr/>
          <p:nvPr/>
        </p:nvSpPr>
        <p:spPr>
          <a:xfrm>
            <a:off x="457200" y="2057400"/>
            <a:ext cx="822960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096A8"/>
              </a:buClr>
              <a:buSzPts val="1100"/>
              <a:buFont typeface="Calibri"/>
              <a:buNone/>
            </a:pPr>
            <a:r>
              <a:rPr lang="en-US" sz="1100">
                <a:solidFill>
                  <a:srgbClr val="8096A8"/>
                </a:solidFill>
                <a:latin typeface="Calibri"/>
                <a:ea typeface="Calibri"/>
                <a:cs typeface="Calibri"/>
                <a:sym typeface="Calibri"/>
              </a:rPr>
              <a:t>Group 6  |  DNSC 6330 Responsible Machine Learning  |  GWU  |  May 2026</a:t>
            </a:r>
            <a:endParaRPr sz="1100">
              <a:solidFill>
                <a:schemeClr val="dk1"/>
              </a:solidFill>
              <a:latin typeface="Calibri"/>
              <a:ea typeface="Calibri"/>
              <a:cs typeface="Calibri"/>
              <a:sym typeface="Calibri"/>
            </a:endParaRPr>
          </a:p>
        </p:txBody>
      </p:sp>
      <p:sp>
        <p:nvSpPr>
          <p:cNvPr id="468" name="Google Shape;468;p18"/>
          <p:cNvSpPr/>
          <p:nvPr/>
        </p:nvSpPr>
        <p:spPr>
          <a:xfrm>
            <a:off x="457200" y="2514600"/>
            <a:ext cx="822960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3A86C8"/>
              </a:buClr>
              <a:buSzPts val="1200"/>
              <a:buFont typeface="Calibri"/>
              <a:buNone/>
            </a:pPr>
            <a:r>
              <a:rPr lang="en-US" sz="1200">
                <a:solidFill>
                  <a:srgbClr val="3A86C8"/>
                </a:solidFill>
                <a:latin typeface="Calibri"/>
                <a:ea typeface="Calibri"/>
                <a:cs typeface="Calibri"/>
                <a:sym typeface="Calibri"/>
              </a:rPr>
              <a:t>GitHub Repository: </a:t>
            </a:r>
            <a:r>
              <a:rPr lang="en-US" sz="1200">
                <a:solidFill>
                  <a:srgbClr val="3A86C8"/>
                </a:solidFill>
                <a:latin typeface="Calibri"/>
                <a:ea typeface="Calibri"/>
                <a:cs typeface="Calibri"/>
                <a:sym typeface="Calibri"/>
              </a:rPr>
              <a:t>https://github.com/bek-92/hmda-responsible-ml-audit</a:t>
            </a:r>
            <a:endParaRPr sz="1200">
              <a:solidFill>
                <a:schemeClr val="dk1"/>
              </a:solidFill>
              <a:latin typeface="Calibri"/>
              <a:ea typeface="Calibri"/>
              <a:cs typeface="Calibri"/>
              <a:sym typeface="Calibri"/>
            </a:endParaRPr>
          </a:p>
        </p:txBody>
      </p:sp>
      <p:sp>
        <p:nvSpPr>
          <p:cNvPr id="469" name="Google Shape;469;p18"/>
          <p:cNvSpPr/>
          <p:nvPr/>
        </p:nvSpPr>
        <p:spPr>
          <a:xfrm>
            <a:off x="457200" y="3108960"/>
            <a:ext cx="1508760" cy="1463040"/>
          </a:xfrm>
          <a:prstGeom prst="rect">
            <a:avLst/>
          </a:prstGeom>
          <a:solidFill>
            <a:srgbClr val="1B6CA8"/>
          </a:solidFill>
          <a:ln cap="flat" cmpd="sng" w="12700">
            <a:solidFill>
              <a:srgbClr val="1B6CA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8"/>
          <p:cNvSpPr/>
          <p:nvPr/>
        </p:nvSpPr>
        <p:spPr>
          <a:xfrm>
            <a:off x="457200" y="3108960"/>
            <a:ext cx="150876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Q1  Optimization Objective</a:t>
            </a:r>
            <a:endParaRPr sz="950">
              <a:solidFill>
                <a:schemeClr val="dk1"/>
              </a:solidFill>
              <a:latin typeface="Calibri"/>
              <a:ea typeface="Calibri"/>
              <a:cs typeface="Calibri"/>
              <a:sym typeface="Calibri"/>
            </a:endParaRPr>
          </a:p>
        </p:txBody>
      </p:sp>
      <p:sp>
        <p:nvSpPr>
          <p:cNvPr id="471" name="Google Shape;471;p18"/>
          <p:cNvSpPr/>
          <p:nvPr/>
        </p:nvSpPr>
        <p:spPr>
          <a:xfrm>
            <a:off x="2121408" y="3108960"/>
            <a:ext cx="1508760" cy="1463040"/>
          </a:xfrm>
          <a:prstGeom prst="rect">
            <a:avLst/>
          </a:prstGeom>
          <a:solidFill>
            <a:srgbClr val="3A86C8"/>
          </a:solidFill>
          <a:ln cap="flat" cmpd="sng" w="12700">
            <a:solidFill>
              <a:srgbClr val="3A86C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8"/>
          <p:cNvSpPr/>
          <p:nvPr/>
        </p:nvSpPr>
        <p:spPr>
          <a:xfrm>
            <a:off x="2121408" y="3108960"/>
            <a:ext cx="150876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Q2  Known Failure Modes</a:t>
            </a:r>
            <a:endParaRPr sz="950">
              <a:solidFill>
                <a:schemeClr val="dk1"/>
              </a:solidFill>
              <a:latin typeface="Calibri"/>
              <a:ea typeface="Calibri"/>
              <a:cs typeface="Calibri"/>
              <a:sym typeface="Calibri"/>
            </a:endParaRPr>
          </a:p>
        </p:txBody>
      </p:sp>
      <p:sp>
        <p:nvSpPr>
          <p:cNvPr id="473" name="Google Shape;473;p18"/>
          <p:cNvSpPr/>
          <p:nvPr/>
        </p:nvSpPr>
        <p:spPr>
          <a:xfrm>
            <a:off x="3785616" y="3108960"/>
            <a:ext cx="1508760" cy="1463040"/>
          </a:xfrm>
          <a:prstGeom prst="rect">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18"/>
          <p:cNvSpPr/>
          <p:nvPr/>
        </p:nvSpPr>
        <p:spPr>
          <a:xfrm>
            <a:off x="3785616" y="3108960"/>
            <a:ext cx="150876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Q3  Subgroup Error Measurement</a:t>
            </a:r>
            <a:endParaRPr sz="950">
              <a:solidFill>
                <a:schemeClr val="dk1"/>
              </a:solidFill>
              <a:latin typeface="Calibri"/>
              <a:ea typeface="Calibri"/>
              <a:cs typeface="Calibri"/>
              <a:sym typeface="Calibri"/>
            </a:endParaRPr>
          </a:p>
        </p:txBody>
      </p:sp>
      <p:sp>
        <p:nvSpPr>
          <p:cNvPr id="475" name="Google Shape;475;p18"/>
          <p:cNvSpPr/>
          <p:nvPr/>
        </p:nvSpPr>
        <p:spPr>
          <a:xfrm>
            <a:off x="5449824" y="3108960"/>
            <a:ext cx="1508760" cy="1463040"/>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6" name="Google Shape;476;p18"/>
          <p:cNvSpPr/>
          <p:nvPr/>
        </p:nvSpPr>
        <p:spPr>
          <a:xfrm>
            <a:off x="5449824" y="3108960"/>
            <a:ext cx="150876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Q4  Residual Risks</a:t>
            </a:r>
            <a:endParaRPr sz="950">
              <a:solidFill>
                <a:schemeClr val="dk1"/>
              </a:solidFill>
              <a:latin typeface="Calibri"/>
              <a:ea typeface="Calibri"/>
              <a:cs typeface="Calibri"/>
              <a:sym typeface="Calibri"/>
            </a:endParaRPr>
          </a:p>
        </p:txBody>
      </p:sp>
      <p:sp>
        <p:nvSpPr>
          <p:cNvPr id="477" name="Google Shape;477;p18"/>
          <p:cNvSpPr/>
          <p:nvPr/>
        </p:nvSpPr>
        <p:spPr>
          <a:xfrm>
            <a:off x="7114032" y="3108960"/>
            <a:ext cx="1508760" cy="1463040"/>
          </a:xfrm>
          <a:prstGeom prst="rect">
            <a:avLst/>
          </a:prstGeom>
          <a:solidFill>
            <a:srgbClr val="1A7A4A"/>
          </a:solidFill>
          <a:ln cap="flat" cmpd="sng" w="12700">
            <a:solidFill>
              <a:srgbClr val="1A7A4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18"/>
          <p:cNvSpPr/>
          <p:nvPr/>
        </p:nvSpPr>
        <p:spPr>
          <a:xfrm>
            <a:off x="7114032" y="3108960"/>
            <a:ext cx="150876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US" sz="950">
                <a:solidFill>
                  <a:srgbClr val="FFFFFF"/>
                </a:solidFill>
                <a:latin typeface="Calibri"/>
                <a:ea typeface="Calibri"/>
                <a:cs typeface="Calibri"/>
                <a:sym typeface="Calibri"/>
              </a:rPr>
              <a:t>Q5  Is Deployment Defensible?</a:t>
            </a:r>
            <a:endParaRPr sz="950">
              <a:solidFill>
                <a:schemeClr val="dk1"/>
              </a:solidFill>
              <a:latin typeface="Calibri"/>
              <a:ea typeface="Calibri"/>
              <a:cs typeface="Calibri"/>
              <a:sym typeface="Calibri"/>
            </a:endParaRPr>
          </a:p>
        </p:txBody>
      </p:sp>
      <p:sp>
        <p:nvSpPr>
          <p:cNvPr id="479" name="Google Shape;479;p18"/>
          <p:cNvSpPr/>
          <p:nvPr/>
        </p:nvSpPr>
        <p:spPr>
          <a:xfrm>
            <a:off x="457200" y="4681728"/>
            <a:ext cx="822960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096A8"/>
              </a:buClr>
              <a:buSzPts val="1100"/>
              <a:buFont typeface="Calibri"/>
              <a:buNone/>
            </a:pPr>
            <a:r>
              <a:rPr i="1" lang="en-US" sz="1100">
                <a:solidFill>
                  <a:srgbClr val="8096A8"/>
                </a:solidFill>
                <a:latin typeface="Calibri"/>
                <a:ea typeface="Calibri"/>
                <a:cs typeface="Calibri"/>
                <a:sym typeface="Calibri"/>
              </a:rPr>
              <a:t>A good audit is not a perfect model. It is a justified model with documented risks.</a:t>
            </a:r>
            <a:endParaRPr sz="11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g3def50e1049_3_51"/>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6" name="Google Shape;486;g3def50e1049_3_51"/>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487" name="Google Shape;487;g3def50e1049_3_51"/>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Sex (GBT Model)</a:t>
            </a:r>
            <a:endParaRPr sz="2600">
              <a:solidFill>
                <a:schemeClr val="dk1"/>
              </a:solidFill>
              <a:latin typeface="Calibri"/>
              <a:ea typeface="Calibri"/>
              <a:cs typeface="Calibri"/>
              <a:sym typeface="Calibri"/>
            </a:endParaRPr>
          </a:p>
        </p:txBody>
      </p:sp>
      <p:sp>
        <p:nvSpPr>
          <p:cNvPr id="488" name="Google Shape;488;g3def50e1049_3_51"/>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graphicFrame>
        <p:nvGraphicFramePr>
          <p:cNvPr id="489" name="Google Shape;489;g3def50e1049_3_51"/>
          <p:cNvGraphicFramePr/>
          <p:nvPr/>
        </p:nvGraphicFramePr>
        <p:xfrm>
          <a:off x="141050" y="1497000"/>
          <a:ext cx="3000000" cy="3000000"/>
        </p:xfrm>
        <a:graphic>
          <a:graphicData uri="http://schemas.openxmlformats.org/drawingml/2006/table">
            <a:tbl>
              <a:tblPr>
                <a:solidFill>
                  <a:srgbClr val="FFFFFF"/>
                </a:solidFill>
                <a:tableStyleId>{DE8012B9-8EC4-40CB-9E28-2F91E47B8B41}</a:tableStyleId>
              </a:tblPr>
              <a:tblGrid>
                <a:gridCol w="729125"/>
                <a:gridCol w="692925"/>
                <a:gridCol w="626700"/>
                <a:gridCol w="878050"/>
                <a:gridCol w="557925"/>
                <a:gridCol w="530475"/>
                <a:gridCol w="676825"/>
                <a:gridCol w="676825"/>
                <a:gridCol w="722550"/>
                <a:gridCol w="567075"/>
                <a:gridCol w="750000"/>
                <a:gridCol w="740850"/>
                <a:gridCol w="612800"/>
              </a:tblGrid>
              <a:tr h="667875">
                <a:tc>
                  <a:txBody>
                    <a:bodyPr/>
                    <a:lstStyle/>
                    <a:p>
                      <a:pPr indent="0" lvl="0" marL="0" rtl="0" algn="ctr">
                        <a:lnSpc>
                          <a:spcPct val="115000"/>
                        </a:lnSpc>
                        <a:spcBef>
                          <a:spcPts val="0"/>
                        </a:spcBef>
                        <a:spcAft>
                          <a:spcPts val="1000"/>
                        </a:spcAft>
                        <a:buClr>
                          <a:schemeClr val="dk1"/>
                        </a:buClr>
                        <a:buSzPts val="1100"/>
                        <a:buFont typeface="Arial"/>
                        <a:buNone/>
                      </a:pPr>
                      <a:r>
                        <a:rPr b="1" lang="en-US" sz="900">
                          <a:solidFill>
                            <a:schemeClr val="dk1"/>
                          </a:solidFill>
                          <a:highlight>
                            <a:schemeClr val="lt1"/>
                          </a:highlight>
                        </a:rPr>
                        <a:t>Group</a:t>
                      </a:r>
                      <a:endParaRPr sz="1300"/>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Reference Group</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Group Category</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Observations</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Percent Missing</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Total</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Favorable</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Percent Favorable</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Percent Difference Favorable</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AIR</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P-Values</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Practically Significant</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900">
                          <a:highlight>
                            <a:srgbClr val="FFFFFF"/>
                          </a:highlight>
                        </a:rPr>
                        <a:t>Shortfall</a:t>
                      </a:r>
                      <a:endParaRPr b="1" sz="900">
                        <a:highlight>
                          <a:srgbClr val="FFFFFF"/>
                        </a:highlight>
                      </a:endParaRPr>
                    </a:p>
                  </a:txBody>
                  <a:tcPr marT="63500" marB="63500" marR="63500" marL="63500" anchor="ctr"/>
                </a:tc>
              </a:tr>
              <a:tr h="567800">
                <a:tc>
                  <a:txBody>
                    <a:bodyPr/>
                    <a:lstStyle/>
                    <a:p>
                      <a:pPr indent="0" lvl="0" marL="0" rtl="0" algn="ctr">
                        <a:lnSpc>
                          <a:spcPct val="115000"/>
                        </a:lnSpc>
                        <a:spcBef>
                          <a:spcPts val="0"/>
                        </a:spcBef>
                        <a:spcAft>
                          <a:spcPts val="1000"/>
                        </a:spcAft>
                        <a:buNone/>
                      </a:pPr>
                      <a:r>
                        <a:rPr b="1" lang="en-US" sz="900">
                          <a:highlight>
                            <a:srgbClr val="FFFFFF"/>
                          </a:highlight>
                        </a:rPr>
                        <a:t>is_Female</a:t>
                      </a:r>
                      <a:endParaRPr b="1"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is_Male</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sex</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792493</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0.0</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319170</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170150</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0.533101</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0.034952</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0.93847</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6.015546e-207</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No</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NaN</a:t>
                      </a:r>
                      <a:endParaRPr sz="900">
                        <a:highlight>
                          <a:srgbClr val="FFFFFF"/>
                        </a:highlight>
                      </a:endParaRPr>
                    </a:p>
                  </a:txBody>
                  <a:tcPr marT="63500" marB="63500" marR="63500" marL="63500" anchor="ctr"/>
                </a:tc>
              </a:tr>
              <a:tr h="406425">
                <a:tc>
                  <a:txBody>
                    <a:bodyPr/>
                    <a:lstStyle/>
                    <a:p>
                      <a:pPr indent="0" lvl="0" marL="0" rtl="0" algn="ctr">
                        <a:lnSpc>
                          <a:spcPct val="115000"/>
                        </a:lnSpc>
                        <a:spcBef>
                          <a:spcPts val="0"/>
                        </a:spcBef>
                        <a:spcAft>
                          <a:spcPts val="1000"/>
                        </a:spcAft>
                        <a:buNone/>
                      </a:pPr>
                      <a:r>
                        <a:rPr b="1" lang="en-US" sz="900">
                          <a:highlight>
                            <a:srgbClr val="FFFFFF"/>
                          </a:highlight>
                        </a:rPr>
                        <a:t>is_Male</a:t>
                      </a:r>
                      <a:endParaRPr b="1" sz="900">
                        <a:highlight>
                          <a:srgbClr val="FFFFFF"/>
                        </a:highlight>
                      </a:endParaRPr>
                    </a:p>
                  </a:txBody>
                  <a:tcPr marT="63500" marB="63500" marR="63500" marL="63500" anchor="ctr"/>
                </a:tc>
                <a:tc>
                  <a:txBody>
                    <a:bodyPr/>
                    <a:lstStyle/>
                    <a:p>
                      <a:pPr indent="0" lvl="0" marL="0" rtl="0" algn="ctr">
                        <a:spcBef>
                          <a:spcPts val="0"/>
                        </a:spcBef>
                        <a:spcAft>
                          <a:spcPts val="0"/>
                        </a:spcAft>
                        <a:buNone/>
                      </a:pPr>
                      <a:r>
                        <a:t/>
                      </a:r>
                      <a:endParaRPr sz="1300"/>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sex</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792493</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0.0</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473323</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268873</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0.568054</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NaN</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NaN</a:t>
                      </a:r>
                      <a:endParaRPr sz="9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NaN</a:t>
                      </a:r>
                      <a:endParaRPr sz="900">
                        <a:highlight>
                          <a:srgbClr val="FFFFFF"/>
                        </a:highlight>
                      </a:endParaRPr>
                    </a:p>
                  </a:txBody>
                  <a:tcPr marT="63500" marB="63500" marR="63500" marL="63500" anchor="ctr"/>
                </a:tc>
                <a:tc>
                  <a:txBody>
                    <a:bodyPr/>
                    <a:lstStyle/>
                    <a:p>
                      <a:pPr indent="0" lvl="0" marL="0" rtl="0" algn="ctr">
                        <a:spcBef>
                          <a:spcPts val="0"/>
                        </a:spcBef>
                        <a:spcAft>
                          <a:spcPts val="0"/>
                        </a:spcAft>
                        <a:buNone/>
                      </a:pPr>
                      <a:r>
                        <a:t/>
                      </a:r>
                      <a:endParaRPr sz="1300"/>
                    </a:p>
                  </a:txBody>
                  <a:tcPr marT="63500" marB="63500" marR="63500" marL="63500" anchor="ctr"/>
                </a:tc>
                <a:tc>
                  <a:txBody>
                    <a:bodyPr/>
                    <a:lstStyle/>
                    <a:p>
                      <a:pPr indent="0" lvl="0" marL="0" rtl="0" algn="ctr">
                        <a:lnSpc>
                          <a:spcPct val="115000"/>
                        </a:lnSpc>
                        <a:spcBef>
                          <a:spcPts val="0"/>
                        </a:spcBef>
                        <a:spcAft>
                          <a:spcPts val="1000"/>
                        </a:spcAft>
                        <a:buNone/>
                      </a:pPr>
                      <a:r>
                        <a:rPr lang="en-US" sz="900">
                          <a:highlight>
                            <a:srgbClr val="FFFFFF"/>
                          </a:highlight>
                        </a:rPr>
                        <a:t>NaN</a:t>
                      </a:r>
                      <a:endParaRPr sz="900">
                        <a:highlight>
                          <a:srgbClr val="FFFFFF"/>
                        </a:highlight>
                      </a:endParaRPr>
                    </a:p>
                  </a:txBody>
                  <a:tcPr marT="63500" marB="63500" marR="63500" marL="63500" anchor="ct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g3def50e1049_3_72"/>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6" name="Google Shape;496;g3def50e1049_3_72"/>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497" name="Google Shape;497;g3def50e1049_3_72"/>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Age (GBT Model)</a:t>
            </a:r>
            <a:endParaRPr sz="2600">
              <a:solidFill>
                <a:schemeClr val="dk1"/>
              </a:solidFill>
              <a:latin typeface="Calibri"/>
              <a:ea typeface="Calibri"/>
              <a:cs typeface="Calibri"/>
              <a:sym typeface="Calibri"/>
            </a:endParaRPr>
          </a:p>
        </p:txBody>
      </p:sp>
      <p:sp>
        <p:nvSpPr>
          <p:cNvPr id="498" name="Google Shape;498;g3def50e1049_3_72"/>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graphicFrame>
        <p:nvGraphicFramePr>
          <p:cNvPr id="499" name="Google Shape;499;g3def50e1049_3_72"/>
          <p:cNvGraphicFramePr/>
          <p:nvPr/>
        </p:nvGraphicFramePr>
        <p:xfrm>
          <a:off x="82575" y="1302325"/>
          <a:ext cx="3000000" cy="3000000"/>
        </p:xfrm>
        <a:graphic>
          <a:graphicData uri="http://schemas.openxmlformats.org/drawingml/2006/table">
            <a:tbl>
              <a:tblPr>
                <a:solidFill>
                  <a:srgbClr val="FFFFFF"/>
                </a:solidFill>
                <a:tableStyleId>{DE8012B9-8EC4-40CB-9E28-2F91E47B8B41}</a:tableStyleId>
              </a:tblPr>
              <a:tblGrid>
                <a:gridCol w="651000"/>
                <a:gridCol w="742775"/>
                <a:gridCol w="699600"/>
                <a:gridCol w="683725"/>
                <a:gridCol w="626300"/>
                <a:gridCol w="515200"/>
                <a:gridCol w="665575"/>
                <a:gridCol w="677900"/>
                <a:gridCol w="711800"/>
                <a:gridCol w="748975"/>
                <a:gridCol w="874950"/>
                <a:gridCol w="731350"/>
                <a:gridCol w="732300"/>
              </a:tblGrid>
              <a:tr h="683825">
                <a:tc>
                  <a:txBody>
                    <a:bodyPr/>
                    <a:lstStyle/>
                    <a:p>
                      <a:pPr indent="0" lvl="0" marL="0" rtl="0" algn="ctr">
                        <a:spcBef>
                          <a:spcPts val="0"/>
                        </a:spcBef>
                        <a:spcAft>
                          <a:spcPts val="0"/>
                        </a:spcAft>
                        <a:buNone/>
                      </a:pPr>
                      <a:r>
                        <a:rPr b="1" lang="en-US" sz="800"/>
                        <a:t>Group</a:t>
                      </a:r>
                      <a:endParaRPr b="1" sz="800"/>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Reference Group</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Group Category</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Observations</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Percent Missing</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Total</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Favorable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Percent Favorable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Percent Difference Favorable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AIR</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P-Values</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Practically Significant</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b="1" lang="en-US" sz="800">
                          <a:highlight>
                            <a:srgbClr val="FFFFFF"/>
                          </a:highlight>
                        </a:rPr>
                        <a:t>Shortfall</a:t>
                      </a:r>
                      <a:endParaRPr b="1"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is_25-34</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160916</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115592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0.718338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-0.209808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1.412579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is_35-44</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191809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114297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0.595890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-0.087361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1.171791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is_55-64</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132772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59394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0.447338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0.061191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0.879671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1.626504e-245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is_65-74</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73170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28070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0.383627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0.124902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0.754386</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9139.073106</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is_&lt;25</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33130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24977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0.753909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-0.245380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1.482528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is_&gt;74</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29986</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9882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0.329554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0.178975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0.648053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5366.753125</a:t>
                      </a:r>
                      <a:endParaRPr sz="800">
                        <a:highlight>
                          <a:srgbClr val="FFFFFF"/>
                        </a:highlight>
                      </a:endParaRPr>
                    </a:p>
                  </a:txBody>
                  <a:tcPr marT="63500" marB="63500" marR="63500" marL="63500" anchor="ctr"/>
                </a:tc>
              </a:tr>
              <a:tr h="370575">
                <a:tc>
                  <a:txBody>
                    <a:bodyPr/>
                    <a:lstStyle/>
                    <a:p>
                      <a:pPr indent="0" lvl="0" marL="0" rtl="0" algn="ctr">
                        <a:lnSpc>
                          <a:spcPct val="115000"/>
                        </a:lnSpc>
                        <a:spcBef>
                          <a:spcPts val="0"/>
                        </a:spcBef>
                        <a:spcAft>
                          <a:spcPts val="1000"/>
                        </a:spcAft>
                        <a:buNone/>
                      </a:pPr>
                      <a:r>
                        <a:rPr b="1" lang="en-US" sz="800">
                          <a:highlight>
                            <a:srgbClr val="FFFFFF"/>
                          </a:highlight>
                        </a:rPr>
                        <a:t>is_45-54</a:t>
                      </a:r>
                      <a:endParaRPr b="1" sz="800">
                        <a:highlight>
                          <a:srgbClr val="FFFFFF"/>
                        </a:highlight>
                      </a:endParaRPr>
                    </a:p>
                  </a:txBody>
                  <a:tcPr marT="63500" marB="63500" marR="63500" marL="63500" anchor="ctr"/>
                </a:tc>
                <a:tc>
                  <a:txBody>
                    <a:bodyPr/>
                    <a:lstStyle/>
                    <a:p>
                      <a:pPr indent="0" lvl="0" marL="0" rtl="0" algn="ctr">
                        <a:spcBef>
                          <a:spcPts val="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age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170710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86811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0.508529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c>
                  <a:txBody>
                    <a:bodyPr/>
                    <a:lstStyle/>
                    <a:p>
                      <a:pPr indent="0" lvl="0" marL="0" rtl="0" algn="ctr">
                        <a:spcBef>
                          <a:spcPts val="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bl>
          </a:graphicData>
        </a:graphic>
      </p:graphicFrame>
      <p:sp>
        <p:nvSpPr>
          <p:cNvPr id="500" name="Google Shape;500;g3def50e1049_3_72"/>
          <p:cNvSpPr txBox="1"/>
          <p:nvPr/>
        </p:nvSpPr>
        <p:spPr>
          <a:xfrm>
            <a:off x="430900" y="4286250"/>
            <a:ext cx="6096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g3def50e1049_3_86"/>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7" name="Google Shape;507;g3def50e1049_3_86"/>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08" name="Google Shape;508;g3def50e1049_3_86"/>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Race and Sex (GBT Model)</a:t>
            </a:r>
            <a:endParaRPr sz="2600">
              <a:solidFill>
                <a:schemeClr val="dk1"/>
              </a:solidFill>
              <a:latin typeface="Calibri"/>
              <a:ea typeface="Calibri"/>
              <a:cs typeface="Calibri"/>
              <a:sym typeface="Calibri"/>
            </a:endParaRPr>
          </a:p>
        </p:txBody>
      </p:sp>
      <p:sp>
        <p:nvSpPr>
          <p:cNvPr id="509" name="Google Shape;509;g3def50e1049_3_86"/>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sp>
        <p:nvSpPr>
          <p:cNvPr id="510" name="Google Shape;510;g3def50e1049_3_86"/>
          <p:cNvSpPr txBox="1"/>
          <p:nvPr/>
        </p:nvSpPr>
        <p:spPr>
          <a:xfrm>
            <a:off x="280150" y="4099325"/>
            <a:ext cx="5478600" cy="975600"/>
          </a:xfrm>
          <a:prstGeom prst="rect">
            <a:avLst/>
          </a:prstGeom>
          <a:noFill/>
          <a:ln>
            <a:noFill/>
          </a:ln>
        </p:spPr>
        <p:txBody>
          <a:bodyPr anchorCtr="0" anchor="t" bIns="91425" lIns="91425" spcFirstLastPara="1" rIns="91425" wrap="square" tIns="91425">
            <a:spAutoFit/>
          </a:bodyPr>
          <a:lstStyle/>
          <a:p>
            <a:pPr indent="0" lvl="0" marL="0" rtl="0" algn="l">
              <a:lnSpc>
                <a:spcPct val="130770"/>
              </a:lnSpc>
              <a:spcBef>
                <a:spcPts val="0"/>
              </a:spcBef>
              <a:spcAft>
                <a:spcPts val="0"/>
              </a:spcAft>
              <a:buNone/>
            </a:pPr>
            <a:r>
              <a:t/>
            </a:r>
            <a:endParaRPr/>
          </a:p>
          <a:p>
            <a:pPr indent="0" lvl="0" marL="0" rtl="0" algn="l">
              <a:spcBef>
                <a:spcPts val="0"/>
              </a:spcBef>
              <a:spcAft>
                <a:spcPts val="0"/>
              </a:spcAft>
              <a:buNone/>
            </a:pPr>
            <a:r>
              <a:t/>
            </a:r>
            <a:endParaRPr sz="1000">
              <a:solidFill>
                <a:schemeClr val="dk1"/>
              </a:solidFill>
              <a:highlight>
                <a:srgbClr val="FFFFFF"/>
              </a:highlight>
              <a:latin typeface="Courier New"/>
              <a:ea typeface="Courier New"/>
              <a:cs typeface="Courier New"/>
              <a:sym typeface="Courier New"/>
            </a:endParaRPr>
          </a:p>
          <a:p>
            <a:pPr indent="0" lvl="0" marL="0" rtl="0" algn="l">
              <a:lnSpc>
                <a:spcPct val="130770"/>
              </a:lnSpc>
              <a:spcBef>
                <a:spcPts val="0"/>
              </a:spcBef>
              <a:spcAft>
                <a:spcPts val="0"/>
              </a:spcAft>
              <a:buNone/>
            </a:pPr>
            <a:r>
              <a:rPr lang="en-US" sz="1000">
                <a:solidFill>
                  <a:schemeClr val="dk1"/>
                </a:solidFill>
                <a:highlight>
                  <a:srgbClr val="FFFFFF"/>
                </a:highlight>
                <a:latin typeface="Courier New"/>
                <a:ea typeface="Courier New"/>
                <a:cs typeface="Courier New"/>
                <a:sym typeface="Courier New"/>
              </a:rPr>
              <a:t>The intersectional group (n&gt;=30) with the worst GBT Model AIR is is_Native Hawaiian or Other Pacific Islander / Female at 0.803.</a:t>
            </a:r>
            <a:endParaRPr sz="1000">
              <a:solidFill>
                <a:schemeClr val="dk1"/>
              </a:solidFill>
              <a:highlight>
                <a:srgbClr val="FFFFFF"/>
              </a:highlight>
              <a:latin typeface="Courier New"/>
              <a:ea typeface="Courier New"/>
              <a:cs typeface="Courier New"/>
              <a:sym typeface="Courier New"/>
            </a:endParaRPr>
          </a:p>
        </p:txBody>
      </p:sp>
      <p:graphicFrame>
        <p:nvGraphicFramePr>
          <p:cNvPr id="511" name="Google Shape;511;g3def50e1049_3_86"/>
          <p:cNvGraphicFramePr/>
          <p:nvPr/>
        </p:nvGraphicFramePr>
        <p:xfrm>
          <a:off x="38" y="1188875"/>
          <a:ext cx="3000000" cy="3000000"/>
        </p:xfrm>
        <a:graphic>
          <a:graphicData uri="http://schemas.openxmlformats.org/drawingml/2006/table">
            <a:tbl>
              <a:tblPr>
                <a:solidFill>
                  <a:srgbClr val="FFFFFF"/>
                </a:solidFill>
                <a:tableStyleId>{DE8012B9-8EC4-40CB-9E28-2F91E47B8B41}</a:tableStyleId>
              </a:tblPr>
              <a:tblGrid>
                <a:gridCol w="1416000"/>
                <a:gridCol w="667175"/>
                <a:gridCol w="801900"/>
                <a:gridCol w="531575"/>
                <a:gridCol w="552025"/>
                <a:gridCol w="533225"/>
                <a:gridCol w="616300"/>
                <a:gridCol w="908800"/>
                <a:gridCol w="645300"/>
                <a:gridCol w="558650"/>
                <a:gridCol w="815725"/>
                <a:gridCol w="685850"/>
                <a:gridCol w="411450"/>
              </a:tblGrid>
              <a:tr h="299550">
                <a:tc>
                  <a:txBody>
                    <a:bodyPr/>
                    <a:lstStyle/>
                    <a:p>
                      <a:pPr indent="0" lvl="0" marL="0" rtl="0" algn="ctr">
                        <a:lnSpc>
                          <a:spcPct val="115000"/>
                        </a:lnSpc>
                        <a:spcBef>
                          <a:spcPts val="0"/>
                        </a:spcBef>
                        <a:spcAft>
                          <a:spcPts val="1000"/>
                        </a:spcAft>
                        <a:buNone/>
                      </a:pPr>
                      <a:r>
                        <a:rPr b="1" lang="en-US" sz="800">
                          <a:highlight>
                            <a:srgbClr val="FFFFFF"/>
                          </a:highlight>
                        </a:rPr>
                        <a:t>Group</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Reference Group</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Group Category</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Observations</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Percent Missing</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Total</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Favorable</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Percent Favorable</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b="1" lang="en-US" sz="800">
                          <a:solidFill>
                            <a:schemeClr val="dk1"/>
                          </a:solidFill>
                          <a:highlight>
                            <a:schemeClr val="lt1"/>
                          </a:highlight>
                        </a:rPr>
                        <a:t>Percent Difference Favorable</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b="1" lang="en-US" sz="800">
                          <a:solidFill>
                            <a:schemeClr val="dk1"/>
                          </a:solidFill>
                          <a:highlight>
                            <a:schemeClr val="lt1"/>
                          </a:highlight>
                        </a:rPr>
                        <a:t>AIR</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b="1" lang="en-US" sz="800">
                          <a:solidFill>
                            <a:schemeClr val="dk1"/>
                          </a:solidFill>
                          <a:highlight>
                            <a:schemeClr val="lt1"/>
                          </a:highlight>
                        </a:rPr>
                        <a:t>P-Values</a:t>
                      </a:r>
                      <a:endParaRPr sz="1200"/>
                    </a:p>
                  </a:txBody>
                  <a:tcPr marT="63500" marB="63500" marR="63500" marL="63500" anchor="ctr"/>
                </a:tc>
                <a:tc>
                  <a:txBody>
                    <a:bodyPr/>
                    <a:lstStyle/>
                    <a:p>
                      <a:pPr indent="0" lvl="0" marL="0" rtl="0" algn="ctr">
                        <a:lnSpc>
                          <a:spcPct val="115000"/>
                        </a:lnSpc>
                        <a:spcBef>
                          <a:spcPts val="0"/>
                        </a:spcBef>
                        <a:spcAft>
                          <a:spcPts val="1000"/>
                        </a:spcAft>
                        <a:buNone/>
                      </a:pPr>
                      <a:r>
                        <a:rPr b="1" lang="en-US" sz="800">
                          <a:solidFill>
                            <a:schemeClr val="dk1"/>
                          </a:solidFill>
                          <a:highlight>
                            <a:schemeClr val="lt1"/>
                          </a:highlight>
                        </a:rPr>
                        <a:t>Practically Significant</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Shortfall</a:t>
                      </a:r>
                      <a:endParaRPr sz="1200"/>
                    </a:p>
                  </a:txBody>
                  <a:tcPr marT="63500" marB="63500" marR="63500" marL="63500" anchor="ctr"/>
                </a:tc>
              </a:tr>
              <a:tr h="516975">
                <a:tc>
                  <a:txBody>
                    <a:bodyPr/>
                    <a:lstStyle/>
                    <a:p>
                      <a:pPr indent="0" lvl="0" marL="0" rtl="0" algn="ctr">
                        <a:lnSpc>
                          <a:spcPct val="115000"/>
                        </a:lnSpc>
                        <a:spcBef>
                          <a:spcPts val="0"/>
                        </a:spcBef>
                        <a:spcAft>
                          <a:spcPts val="1000"/>
                        </a:spcAft>
                        <a:buNone/>
                      </a:pPr>
                      <a:r>
                        <a:rPr b="1" lang="en-US" sz="800">
                          <a:highlight>
                            <a:srgbClr val="FFFFFF"/>
                          </a:highlight>
                        </a:rPr>
                        <a:t>is_Native Hawaiian or Other Pacific Islander / Female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is_White (Non-Hispanic) / 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1034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458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0.442940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0.108365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0.803439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3.352622e-12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516975">
                <a:tc>
                  <a:txBody>
                    <a:bodyPr/>
                    <a:lstStyle/>
                    <a:p>
                      <a:pPr indent="0" lvl="0" marL="0" rtl="0" algn="ctr">
                        <a:lnSpc>
                          <a:spcPct val="115000"/>
                        </a:lnSpc>
                        <a:spcBef>
                          <a:spcPts val="0"/>
                        </a:spcBef>
                        <a:spcAft>
                          <a:spcPts val="1000"/>
                        </a:spcAft>
                        <a:buNone/>
                      </a:pPr>
                      <a:r>
                        <a:rPr b="1" lang="en-US" sz="800">
                          <a:highlight>
                            <a:srgbClr val="FFFFFF"/>
                          </a:highlight>
                        </a:rPr>
                        <a:t>is_Native Hawaiian or Other Pacific Islander / 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is_White (Non-Hispanic) / 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1799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831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0.461923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0.089382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0.837873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3.596517e-14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516975">
                <a:tc>
                  <a:txBody>
                    <a:bodyPr/>
                    <a:lstStyle/>
                    <a:p>
                      <a:pPr indent="0" lvl="0" marL="0" rtl="0" algn="ctr">
                        <a:lnSpc>
                          <a:spcPct val="115000"/>
                        </a:lnSpc>
                        <a:spcBef>
                          <a:spcPts val="0"/>
                        </a:spcBef>
                        <a:spcAft>
                          <a:spcPts val="1000"/>
                        </a:spcAft>
                        <a:buNone/>
                      </a:pPr>
                      <a:r>
                        <a:rPr b="1" lang="en-US" sz="800">
                          <a:highlight>
                            <a:srgbClr val="FFFFFF"/>
                          </a:highlight>
                        </a:rPr>
                        <a:t>is_American Indian or Alaska Native / Female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is_White (Non-Hispanic) / 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3598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1682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0.467482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0.083823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0.847955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1.128493e-23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516975">
                <a:tc>
                  <a:txBody>
                    <a:bodyPr/>
                    <a:lstStyle/>
                    <a:p>
                      <a:pPr indent="0" lvl="0" marL="0" rtl="0" algn="ctr">
                        <a:lnSpc>
                          <a:spcPct val="115000"/>
                        </a:lnSpc>
                        <a:spcBef>
                          <a:spcPts val="0"/>
                        </a:spcBef>
                        <a:spcAft>
                          <a:spcPts val="1000"/>
                        </a:spcAft>
                        <a:buNone/>
                      </a:pPr>
                      <a:r>
                        <a:rPr b="1" lang="en-US" sz="800">
                          <a:highlight>
                            <a:srgbClr val="FFFFFF"/>
                          </a:highlight>
                        </a:rPr>
                        <a:t>is_American Indian or Alaska Native / 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is_White (Non-Hispanic) / 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5834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2839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0.486630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0.064675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0.882688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9.207491e-23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r h="516975">
                <a:tc>
                  <a:txBody>
                    <a:bodyPr/>
                    <a:lstStyle/>
                    <a:p>
                      <a:pPr indent="0" lvl="0" marL="0" rtl="0" algn="ctr">
                        <a:lnSpc>
                          <a:spcPct val="115000"/>
                        </a:lnSpc>
                        <a:spcBef>
                          <a:spcPts val="0"/>
                        </a:spcBef>
                        <a:spcAft>
                          <a:spcPts val="1000"/>
                        </a:spcAft>
                        <a:buNone/>
                      </a:pPr>
                      <a:r>
                        <a:rPr b="1" lang="en-US" sz="800">
                          <a:highlight>
                            <a:srgbClr val="FFFFFF"/>
                          </a:highlight>
                        </a:rPr>
                        <a:t>is_Black or African American / Female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is_White (Non-Hispanic) / 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56156</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28205</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0.502262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0.049043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0.911041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1.572744e-101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No</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NaN</a:t>
                      </a:r>
                      <a:endParaRPr sz="800">
                        <a:highlight>
                          <a:srgbClr val="FFFFFF"/>
                        </a:highlight>
                      </a:endParaRPr>
                    </a:p>
                  </a:txBody>
                  <a:tcPr marT="63500" marB="63500" marR="63500" marL="63500" anchor="ct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g3def50e1049_3_103"/>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8" name="Google Shape;518;g3def50e1049_3_103"/>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19" name="Google Shape;519;g3def50e1049_3_103"/>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Age and Sex (GBT Model)</a:t>
            </a:r>
            <a:endParaRPr sz="2600">
              <a:solidFill>
                <a:schemeClr val="dk1"/>
              </a:solidFill>
              <a:latin typeface="Calibri"/>
              <a:ea typeface="Calibri"/>
              <a:cs typeface="Calibri"/>
              <a:sym typeface="Calibri"/>
            </a:endParaRPr>
          </a:p>
        </p:txBody>
      </p:sp>
      <p:sp>
        <p:nvSpPr>
          <p:cNvPr id="520" name="Google Shape;520;g3def50e1049_3_103"/>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graphicFrame>
        <p:nvGraphicFramePr>
          <p:cNvPr id="521" name="Google Shape;521;g3def50e1049_3_103"/>
          <p:cNvGraphicFramePr/>
          <p:nvPr/>
        </p:nvGraphicFramePr>
        <p:xfrm>
          <a:off x="-4775" y="1406175"/>
          <a:ext cx="3000000" cy="3000000"/>
        </p:xfrm>
        <a:graphic>
          <a:graphicData uri="http://schemas.openxmlformats.org/drawingml/2006/table">
            <a:tbl>
              <a:tblPr>
                <a:solidFill>
                  <a:srgbClr val="FFFFFF"/>
                </a:solidFill>
                <a:tableStyleId>{DE8012B9-8EC4-40CB-9E28-2F91E47B8B41}</a:tableStyleId>
              </a:tblPr>
              <a:tblGrid>
                <a:gridCol w="981075"/>
                <a:gridCol w="638175"/>
                <a:gridCol w="866775"/>
                <a:gridCol w="552450"/>
                <a:gridCol w="567275"/>
                <a:gridCol w="490000"/>
                <a:gridCol w="666750"/>
                <a:gridCol w="714375"/>
                <a:gridCol w="695325"/>
                <a:gridCol w="638175"/>
                <a:gridCol w="884925"/>
                <a:gridCol w="707800"/>
                <a:gridCol w="750425"/>
              </a:tblGrid>
              <a:tr h="266700">
                <a:tc>
                  <a:txBody>
                    <a:bodyPr/>
                    <a:lstStyle/>
                    <a:p>
                      <a:pPr indent="0" lvl="0" marL="0" rtl="0" algn="ctr">
                        <a:lnSpc>
                          <a:spcPct val="115000"/>
                        </a:lnSpc>
                        <a:spcBef>
                          <a:spcPts val="0"/>
                        </a:spcBef>
                        <a:spcAft>
                          <a:spcPts val="1000"/>
                        </a:spcAft>
                        <a:buNone/>
                      </a:pPr>
                      <a:r>
                        <a:rPr b="1" lang="en-US" sz="800">
                          <a:highlight>
                            <a:srgbClr val="FFFFFF"/>
                          </a:highlight>
                        </a:rPr>
                        <a:t>Group</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Reference Group</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Group Category</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Observations</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Percent Missing</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Total</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Favorable</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Percent Favorable</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Percent Difference Favorable</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1000"/>
                        </a:spcAft>
                        <a:buClr>
                          <a:schemeClr val="dk1"/>
                        </a:buClr>
                        <a:buSzPts val="1100"/>
                        <a:buFont typeface="Arial"/>
                        <a:buNone/>
                      </a:pPr>
                      <a:r>
                        <a:rPr b="1" lang="en-US" sz="800">
                          <a:solidFill>
                            <a:schemeClr val="dk1"/>
                          </a:solidFill>
                          <a:highlight>
                            <a:schemeClr val="lt1"/>
                          </a:highlight>
                        </a:rPr>
                        <a:t>AIR</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P-Values</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Practically Significant</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c>
                  <a:txBody>
                    <a:bodyPr/>
                    <a:lstStyle/>
                    <a:p>
                      <a:pPr indent="0" lvl="0" marL="0" rtl="0" algn="ctr">
                        <a:lnSpc>
                          <a:spcPct val="115000"/>
                        </a:lnSpc>
                        <a:spcBef>
                          <a:spcPts val="0"/>
                        </a:spcBef>
                        <a:spcAft>
                          <a:spcPts val="0"/>
                        </a:spcAft>
                        <a:buClr>
                          <a:schemeClr val="dk1"/>
                        </a:buClr>
                        <a:buSzPts val="1100"/>
                        <a:buFont typeface="Arial"/>
                        <a:buNone/>
                      </a:pPr>
                      <a:r>
                        <a:rPr b="1" lang="en-US" sz="800">
                          <a:solidFill>
                            <a:schemeClr val="dk1"/>
                          </a:solidFill>
                          <a:highlight>
                            <a:schemeClr val="lt1"/>
                          </a:highlight>
                        </a:rPr>
                        <a:t>Shortfall</a:t>
                      </a:r>
                      <a:endParaRPr b="1" sz="800">
                        <a:solidFill>
                          <a:schemeClr val="dk1"/>
                        </a:solidFill>
                        <a:highlight>
                          <a:schemeClr val="lt1"/>
                        </a:highlight>
                      </a:endParaRPr>
                    </a:p>
                    <a:p>
                      <a:pPr indent="0" lvl="0" marL="0" rtl="0" algn="ctr">
                        <a:spcBef>
                          <a:spcPts val="1000"/>
                        </a:spcBef>
                        <a:spcAft>
                          <a:spcPts val="0"/>
                        </a:spcAft>
                        <a:buNone/>
                      </a:pPr>
                      <a:r>
                        <a:t/>
                      </a:r>
                      <a:endParaRPr sz="1200"/>
                    </a:p>
                  </a:txBody>
                  <a:tcPr marT="63500" marB="63500" marR="63500" marL="63500" anchor="ctr"/>
                </a:tc>
              </a:tr>
              <a:tr h="409575">
                <a:tc>
                  <a:txBody>
                    <a:bodyPr/>
                    <a:lstStyle/>
                    <a:p>
                      <a:pPr indent="0" lvl="0" marL="0" rtl="0" algn="ctr">
                        <a:lnSpc>
                          <a:spcPct val="115000"/>
                        </a:lnSpc>
                        <a:spcBef>
                          <a:spcPts val="0"/>
                        </a:spcBef>
                        <a:spcAft>
                          <a:spcPts val="1000"/>
                        </a:spcAft>
                        <a:buNone/>
                      </a:pPr>
                      <a:r>
                        <a:rPr b="1" lang="en-US" sz="800">
                          <a:highlight>
                            <a:srgbClr val="FFFFFF"/>
                          </a:highlight>
                        </a:rPr>
                        <a:t>is_&gt;74_Female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is_45-54_Male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16178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5180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0.320188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0.193709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0.623058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3133.828175</a:t>
                      </a:r>
                      <a:endParaRPr sz="800">
                        <a:highlight>
                          <a:srgbClr val="FFFFFF"/>
                        </a:highlight>
                      </a:endParaRPr>
                    </a:p>
                  </a:txBody>
                  <a:tcPr marT="63500" marB="63500" marR="63500" marL="63500" anchor="ctr"/>
                </a:tc>
              </a:tr>
              <a:tr h="409575">
                <a:tc>
                  <a:txBody>
                    <a:bodyPr/>
                    <a:lstStyle/>
                    <a:p>
                      <a:pPr indent="0" lvl="0" marL="0" rtl="0" algn="ctr">
                        <a:lnSpc>
                          <a:spcPct val="115000"/>
                        </a:lnSpc>
                        <a:spcBef>
                          <a:spcPts val="0"/>
                        </a:spcBef>
                        <a:spcAft>
                          <a:spcPts val="1000"/>
                        </a:spcAft>
                        <a:buNone/>
                      </a:pPr>
                      <a:r>
                        <a:rPr b="1" lang="en-US" sz="800">
                          <a:highlight>
                            <a:srgbClr val="FFFFFF"/>
                          </a:highlight>
                        </a:rPr>
                        <a:t>is_&gt;74_Male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is_45-54_Male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13808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4702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0.340527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0.173370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0.662637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2393.891918</a:t>
                      </a:r>
                      <a:endParaRPr sz="800">
                        <a:highlight>
                          <a:srgbClr val="FFFFFF"/>
                        </a:highlight>
                      </a:endParaRPr>
                    </a:p>
                  </a:txBody>
                  <a:tcPr marT="63500" marB="63500" marR="63500" marL="63500" anchor="ctr"/>
                </a:tc>
              </a:tr>
              <a:tr h="409575">
                <a:tc>
                  <a:txBody>
                    <a:bodyPr/>
                    <a:lstStyle/>
                    <a:p>
                      <a:pPr indent="0" lvl="0" marL="0" rtl="0" algn="ctr">
                        <a:lnSpc>
                          <a:spcPct val="115000"/>
                        </a:lnSpc>
                        <a:spcBef>
                          <a:spcPts val="0"/>
                        </a:spcBef>
                        <a:spcAft>
                          <a:spcPts val="1000"/>
                        </a:spcAft>
                        <a:buNone/>
                      </a:pPr>
                      <a:r>
                        <a:rPr b="1" lang="en-US" sz="800">
                          <a:highlight>
                            <a:srgbClr val="FFFFFF"/>
                          </a:highlight>
                        </a:rPr>
                        <a:t>is_65-74_Female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is_45-54_Male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36291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13922</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0.383621</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0.130276</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0.746494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4727.841656</a:t>
                      </a:r>
                      <a:endParaRPr sz="800">
                        <a:highlight>
                          <a:srgbClr val="FFFFFF"/>
                        </a:highlight>
                      </a:endParaRPr>
                    </a:p>
                  </a:txBody>
                  <a:tcPr marT="63500" marB="63500" marR="63500" marL="63500" anchor="ctr"/>
                </a:tc>
              </a:tr>
              <a:tr h="409575">
                <a:tc>
                  <a:txBody>
                    <a:bodyPr/>
                    <a:lstStyle/>
                    <a:p>
                      <a:pPr indent="0" lvl="0" marL="0" rtl="0" algn="ctr">
                        <a:lnSpc>
                          <a:spcPct val="115000"/>
                        </a:lnSpc>
                        <a:spcBef>
                          <a:spcPts val="0"/>
                        </a:spcBef>
                        <a:spcAft>
                          <a:spcPts val="1000"/>
                        </a:spcAft>
                        <a:buNone/>
                      </a:pPr>
                      <a:r>
                        <a:rPr b="1" lang="en-US" sz="800">
                          <a:highlight>
                            <a:srgbClr val="FFFFFF"/>
                          </a:highlight>
                        </a:rPr>
                        <a:t>is_65-74_Male</a:t>
                      </a:r>
                      <a:endParaRPr b="1"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is_45-54_Male</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subgroup</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792493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36879</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14148</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0.383633</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0.130264</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0.746517</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0.000000e+00</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Yes</a:t>
                      </a:r>
                      <a:endParaRPr sz="800">
                        <a:highlight>
                          <a:srgbClr val="FFFFFF"/>
                        </a:highlight>
                      </a:endParaRPr>
                    </a:p>
                  </a:txBody>
                  <a:tcPr marT="63500" marB="63500" marR="63500" marL="63500" anchor="ctr"/>
                </a:tc>
                <a:tc>
                  <a:txBody>
                    <a:bodyPr/>
                    <a:lstStyle/>
                    <a:p>
                      <a:pPr indent="0" lvl="0" marL="0" rtl="0" algn="ctr">
                        <a:lnSpc>
                          <a:spcPct val="115000"/>
                        </a:lnSpc>
                        <a:spcBef>
                          <a:spcPts val="0"/>
                        </a:spcBef>
                        <a:spcAft>
                          <a:spcPts val="1000"/>
                        </a:spcAft>
                        <a:buNone/>
                      </a:pPr>
                      <a:r>
                        <a:rPr lang="en-US" sz="800">
                          <a:highlight>
                            <a:srgbClr val="FFFFFF"/>
                          </a:highlight>
                        </a:rPr>
                        <a:t>4804.013183</a:t>
                      </a:r>
                      <a:endParaRPr sz="800">
                        <a:highlight>
                          <a:srgbClr val="FFFFFF"/>
                        </a:highlight>
                      </a:endParaRPr>
                    </a:p>
                  </a:txBody>
                  <a:tcPr marT="63500" marB="63500" marR="63500" marL="63500" anchor="ct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g3def50e1049_3_126"/>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8" name="Google Shape;528;g3def50e1049_3_126"/>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29" name="Google Shape;529;g3def50e1049_3_126"/>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Disparate Impact Audit: Generalization Gap (GBT Model)</a:t>
            </a:r>
            <a:endParaRPr sz="2600">
              <a:solidFill>
                <a:schemeClr val="dk1"/>
              </a:solidFill>
              <a:latin typeface="Calibri"/>
              <a:ea typeface="Calibri"/>
              <a:cs typeface="Calibri"/>
              <a:sym typeface="Calibri"/>
            </a:endParaRPr>
          </a:p>
        </p:txBody>
      </p:sp>
      <p:sp>
        <p:nvSpPr>
          <p:cNvPr id="530" name="Google Shape;530;g3def50e1049_3_126"/>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graphicFrame>
        <p:nvGraphicFramePr>
          <p:cNvPr id="531" name="Google Shape;531;g3def50e1049_3_126"/>
          <p:cNvGraphicFramePr/>
          <p:nvPr/>
        </p:nvGraphicFramePr>
        <p:xfrm>
          <a:off x="3005138" y="1708150"/>
          <a:ext cx="3000000" cy="3000000"/>
        </p:xfrm>
        <a:graphic>
          <a:graphicData uri="http://schemas.openxmlformats.org/drawingml/2006/table">
            <a:tbl>
              <a:tblPr>
                <a:solidFill>
                  <a:srgbClr val="FFFFFF"/>
                </a:solidFill>
                <a:tableStyleId>{DE8012B9-8EC4-40CB-9E28-2F91E47B8B41}</a:tableStyleId>
              </a:tblPr>
              <a:tblGrid>
                <a:gridCol w="209550"/>
                <a:gridCol w="1047750"/>
                <a:gridCol w="685800"/>
                <a:gridCol w="542925"/>
                <a:gridCol w="647700"/>
              </a:tblGrid>
              <a:tr h="266700">
                <a:tc>
                  <a:txBody>
                    <a:bodyPr/>
                    <a:lstStyle/>
                    <a:p>
                      <a:pPr indent="0" lvl="0" marL="0" rtl="0" algn="l">
                        <a:spcBef>
                          <a:spcPts val="0"/>
                        </a:spcBef>
                        <a:spcAft>
                          <a:spcPts val="0"/>
                        </a:spcAft>
                        <a:buNone/>
                      </a:pPr>
                      <a:r>
                        <a:t/>
                      </a:r>
                      <a:endParaRPr/>
                    </a:p>
                  </a:txBody>
                  <a:tcPr marT="63500" marB="63500" marR="63500" marL="63500" anchor="ctr"/>
                </a:tc>
                <a:tc>
                  <a:txBody>
                    <a:bodyPr/>
                    <a:lstStyle/>
                    <a:p>
                      <a:pPr indent="0" lvl="0" marL="0" rtl="0" algn="r">
                        <a:lnSpc>
                          <a:spcPct val="115000"/>
                        </a:lnSpc>
                        <a:spcBef>
                          <a:spcPts val="0"/>
                        </a:spcBef>
                        <a:spcAft>
                          <a:spcPts val="1000"/>
                        </a:spcAft>
                        <a:buNone/>
                      </a:pPr>
                      <a:r>
                        <a:rPr b="1" lang="en-US" sz="1000">
                          <a:highlight>
                            <a:srgbClr val="FFFFFF"/>
                          </a:highlight>
                        </a:rPr>
                        <a:t>dataset</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b="1" lang="en-US" sz="1000">
                          <a:highlight>
                            <a:srgbClr val="FFFFFF"/>
                          </a:highlight>
                        </a:rPr>
                        <a:t>accuracy</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b="1" lang="en-US" sz="1000">
                          <a:highlight>
                            <a:srgbClr val="FFFFFF"/>
                          </a:highlight>
                        </a:rPr>
                        <a:t>auc</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b="1" lang="en-US" sz="1000">
                          <a:highlight>
                            <a:srgbClr val="FFFFFF"/>
                          </a:highlight>
                        </a:rPr>
                        <a:t>log_loss</a:t>
                      </a:r>
                      <a:endParaRPr b="1" sz="1000">
                        <a:highlight>
                          <a:srgbClr val="FFFFFF"/>
                        </a:highlight>
                      </a:endParaRPr>
                    </a:p>
                  </a:txBody>
                  <a:tcPr marT="63500" marB="63500" marR="63500" marL="63500" anchor="ctr"/>
                </a:tc>
              </a:tr>
              <a:tr h="266700">
                <a:tc>
                  <a:txBody>
                    <a:bodyPr/>
                    <a:lstStyle/>
                    <a:p>
                      <a:pPr indent="0" lvl="0" marL="0" rtl="0" algn="r">
                        <a:lnSpc>
                          <a:spcPct val="115000"/>
                        </a:lnSpc>
                        <a:spcBef>
                          <a:spcPts val="0"/>
                        </a:spcBef>
                        <a:spcAft>
                          <a:spcPts val="1000"/>
                        </a:spcAft>
                        <a:buNone/>
                      </a:pPr>
                      <a:r>
                        <a:rPr b="1" lang="en-US" sz="1000">
                          <a:highlight>
                            <a:srgbClr val="FFFFFF"/>
                          </a:highlight>
                        </a:rPr>
                        <a:t>0</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Train</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0.7087</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0.8383</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0.3942</a:t>
                      </a:r>
                      <a:endParaRPr sz="1000">
                        <a:highlight>
                          <a:srgbClr val="FFFFFF"/>
                        </a:highlight>
                      </a:endParaRPr>
                    </a:p>
                  </a:txBody>
                  <a:tcPr marT="63500" marB="63500" marR="63500" marL="63500" anchor="ctr"/>
                </a:tc>
              </a:tr>
              <a:tr h="266700">
                <a:tc>
                  <a:txBody>
                    <a:bodyPr/>
                    <a:lstStyle/>
                    <a:p>
                      <a:pPr indent="0" lvl="0" marL="0" rtl="0" algn="r">
                        <a:lnSpc>
                          <a:spcPct val="115000"/>
                        </a:lnSpc>
                        <a:spcBef>
                          <a:spcPts val="0"/>
                        </a:spcBef>
                        <a:spcAft>
                          <a:spcPts val="1000"/>
                        </a:spcAft>
                        <a:buNone/>
                      </a:pPr>
                      <a:r>
                        <a:rPr b="1" lang="en-US" sz="1000">
                          <a:highlight>
                            <a:srgbClr val="FFFFFF"/>
                          </a:highlight>
                        </a:rPr>
                        <a:t>1</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Test</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0.7080</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0.8377</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0.3950</a:t>
                      </a:r>
                      <a:endParaRPr sz="1000">
                        <a:highlight>
                          <a:srgbClr val="FFFFFF"/>
                        </a:highlight>
                      </a:endParaRPr>
                    </a:p>
                  </a:txBody>
                  <a:tcPr marT="63500" marB="63500" marR="63500" marL="63500" anchor="ctr"/>
                </a:tc>
              </a:tr>
              <a:tr h="266700">
                <a:tc>
                  <a:txBody>
                    <a:bodyPr/>
                    <a:lstStyle/>
                    <a:p>
                      <a:pPr indent="0" lvl="0" marL="0" rtl="0" algn="r">
                        <a:lnSpc>
                          <a:spcPct val="115000"/>
                        </a:lnSpc>
                        <a:spcBef>
                          <a:spcPts val="0"/>
                        </a:spcBef>
                        <a:spcAft>
                          <a:spcPts val="1000"/>
                        </a:spcAft>
                        <a:buNone/>
                      </a:pPr>
                      <a:r>
                        <a:rPr b="1" lang="en-US" sz="1000">
                          <a:highlight>
                            <a:srgbClr val="FFFFFF"/>
                          </a:highlight>
                        </a:rPr>
                        <a:t>2</a:t>
                      </a:r>
                      <a:endParaRPr b="1"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Train - Test Gap</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0.0006</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0.0006</a:t>
                      </a:r>
                      <a:endParaRPr sz="1000">
                        <a:highlight>
                          <a:srgbClr val="FFFFFF"/>
                        </a:highlight>
                      </a:endParaRPr>
                    </a:p>
                  </a:txBody>
                  <a:tcPr marT="63500" marB="63500" marR="63500" marL="63500" anchor="ctr"/>
                </a:tc>
                <a:tc>
                  <a:txBody>
                    <a:bodyPr/>
                    <a:lstStyle/>
                    <a:p>
                      <a:pPr indent="0" lvl="0" marL="0" rtl="0" algn="r">
                        <a:lnSpc>
                          <a:spcPct val="115000"/>
                        </a:lnSpc>
                        <a:spcBef>
                          <a:spcPts val="0"/>
                        </a:spcBef>
                        <a:spcAft>
                          <a:spcPts val="1000"/>
                        </a:spcAft>
                        <a:buNone/>
                      </a:pPr>
                      <a:r>
                        <a:rPr lang="en-US" sz="1000">
                          <a:highlight>
                            <a:srgbClr val="FFFFFF"/>
                          </a:highlight>
                        </a:rPr>
                        <a:t>0.0007</a:t>
                      </a:r>
                      <a:endParaRPr sz="1000">
                        <a:highlight>
                          <a:srgbClr val="FFFFFF"/>
                        </a:highlight>
                      </a:endParaRPr>
                    </a:p>
                  </a:txBody>
                  <a:tcPr marT="63500" marB="63500" marR="63500" marL="63500" anchor="ct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g3def50e1049_3_115"/>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g3def50e1049_3_115"/>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39" name="Google Shape;539;g3def50e1049_3_115"/>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Calibration</a:t>
            </a:r>
            <a:r>
              <a:rPr b="1" lang="en-US" sz="2600">
                <a:solidFill>
                  <a:srgbClr val="0D1B2A"/>
                </a:solidFill>
                <a:latin typeface="Calibri"/>
                <a:ea typeface="Calibri"/>
                <a:cs typeface="Calibri"/>
                <a:sym typeface="Calibri"/>
              </a:rPr>
              <a:t> (GBT Model)</a:t>
            </a:r>
            <a:endParaRPr sz="2600">
              <a:solidFill>
                <a:schemeClr val="dk1"/>
              </a:solidFill>
              <a:latin typeface="Calibri"/>
              <a:ea typeface="Calibri"/>
              <a:cs typeface="Calibri"/>
              <a:sym typeface="Calibri"/>
            </a:endParaRPr>
          </a:p>
        </p:txBody>
      </p:sp>
      <p:sp>
        <p:nvSpPr>
          <p:cNvPr id="540" name="Google Shape;540;g3def50e1049_3_115"/>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pic>
        <p:nvPicPr>
          <p:cNvPr id="541" name="Google Shape;541;g3def50e1049_3_115" title="Screenshot 2026-05-06 at 8.00.45 PM.png"/>
          <p:cNvPicPr preferRelativeResize="0"/>
          <p:nvPr/>
        </p:nvPicPr>
        <p:blipFill rotWithShape="1">
          <a:blip r:embed="rId3">
            <a:alphaModFix/>
          </a:blip>
          <a:srcRect b="14741" l="0" r="0" t="0"/>
          <a:stretch/>
        </p:blipFill>
        <p:spPr>
          <a:xfrm>
            <a:off x="70875" y="1440050"/>
            <a:ext cx="4309400" cy="3013300"/>
          </a:xfrm>
          <a:prstGeom prst="rect">
            <a:avLst/>
          </a:prstGeom>
          <a:noFill/>
          <a:ln>
            <a:noFill/>
          </a:ln>
        </p:spPr>
      </p:pic>
      <p:pic>
        <p:nvPicPr>
          <p:cNvPr id="542" name="Google Shape;542;g3def50e1049_3_115" title="Screenshot 2026-05-06 at 8.01.12 PM.png"/>
          <p:cNvPicPr preferRelativeResize="0"/>
          <p:nvPr/>
        </p:nvPicPr>
        <p:blipFill>
          <a:blip r:embed="rId4">
            <a:alphaModFix/>
          </a:blip>
          <a:stretch>
            <a:fillRect/>
          </a:stretch>
        </p:blipFill>
        <p:spPr>
          <a:xfrm>
            <a:off x="4499153" y="1406625"/>
            <a:ext cx="4309397" cy="32538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g3def50e1049_3_140"/>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g3def50e1049_3_140"/>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50" name="Google Shape;550;g3def50e1049_3_140"/>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ICE Curves</a:t>
            </a:r>
            <a:r>
              <a:rPr b="1" lang="en-US" sz="2600">
                <a:solidFill>
                  <a:srgbClr val="0D1B2A"/>
                </a:solidFill>
                <a:latin typeface="Calibri"/>
                <a:ea typeface="Calibri"/>
                <a:cs typeface="Calibri"/>
                <a:sym typeface="Calibri"/>
              </a:rPr>
              <a:t> (GBT Model)</a:t>
            </a:r>
            <a:endParaRPr sz="2600">
              <a:solidFill>
                <a:schemeClr val="dk1"/>
              </a:solidFill>
              <a:latin typeface="Calibri"/>
              <a:ea typeface="Calibri"/>
              <a:cs typeface="Calibri"/>
              <a:sym typeface="Calibri"/>
            </a:endParaRPr>
          </a:p>
        </p:txBody>
      </p:sp>
      <p:sp>
        <p:nvSpPr>
          <p:cNvPr id="551" name="Google Shape;551;g3def50e1049_3_140"/>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pic>
        <p:nvPicPr>
          <p:cNvPr id="552" name="Google Shape;552;g3def50e1049_3_140" title="Screenshot 2026-05-06 at 8.02.55 PM.png"/>
          <p:cNvPicPr preferRelativeResize="0"/>
          <p:nvPr/>
        </p:nvPicPr>
        <p:blipFill>
          <a:blip r:embed="rId3">
            <a:alphaModFix/>
          </a:blip>
          <a:stretch>
            <a:fillRect/>
          </a:stretch>
        </p:blipFill>
        <p:spPr>
          <a:xfrm>
            <a:off x="518938" y="1637775"/>
            <a:ext cx="3940149" cy="2445375"/>
          </a:xfrm>
          <a:prstGeom prst="rect">
            <a:avLst/>
          </a:prstGeom>
          <a:noFill/>
          <a:ln>
            <a:noFill/>
          </a:ln>
        </p:spPr>
      </p:pic>
      <p:pic>
        <p:nvPicPr>
          <p:cNvPr id="553" name="Google Shape;553;g3def50e1049_3_140" title="Screenshot 2026-05-06 at 8.03.43 PM.png"/>
          <p:cNvPicPr preferRelativeResize="0"/>
          <p:nvPr/>
        </p:nvPicPr>
        <p:blipFill>
          <a:blip r:embed="rId4">
            <a:alphaModFix/>
          </a:blip>
          <a:stretch>
            <a:fillRect/>
          </a:stretch>
        </p:blipFill>
        <p:spPr>
          <a:xfrm>
            <a:off x="4923212" y="1637775"/>
            <a:ext cx="3701844" cy="24453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g3def50e1049_3_178"/>
          <p:cNvSpPr/>
          <p:nvPr/>
        </p:nvSpPr>
        <p:spPr>
          <a:xfrm>
            <a:off x="411480" y="201168"/>
            <a:ext cx="2011800" cy="292500"/>
          </a:xfrm>
          <a:prstGeom prst="roundRect">
            <a:avLst>
              <a:gd fmla="val 15625" name="adj"/>
            </a:avLst>
          </a:prstGeom>
          <a:solidFill>
            <a:srgbClr val="E8A020"/>
          </a:solidFill>
          <a:ln cap="flat" cmpd="sng" w="12700">
            <a:solidFill>
              <a:srgbClr val="E8A02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0" name="Google Shape;560;g3def50e1049_3_178"/>
          <p:cNvSpPr/>
          <p:nvPr/>
        </p:nvSpPr>
        <p:spPr>
          <a:xfrm>
            <a:off x="411480" y="201168"/>
            <a:ext cx="20118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lang="en-US" sz="900">
                <a:solidFill>
                  <a:srgbClr val="FFFFFF"/>
                </a:solidFill>
                <a:latin typeface="Calibri"/>
                <a:ea typeface="Calibri"/>
                <a:cs typeface="Calibri"/>
                <a:sym typeface="Calibri"/>
              </a:rPr>
              <a:t>Appendix</a:t>
            </a:r>
            <a:endParaRPr sz="900">
              <a:solidFill>
                <a:schemeClr val="dk1"/>
              </a:solidFill>
              <a:latin typeface="Calibri"/>
              <a:ea typeface="Calibri"/>
              <a:cs typeface="Calibri"/>
              <a:sym typeface="Calibri"/>
            </a:endParaRPr>
          </a:p>
        </p:txBody>
      </p:sp>
      <p:sp>
        <p:nvSpPr>
          <p:cNvPr id="561" name="Google Shape;561;g3def50e1049_3_178"/>
          <p:cNvSpPr/>
          <p:nvPr/>
        </p:nvSpPr>
        <p:spPr>
          <a:xfrm>
            <a:off x="411480" y="566928"/>
            <a:ext cx="8321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2A"/>
              </a:buClr>
              <a:buSzPts val="2600"/>
              <a:buFont typeface="Calibri"/>
              <a:buNone/>
            </a:pPr>
            <a:r>
              <a:rPr b="1" lang="en-US" sz="2600">
                <a:solidFill>
                  <a:srgbClr val="0D1B2A"/>
                </a:solidFill>
                <a:latin typeface="Calibri"/>
                <a:ea typeface="Calibri"/>
                <a:cs typeface="Calibri"/>
                <a:sym typeface="Calibri"/>
              </a:rPr>
              <a:t>SHAP plot</a:t>
            </a:r>
            <a:r>
              <a:rPr b="1" lang="en-US" sz="2600">
                <a:solidFill>
                  <a:srgbClr val="0D1B2A"/>
                </a:solidFill>
                <a:latin typeface="Calibri"/>
                <a:ea typeface="Calibri"/>
                <a:cs typeface="Calibri"/>
                <a:sym typeface="Calibri"/>
              </a:rPr>
              <a:t> (GBT Model)</a:t>
            </a:r>
            <a:endParaRPr sz="2600">
              <a:solidFill>
                <a:schemeClr val="dk1"/>
              </a:solidFill>
              <a:latin typeface="Calibri"/>
              <a:ea typeface="Calibri"/>
              <a:cs typeface="Calibri"/>
              <a:sym typeface="Calibri"/>
            </a:endParaRPr>
          </a:p>
        </p:txBody>
      </p:sp>
      <p:sp>
        <p:nvSpPr>
          <p:cNvPr id="562" name="Google Shape;562;g3def50e1049_3_178"/>
          <p:cNvSpPr/>
          <p:nvPr/>
        </p:nvSpPr>
        <p:spPr>
          <a:xfrm>
            <a:off x="8046720" y="4846320"/>
            <a:ext cx="914400" cy="228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096A8"/>
              </a:buClr>
              <a:buSzPts val="900"/>
              <a:buFont typeface="Calibri"/>
              <a:buNone/>
            </a:pPr>
            <a:r>
              <a:rPr lang="en-US" sz="900">
                <a:solidFill>
                  <a:srgbClr val="8096A8"/>
                </a:solidFill>
                <a:latin typeface="Calibri"/>
                <a:ea typeface="Calibri"/>
                <a:cs typeface="Calibri"/>
                <a:sym typeface="Calibri"/>
              </a:rPr>
              <a:t>1  18</a:t>
            </a:r>
            <a:endParaRPr sz="900">
              <a:solidFill>
                <a:schemeClr val="dk1"/>
              </a:solidFill>
              <a:latin typeface="Calibri"/>
              <a:ea typeface="Calibri"/>
              <a:cs typeface="Calibri"/>
              <a:sym typeface="Calibri"/>
            </a:endParaRPr>
          </a:p>
        </p:txBody>
      </p:sp>
      <p:pic>
        <p:nvPicPr>
          <p:cNvPr id="563" name="Google Shape;563;g3def50e1049_3_178"/>
          <p:cNvPicPr preferRelativeResize="0"/>
          <p:nvPr/>
        </p:nvPicPr>
        <p:blipFill>
          <a:blip r:embed="rId3">
            <a:alphaModFix/>
          </a:blip>
          <a:stretch>
            <a:fillRect/>
          </a:stretch>
        </p:blipFill>
        <p:spPr>
          <a:xfrm>
            <a:off x="2938444" y="1115625"/>
            <a:ext cx="3267157" cy="388605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2026-05-05T20:42:42Z</dcterms:created>
  <dc:creator>PptxGenJS</dc:creator>
</cp:coreProperties>
</file>