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HFf7lq/XCoZxm66eU0sE4/ukM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5292EE-A3C3-4CF4-8DD4-33CBE9CB8450}">
  <a:tblStyle styleId="{775292EE-A3C3-4CF4-8DD4-33CBE9CB84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F3-DB4F-A7A9-81940BFBF3F5}"/>
              </c:ext>
            </c:extLst>
          </c:dPt>
          <c:dPt>
            <c:idx val="1"/>
            <c:invertIfNegative val="0"/>
            <c:bubble3D val="0"/>
            <c:spPr>
              <a:solidFill>
                <a:srgbClr val="3A86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F3-DB4F-A7A9-81940BFBF3F5}"/>
              </c:ext>
            </c:extLst>
          </c:dPt>
          <c:dPt>
            <c:idx val="2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F3-DB4F-A7A9-81940BFBF3F5}"/>
              </c:ext>
            </c:extLst>
          </c:dPt>
          <c:dPt>
            <c:idx val="3"/>
            <c:invertIfNegative val="0"/>
            <c:bubble3D val="0"/>
            <c:spPr>
              <a:solidFill>
                <a:srgbClr val="4A6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F3-DB4F-A7A9-81940BFBF3F5}"/>
              </c:ext>
            </c:extLst>
          </c:dPt>
          <c:dPt>
            <c:idx val="4"/>
            <c:invertIfNegative val="0"/>
            <c:bubble3D val="0"/>
            <c:spPr>
              <a:solidFill>
                <a:srgbClr val="8096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F3-DB4F-A7A9-81940BFBF3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White
(Non-Hisp.)</c:v>
                </c:pt>
                <c:pt idx="1">
                  <c:v>Hispanic</c:v>
                </c:pt>
                <c:pt idx="2">
                  <c:v>Black/AA</c:v>
                </c:pt>
                <c:pt idx="3">
                  <c:v>Asian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61.75</c:v>
                </c:pt>
                <c:pt idx="1">
                  <c:v>15.37</c:v>
                </c:pt>
                <c:pt idx="2">
                  <c:v>13.29</c:v>
                </c:pt>
                <c:pt idx="3">
                  <c:v>8.06</c:v>
                </c:pt>
                <c:pt idx="4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F3-DB4F-A7A9-81940BFBF3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FPR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0.22700000000000001</c:v>
                </c:pt>
                <c:pt idx="1">
                  <c:v>0.186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55-0340-8E99-17D68E4A6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FNR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0.29699999999999999</c:v>
                </c:pt>
                <c:pt idx="1">
                  <c:v>0.318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55-0340-8E99-17D68E4A6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</c:v>
                </c:pt>
              </c:strCache>
            </c:strRef>
          </c:tx>
          <c:spPr>
            <a:solidFill>
              <a:srgbClr val="3A86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C4-C544-A482-D06C7A5B0F0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1C4-C544-A482-D06C7A5B0F0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1C4-C544-A482-D06C7A5B0F05}"/>
              </c:ext>
            </c:extLst>
          </c:dPt>
          <c:dPt>
            <c:idx val="3"/>
            <c:invertIfNegative val="0"/>
            <c:bubble3D val="0"/>
            <c:spPr>
              <a:solidFill>
                <a:srgbClr val="1B6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C4-C544-A482-D06C7A5B0F05}"/>
              </c:ext>
            </c:extLst>
          </c:dPt>
          <c:dPt>
            <c:idx val="4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C4-C544-A482-D06C7A5B0F05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1C4-C544-A482-D06C7A5B0F05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1C4-C544-A482-D06C7A5B0F05}"/>
              </c:ext>
            </c:extLst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
(Ref)</c:v>
                </c:pt>
                <c:pt idx="4">
                  <c:v>55-64</c:v>
                </c:pt>
                <c:pt idx="5">
                  <c:v>65-74</c:v>
                </c:pt>
                <c:pt idx="6">
                  <c:v>&gt;74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1.0509999999999999</c:v>
                </c:pt>
                <c:pt idx="1">
                  <c:v>1.0580000000000001</c:v>
                </c:pt>
                <c:pt idx="2">
                  <c:v>1.0229999999999999</c:v>
                </c:pt>
                <c:pt idx="3">
                  <c:v>1</c:v>
                </c:pt>
                <c:pt idx="4">
                  <c:v>0.97099999999999997</c:v>
                </c:pt>
                <c:pt idx="5">
                  <c:v>0.93400000000000005</c:v>
                </c:pt>
                <c:pt idx="6">
                  <c:v>0.89800000000000002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1C4-C544-A482-D06C7A5B0F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%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8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</c:v>
                </c:pt>
                <c:pt idx="1">
                  <c:v>AK</c:v>
                </c:pt>
                <c:pt idx="2">
                  <c:v>IA</c:v>
                </c:pt>
                <c:pt idx="3">
                  <c:v>ND</c:v>
                </c:pt>
                <c:pt idx="4">
                  <c:v>MN</c:v>
                </c:pt>
                <c:pt idx="5">
                  <c:v>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96.2</c:v>
                </c:pt>
                <c:pt idx="1">
                  <c:v>92.5</c:v>
                </c:pt>
                <c:pt idx="2">
                  <c:v>90.2</c:v>
                </c:pt>
                <c:pt idx="3">
                  <c:v>90.2</c:v>
                </c:pt>
                <c:pt idx="4">
                  <c:v>89.2</c:v>
                </c:pt>
                <c:pt idx="5">
                  <c:v>88.3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5D-5246-A215-22946E66E4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8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MS</c:v>
                </c:pt>
                <c:pt idx="1">
                  <c:v>HI</c:v>
                </c:pt>
                <c:pt idx="2">
                  <c:v>RI</c:v>
                </c:pt>
                <c:pt idx="3">
                  <c:v>LA</c:v>
                </c:pt>
                <c:pt idx="4">
                  <c:v>NY</c:v>
                </c:pt>
                <c:pt idx="5">
                  <c:v>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76.5</c:v>
                </c:pt>
                <c:pt idx="1">
                  <c:v>77.8</c:v>
                </c:pt>
                <c:pt idx="2">
                  <c:v>79.8</c:v>
                </c:pt>
                <c:pt idx="3">
                  <c:v>80.099999999999994</c:v>
                </c:pt>
                <c:pt idx="4">
                  <c:v>80.900000000000006</c:v>
                </c:pt>
                <c:pt idx="5">
                  <c:v>81.5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7D-874C-94DF-238EBD5A85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GBT FPR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White</c:v>
                </c:pt>
                <c:pt idx="1">
                  <c:v>Hispanic</c:v>
                </c:pt>
                <c:pt idx="2">
                  <c:v>Black/AA</c:v>
                </c:pt>
                <c:pt idx="3">
                  <c:v>Asian</c:v>
                </c:pt>
                <c:pt idx="4">
                  <c:v>Am.Indian</c:v>
                </c:pt>
                <c:pt idx="5">
                  <c:v>Nat.Haw.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0.184</c:v>
                </c:pt>
                <c:pt idx="1">
                  <c:v>0.22</c:v>
                </c:pt>
                <c:pt idx="2">
                  <c:v>0.20599999999999999</c:v>
                </c:pt>
                <c:pt idx="3">
                  <c:v>0.25800000000000001</c:v>
                </c:pt>
                <c:pt idx="4">
                  <c:v>0.158</c:v>
                </c:pt>
                <c:pt idx="5">
                  <c:v>0.187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6C-954B-91E9-D660CCF64F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 FPR</c:v>
                </c:pt>
              </c:strCache>
            </c:strRef>
          </c:tx>
          <c:spPr>
            <a:solidFill>
              <a:srgbClr val="3A86C8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White</c:v>
                </c:pt>
                <c:pt idx="1">
                  <c:v>Hispanic</c:v>
                </c:pt>
                <c:pt idx="2">
                  <c:v>Black/AA</c:v>
                </c:pt>
                <c:pt idx="3">
                  <c:v>Asian</c:v>
                </c:pt>
                <c:pt idx="4">
                  <c:v>Am.Indian</c:v>
                </c:pt>
                <c:pt idx="5">
                  <c:v>Nat.Haw.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0.23899999999999999</c:v>
                </c:pt>
                <c:pt idx="1">
                  <c:v>0.24299999999999999</c:v>
                </c:pt>
                <c:pt idx="2">
                  <c:v>0.254</c:v>
                </c:pt>
                <c:pt idx="3">
                  <c:v>0.28299999999999997</c:v>
                </c:pt>
                <c:pt idx="4">
                  <c:v>0.23499999999999999</c:v>
                </c:pt>
                <c:pt idx="5">
                  <c:v>0.22800000000000001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6C-954B-91E9-D660CCF64F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 FPR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White</c:v>
                </c:pt>
                <c:pt idx="1">
                  <c:v>Hispanic</c:v>
                </c:pt>
                <c:pt idx="2">
                  <c:v>Black/AA</c:v>
                </c:pt>
                <c:pt idx="3">
                  <c:v>Asian</c:v>
                </c:pt>
                <c:pt idx="4">
                  <c:v>Am.Indian</c:v>
                </c:pt>
                <c:pt idx="5">
                  <c:v>Nat.Haw.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0.254</c:v>
                </c:pt>
                <c:pt idx="1">
                  <c:v>0.24099999999999999</c:v>
                </c:pt>
                <c:pt idx="2">
                  <c:v>0.23599999999999999</c:v>
                </c:pt>
                <c:pt idx="3">
                  <c:v>0.27300000000000002</c:v>
                </c:pt>
                <c:pt idx="4">
                  <c:v>0.20799999999999999</c:v>
                </c:pt>
                <c:pt idx="5">
                  <c:v>0.23599999999999999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6C-954B-91E9-D660CCF64F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ef50e1049_3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def50e1049_3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ef50e1049_3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ef50e1049_3_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g3def50e1049_3_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def50e1049_3_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ef50e1049_3_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3def50e1049_3_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def50e1049_3_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ef50e1049_3_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g3def50e1049_3_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def50e1049_3_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ef50e1049_3_1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def50e1049_3_1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def50e1049_3_1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ef50e1049_3_1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g3def50e1049_3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def50e1049_3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ef50e1049_3_1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3def50e1049_3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def50e1049_3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ef50e1049_3_1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g3def50e1049_3_1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def50e1049_3_1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C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RESPONSIBLE ML AUDIT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HMDA 2024 Mortgage Approval Model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Predicting loan approval from the 2024 HMDA Loan Application Register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1"/>
          <p:cNvCxnSpPr/>
          <p:nvPr/>
        </p:nvCxnSpPr>
        <p:spPr>
          <a:xfrm>
            <a:off x="2286000" y="278892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Group 6  |  DNSC 6330 Responsible Machine Learning  |  GWU  |  May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Presented to the Internal Review 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11680" y="4160520"/>
            <a:ext cx="1554480" cy="658368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11680" y="416052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931920" y="4160520"/>
            <a:ext cx="1554480" cy="658368"/>
          </a:xfrm>
          <a:prstGeom prst="rect">
            <a:avLst/>
          </a:prstGeom>
          <a:solidFill>
            <a:srgbClr val="3A86C8"/>
          </a:solidFill>
          <a:ln cap="flat" cmpd="sng" w="12700">
            <a:solidFill>
              <a:srgbClr val="3A8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931920" y="416052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852160" y="4160520"/>
            <a:ext cx="1554480" cy="658368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852160" y="416052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Audit Framework: Five Questions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2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1325880"/>
            <a:ext cx="83210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1325880"/>
            <a:ext cx="457200" cy="566928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132588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05840" y="1444752"/>
            <a:ext cx="7726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Optimization Objective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" y="2002536"/>
            <a:ext cx="83210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11480" y="2002536"/>
            <a:ext cx="457200" cy="566928"/>
          </a:xfrm>
          <a:prstGeom prst="rect">
            <a:avLst/>
          </a:prstGeom>
          <a:solidFill>
            <a:srgbClr val="3A86C8"/>
          </a:solidFill>
          <a:ln cap="flat" cmpd="sng" w="12700">
            <a:solidFill>
              <a:srgbClr val="3A8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11480" y="20025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05840" y="2121408"/>
            <a:ext cx="7726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Known Failure Modes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2679192"/>
            <a:ext cx="83210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11480" y="2679192"/>
            <a:ext cx="457200" cy="566928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267919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05840" y="2798064"/>
            <a:ext cx="7726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Subgroup Error Measurement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3355848"/>
            <a:ext cx="83210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3355848"/>
            <a:ext cx="457200" cy="5669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1480" y="335584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05840" y="3474720"/>
            <a:ext cx="7726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Residual Risks After Mitigation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11480" y="4032504"/>
            <a:ext cx="83210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1480" y="4032504"/>
            <a:ext cx="457200" cy="56692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1480" y="40325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05840" y="4151376"/>
            <a:ext cx="7726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Is Deployment Defensible?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HMDA 2024 — Dataset at a Glance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3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1480" y="1261872"/>
            <a:ext cx="1920240" cy="10058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1371600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17M+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1845259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Applications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514600" y="1261872"/>
            <a:ext cx="1920240" cy="1005840"/>
          </a:xfrm>
          <a:prstGeom prst="rect">
            <a:avLst/>
          </a:prstGeom>
          <a:solidFill>
            <a:srgbClr val="1B6CA8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514600" y="1371600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8.66M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514600" y="1845259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Filtering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617720" y="1261872"/>
            <a:ext cx="1920240" cy="1005840"/>
          </a:xfrm>
          <a:prstGeom prst="rect">
            <a:avLst/>
          </a:prstGeom>
          <a:solidFill>
            <a:srgbClr val="3A86C8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617720" y="1371600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74.4%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617720" y="1845259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720840" y="1261872"/>
            <a:ext cx="1920240" cy="1005840"/>
          </a:xfrm>
          <a:prstGeom prst="rect">
            <a:avLst/>
          </a:prstGeom>
          <a:solidFill>
            <a:srgbClr val="4A60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20840" y="1371600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States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720840" y="1845259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Geographic Scope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2450592"/>
            <a:ext cx="40233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94360" y="25420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Label Construction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60" y="29077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action_taken =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331720" y="29077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 Label 1 (Approved)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94360" y="33192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action_taken =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331720" y="33192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 Label 1 (Approved)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94360" y="37307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action_taken =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331720" y="37307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 Label 0 (Denied)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94360" y="414223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4, 5, 6, 7, 8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331720" y="41422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 Excluded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17720" y="2450592"/>
            <a:ext cx="411480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800600" y="25420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Race Breakdown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3"/>
          <p:cNvGraphicFramePr/>
          <p:nvPr/>
        </p:nvGraphicFramePr>
        <p:xfrm>
          <a:off x="4663440" y="2834640"/>
          <a:ext cx="3977640" cy="18288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 OPTIMIZATION OBJECTIVE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Is the Model Optimizing For?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4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11480" y="1261872"/>
            <a:ext cx="416052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94360" y="13716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Primary Metric: AUC-ROC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94360" y="1828800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AUC measures discrimination across all thresholds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" y="2304288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More robust than accuracy under 74/26 class imbalance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4360" y="2779776"/>
            <a:ext cx="3794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Threshold </a:t>
            </a:r>
            <a:r>
              <a:rPr lang="en-US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14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0.80 </a:t>
            </a:r>
            <a:r>
              <a:rPr lang="en-US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to reduce false approvals while monitoring subgroup FNRs</a:t>
            </a:r>
            <a:endParaRPr>
              <a:solidFill>
                <a:srgbClr val="4A6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94350" y="3255278"/>
            <a:ext cx="3794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Business rationale: </a:t>
            </a:r>
            <a:r>
              <a:rPr lang="en-US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lenders need a model that separates likely approvals from denials better than accuracy alone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11480" y="4032504"/>
            <a:ext cx="4160520" cy="736092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94360" y="3755859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⚠  Known Tradeoff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94360" y="4014216"/>
            <a:ext cx="3794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05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Although subgroup AUC differences are modest, Black applicants experience higher false positive rates and denial disparities relative to White applicants.</a:t>
            </a:r>
            <a:endParaRPr sz="1050">
              <a:solidFill>
                <a:srgbClr val="1A28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754880" y="1261872"/>
            <a:ext cx="397764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937760" y="13716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Who Bears the Cost?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754880" y="1874520"/>
            <a:ext cx="3977640" cy="658368"/>
          </a:xfrm>
          <a:prstGeom prst="rect">
            <a:avLst/>
          </a:prstGeom>
          <a:solidFill>
            <a:srgbClr val="EEF4FA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937760" y="1920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Applicants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937760" y="2176272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Denied access to credit if FPR is high for minority groups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54880" y="2624328"/>
            <a:ext cx="39776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937760" y="26700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Lenders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937760" y="292608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Regulatory risk if model violates ECOA or Fair Housing 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54880" y="3374136"/>
            <a:ext cx="3977640" cy="658368"/>
          </a:xfrm>
          <a:prstGeom prst="rect">
            <a:avLst/>
          </a:prstGeom>
          <a:solidFill>
            <a:srgbClr val="EEF4FA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937760" y="341985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Regulators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937760" y="367588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Systemic fair-lending violations if AIR &lt; 0.80 not flagged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54880" y="4123944"/>
            <a:ext cx="39776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937760" y="4169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Community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937760" y="4425696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Redlining if geographic proxies encode race implicitly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f50e1049_3_163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Featured used in Modeling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ef50e1049_3_16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6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g3def50e1049_3_163"/>
          <p:cNvGraphicFramePr/>
          <p:nvPr/>
        </p:nvGraphicFramePr>
        <p:xfrm>
          <a:off x="411480" y="1115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{775292EE-A3C3-4CF4-8DD4-33CBE9CB8450}</a:tableStyleId>
              </a:tblPr>
              <a:tblGrid>
                <a:gridCol w="3520450"/>
                <a:gridCol w="4800650"/>
              </a:tblGrid>
              <a:tr h="24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5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Income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The gross annual income, in thousands of dollars, relied on in making the credit decision, or if a credit decision was not made, the gross annual income relied on in processing the application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Property Value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The value of the property securing the covered loan or, in the case of an application, proposed to secure the covered loan, relied on in making the credit decision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Debt-to-income Ratio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The ratio, as a percentage, of the applicant’s or borrower’s total monthly debt to the total monthly income relied on in making the credit decision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ffies_msa_md_median_family_income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FFIEC Median family income in dollars for the MSA/MD in which the tract is located 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Loan Purpose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The purpose of covered loan or application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Reverse Mortgage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Whether the covered loan or application is for a reverse mortgage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Submission_of_application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Whether the applicant or borrower submitted the application directly to the financial institution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usiness_or_commercial_purpose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Whether the covered loan or application is primarily for a business or commercial purpose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O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ccupany_type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Occupancy type for the dwelling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onstruction_method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Construction method for the dwelling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g3def50e1049_3_163"/>
          <p:cNvSpPr/>
          <p:nvPr/>
        </p:nvSpPr>
        <p:spPr>
          <a:xfrm>
            <a:off x="411480" y="201168"/>
            <a:ext cx="1828800" cy="292500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ef50e1049_3_163"/>
          <p:cNvSpPr/>
          <p:nvPr/>
        </p:nvSpPr>
        <p:spPr>
          <a:xfrm>
            <a:off x="411480" y="20116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 OPTIMIZATION OBJECTIVE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ef50e1049_3_163"/>
          <p:cNvSpPr/>
          <p:nvPr/>
        </p:nvSpPr>
        <p:spPr>
          <a:xfrm>
            <a:off x="4572175" y="676002"/>
            <a:ext cx="4160400" cy="29250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ef50e1049_3_163"/>
          <p:cNvSpPr/>
          <p:nvPr/>
        </p:nvSpPr>
        <p:spPr>
          <a:xfrm>
            <a:off x="4755060" y="399359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⚠  Protected Attributes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ef50e1049_3_163"/>
          <p:cNvSpPr/>
          <p:nvPr/>
        </p:nvSpPr>
        <p:spPr>
          <a:xfrm>
            <a:off x="4755050" y="657723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05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Race, Sex, Applicant Age, Sex Code</a:t>
            </a:r>
            <a:endParaRPr sz="1050">
              <a:solidFill>
                <a:srgbClr val="1A28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 FAILURE MODES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Where the Model Is Expected to Fail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6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5"/>
          <p:cNvGraphicFramePr/>
          <p:nvPr/>
        </p:nvGraphicFramePr>
        <p:xfrm>
          <a:off x="41148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{775292EE-A3C3-4CF4-8DD4-33CBE9CB8450}</a:tableStyleId>
              </a:tblPr>
              <a:tblGrid>
                <a:gridCol w="2179325"/>
                <a:gridCol w="2971800"/>
                <a:gridCol w="2179325"/>
                <a:gridCol w="990600"/>
              </a:tblGrid>
              <a:tr h="6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Failure Type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Trigger Condition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Affected Group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6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0392B"/>
                          </a:solidFill>
                        </a:rPr>
                        <a:t>Subgroup underperformance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Fewer minority training examples; higher variance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/>
                        <a:t>American Indian, Native Hawaiian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0392B"/>
                          </a:solidFill>
                        </a:rPr>
                        <a:t>HIGH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A020"/>
                          </a:solidFill>
                        </a:rPr>
                        <a:t>Input gaming (evasion)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Applicant manipulates income or DTI to cross threshold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Sophisticated applicants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A020"/>
                          </a:solidFill>
                        </a:rPr>
                        <a:t>MEDIUM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A020"/>
                          </a:solidFill>
                        </a:rPr>
                        <a:t>Label-flip data poisoning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Insider flips approval labels in training data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Black applicants targeted in lab sweep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A020"/>
                          </a:solidFill>
                        </a:rPr>
                        <a:t>MEDIUM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7A4A"/>
                          </a:solidFill>
                        </a:rPr>
                        <a:t>Age disparity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Applicants &gt;74 </a:t>
                      </a:r>
                      <a:r>
                        <a:rPr lang="en-US" sz="1200"/>
                        <a:t>are below the threshold of 0.8 relative to applicants aged 45-54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Elderly applicants (&gt;74)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4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7A4A"/>
                          </a:solidFill>
                        </a:rPr>
                        <a:t>LOW–MED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 EXPLAINABILITY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SHAP &amp; LIME: What Drives Predictions?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7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1480" y="1261872"/>
            <a:ext cx="39776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94360" y="13716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LIME — GBT Top Features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94360" y="178308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Black Applicant (P = 0.80</a:t>
            </a:r>
            <a:r>
              <a:rPr b="1" lang="en-US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4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94360" y="2103120"/>
            <a:ext cx="2560320" cy="27432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D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85800" y="213969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loan_purpose_1 ≤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165920" y="213969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−0.174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4360" y="2450592"/>
            <a:ext cx="2560320" cy="274320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E8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85800" y="24871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8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-0.66 &lt; </a:t>
            </a:r>
            <a:r>
              <a:rPr lang="en-US" sz="8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debt_to_income_ratio &lt;= 0.06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165920" y="248716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+0.117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94360" y="2798064"/>
            <a:ext cx="2560320" cy="274320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E8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5800" y="283464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-0.01 &lt; </a:t>
            </a:r>
            <a:r>
              <a:rPr lang="en-US" sz="11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income &lt;= -0.01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165920" y="283464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+0.059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94360" y="3145536"/>
            <a:ext cx="2560320" cy="274320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E8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5800" y="31821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-0.04 &lt; </a:t>
            </a: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property_value &lt;= 0.03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165920" y="31821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+0.043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94360" y="352958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C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White Applicant (P = 0.81</a:t>
            </a:r>
            <a:r>
              <a:rPr b="1" lang="en-US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4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4360" y="3858768"/>
            <a:ext cx="2560320" cy="237744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D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5800" y="38862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loan_purpose_1 ≤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165920" y="38862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−0.161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94360" y="4133088"/>
            <a:ext cx="2560320" cy="237744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E8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85800" y="41605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8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0.06 &lt; </a:t>
            </a:r>
            <a:r>
              <a:rPr lang="en-US" sz="8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debt_to_income_ratio &lt;= 0.61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165920" y="41605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+0.108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94360" y="4407408"/>
            <a:ext cx="2560320" cy="237744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E8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5800" y="44348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income &gt;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165920" y="44348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+0.042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4360" y="4681728"/>
            <a:ext cx="2560320" cy="237744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D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85800" y="47091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100"/>
              <a:buFont typeface="Calibri"/>
              <a:buNone/>
            </a:pPr>
            <a:r>
              <a:rPr lang="en-US" sz="9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property_value &gt; 0.03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165920" y="47091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0" y="1261872"/>
            <a:ext cx="39776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754880" y="137160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Governance Findings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0" y="1828800"/>
            <a:ext cx="73152" cy="86868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773168" y="186537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Same top features, different weights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773168" y="2157984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Black and White applicants share the same top driver (loan purpose) but DTI and property value weights diverge, suggesting different decision logic by group.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0" y="2880360"/>
            <a:ext cx="73152" cy="8686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773168" y="29169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DTI is the dominant risk signal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773168" y="3209544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The most denied applicants in both groups have DTI &gt; 0.61, which LIME confirms contributes −0.37 to approval probability — the single largest feature impact.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0" y="3931920"/>
            <a:ext cx="73152" cy="86868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73168" y="396849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Proxy risk: tract_minority_population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773168" y="4261104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This geographic feature correlates strongly with race and appears in SHAP global importance. Including it as a model feature constitutes potential disparate treatment.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 COUNTERFACTUAL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DiCE: What Would Flip a Denial?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1261872"/>
            <a:ext cx="8321040" cy="630936"/>
          </a:xfrm>
          <a:prstGeom prst="rect">
            <a:avLst/>
          </a:prstGeom>
          <a:solidFill>
            <a:srgbClr val="EEF4FA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94360" y="1261872"/>
            <a:ext cx="79552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DiCE generates counterfactuals: the minimum input changes needed to flip a model's decision. We ran DiCE on the GBT model varying income, DTI, property value, and MSA median family income.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11480" y="2112264"/>
            <a:ext cx="8321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11480" y="2112264"/>
            <a:ext cx="91440" cy="77724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21792" y="2144553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Black Applicant — Approved (P=0.93</a:t>
            </a: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21792" y="2359939"/>
            <a:ext cx="694944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Model approved at high confidence. No counterfactual needed — DTI in favorable range (0.06–0.61), purchase loan.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315200" y="2219259"/>
            <a:ext cx="132588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N/A — Already Approved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2634813"/>
            <a:ext cx="8321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1480" y="2779776"/>
            <a:ext cx="91440" cy="7772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21792" y="2812065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Black Applicant — Denied (P=0.03</a:t>
            </a: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21792" y="3069655"/>
            <a:ext cx="694944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Denial driven by DTI &gt; 0.61 (−0.37 LIME weight) and low income. Counterfactual: reduce DTI to 40.4% or increase income by ~55k.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0" y="2886771"/>
            <a:ext cx="132588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Reduce DTI or increase income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11480" y="3417308"/>
            <a:ext cx="83210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11480" y="3417308"/>
            <a:ext cx="91440" cy="77724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21792" y="3449597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White Applicant — Approved (P=0.9</a:t>
            </a: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21792" y="3707187"/>
            <a:ext cx="694944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High confidence approval. Same feature profile structure as Black approved applicant — DTI and loan purpose are the key drivers.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315200" y="3524303"/>
            <a:ext cx="132588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N/A — Already Approved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11480" y="4219730"/>
            <a:ext cx="8321040" cy="6675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11480" y="4219730"/>
            <a:ext cx="91440" cy="66751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1792" y="4252019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White Applicant — Denied (P=0.0</a:t>
            </a: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21792" y="4509609"/>
            <a:ext cx="694944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Same denial drivers as Black denied applicant. DTI &gt; 0.61 and income below threshold. Counterfactuals require similar magnitude of change.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315200" y="4326725"/>
            <a:ext cx="1325880" cy="329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Reduce DTI or increase income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 ML SECURITY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Adversarial Attack Surface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1325880"/>
            <a:ext cx="832104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11480" y="1325880"/>
            <a:ext cx="1280160" cy="107899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11480" y="1417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11480" y="18013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Evasion (Input Gaming)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828800" y="1399032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Evasion (Input Gaming)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828800" y="170992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Adversary: Applicant  |  Method: Manipulate income or DTI to cross 0.80 threshold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828800" y="1984248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Finding: GBT: epsilon=0.1 shifts mean approval prob by -0.0054. LR more sensitive to gradient-based perturbation.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11480" y="2514600"/>
            <a:ext cx="832104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11480" y="2514600"/>
            <a:ext cx="1280160" cy="10789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11480" y="26060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11480" y="2990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Label-Flip Poisoning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828800" y="2587752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Label-Flip Poisoning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828800" y="289864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Adversary: Insider / Data Handler  |  Method: Flip approved labels for Black applicants in training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828800" y="3172968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Finding: GBT: 5% poison rate produces delta AUC of only +0.0004 while fairness metrics shift materially — invisible to AUC monitoring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11480" y="3703320"/>
            <a:ext cx="832104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11480" y="3703320"/>
            <a:ext cx="1280160" cy="1078992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11480" y="37947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11480" y="41788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Membership Inference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828800" y="3776472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Membership Inference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828800" y="408736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Adversary: API User  |  Method: Query model to determine if specific applicant was in training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828800" y="4361688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Finding: GBT MI AUC = 0.500, LR MI AUC = 0.500,  no detectable privacy leakage. Near-zero gen gaps prevent exploitation.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Highest operational risk: label-flip poisoning by an insider — invisible to AUC and PSI monitoring. Requires subgroup-level FPR monitoring to detect.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411480" y="20116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Three Models Compared — GBT Selected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11480" y="1261872"/>
            <a:ext cx="2788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A8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11480" y="1261872"/>
            <a:ext cx="2788920" cy="411480"/>
          </a:xfrm>
          <a:prstGeom prst="rect">
            <a:avLst/>
          </a:prstGeom>
          <a:solidFill>
            <a:srgbClr val="3A86C8"/>
          </a:solidFill>
          <a:ln cap="flat" cmpd="sng" w="12700">
            <a:solidFill>
              <a:srgbClr val="3A8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11480" y="1261872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21208" y="17556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21208" y="221284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Test AUC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920240" y="2212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0.781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21208" y="25603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Brier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920240" y="25603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0.145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21208" y="29077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AIR (approval)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920240" y="29077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0.923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21208" y="32552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Gen Gap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920240" y="32552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0.000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21208" y="360273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FPR Black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920240" y="360273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0.254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21208" y="39502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FPR White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920240" y="39502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0.239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21208" y="4315968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Interpretable but lowest AUC; highest Black FPR.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337560" y="1261872"/>
            <a:ext cx="2788920" cy="3566160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337560" y="1261872"/>
            <a:ext cx="2788920" cy="41148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337560" y="1261872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447288" y="17556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447288" y="221284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Test AUC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846320" y="2212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0.838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447288" y="25603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Brier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846320" y="25603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0.122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447288" y="29077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AIR (approval)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846320" y="29077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0.945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447288" y="32552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Gen Gap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846320" y="32552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0.001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447288" y="360273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FPR Black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846320" y="360273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0.206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447288" y="39502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FPR White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846320" y="39502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0.184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447288" y="4315968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GBT selected: highest AUC (0.838), lowest Brier (0.122), and lowest Black FPR (0.206), but residual subgroup gaps remain.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263640" y="1261872"/>
            <a:ext cx="27889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263640" y="1261872"/>
            <a:ext cx="2788920" cy="411480"/>
          </a:xfrm>
          <a:prstGeom prst="rect">
            <a:avLst/>
          </a:prstGeom>
          <a:solidFill>
            <a:srgbClr val="4A6070"/>
          </a:solidFill>
          <a:ln cap="flat" cmpd="sng" w="12700">
            <a:solidFill>
              <a:srgbClr val="4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263640" y="1261872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6373368" y="17556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373368" y="221284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Test AUC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772400" y="2212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0.843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373368" y="25603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Brier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772400" y="25603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0.121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373368" y="29077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AIR (approval)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772400" y="29077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0.938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373368" y="32552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Gen Gap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772400" y="32552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0.001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373368" y="360273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FPR Black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772400" y="360273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0.236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373368" y="39502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FPR White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772400" y="39502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0.254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373368" y="4315968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Strong Brier and gen gap, but higher Black FPR than GBT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GBT selected: strong AUC and Brier, lowest Black FPR, but subgroup gaps remain.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 txBox="1"/>
          <p:nvPr/>
        </p:nvSpPr>
        <p:spPr>
          <a:xfrm>
            <a:off x="8046725" y="1316800"/>
            <a:ext cx="10974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AIR = group protected group approval rate ÷ reference group approval rate .</a:t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Note: Four-fifths rule: </a:t>
            </a:r>
            <a:endParaRPr i="1"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/>
              <a:t>AIR &lt; 0.80 is flagged </a:t>
            </a:r>
            <a:endParaRPr i="1" sz="1000"/>
          </a:p>
        </p:txBody>
      </p:sp>
      <p:sp>
        <p:nvSpPr>
          <p:cNvPr id="320" name="Google Shape;320;p10"/>
          <p:cNvSpPr/>
          <p:nvPr/>
        </p:nvSpPr>
        <p:spPr>
          <a:xfrm>
            <a:off x="411480" y="20116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 SUBGROUP ERRORS — RACE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Race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" name="Google Shape;324;p10"/>
          <p:cNvGraphicFramePr/>
          <p:nvPr/>
        </p:nvGraphicFramePr>
        <p:xfrm>
          <a:off x="411480" y="13167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{775292EE-A3C3-4CF4-8DD4-33CBE9CB8450}</a:tableStyleId>
              </a:tblPr>
              <a:tblGrid>
                <a:gridCol w="2048150"/>
                <a:gridCol w="979550"/>
                <a:gridCol w="1068600"/>
                <a:gridCol w="1068600"/>
                <a:gridCol w="801450"/>
                <a:gridCol w="801450"/>
                <a:gridCol w="8014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Group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N (Test)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Approval Rate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AIR vs White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FPR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FNR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AUC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White (Non-Hispanic)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488,758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53.8%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Reference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0.184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0.359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0.833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Black / African American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105,564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50.8%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0.945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0.206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0.320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0.833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Hispanic or Latino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121,967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58.8%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1.093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0.220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0.257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0.847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Asian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63,939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70.3%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1.308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0.258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0.174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0.864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Am. Indian / AK Native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9,432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47.9%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0.891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0.158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0.340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/>
                        <a:t>0.849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10"/>
          <p:cNvSpPr/>
          <p:nvPr/>
        </p:nvSpPr>
        <p:spPr>
          <a:xfrm>
            <a:off x="411480" y="3950208"/>
            <a:ext cx="4023360" cy="868680"/>
          </a:xfrm>
          <a:prstGeom prst="rect">
            <a:avLst/>
          </a:prstGeom>
          <a:solidFill>
            <a:srgbClr val="FDECEA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617720" y="3950208"/>
            <a:ext cx="4114800" cy="86868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800600" y="4005072"/>
            <a:ext cx="3749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Age &gt;74 AIR = 0.898, above 0.80 but still lower than the 45–54 reference group. The main concern is the &gt;74 female subgroup, where AIR falls below 0.80 </a:t>
            </a: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. GBT age intersectional worst group: &gt;74 Female at AIR 0.623. Requires ECOA review.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94360" y="4005072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Black AIR = 0.945, above the 0.80 threshold. However, Black FPR is higher than White FPR by 2.2pp and statistically significant</a:t>
            </a:r>
            <a:r>
              <a:rPr lang="en-US" sz="10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"/>
          <p:cNvSpPr/>
          <p:nvPr/>
        </p:nvSpPr>
        <p:spPr>
          <a:xfrm>
            <a:off x="411480" y="201168"/>
            <a:ext cx="2056656" cy="292608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11479" y="201168"/>
            <a:ext cx="205665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 SUBGROUP ERRORS — SEX &amp; AGE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Sex and Age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11480" y="1261871"/>
            <a:ext cx="3977640" cy="227685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94360" y="137160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By Sex (GBT Model)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11"/>
          <p:cNvGraphicFramePr/>
          <p:nvPr/>
        </p:nvGraphicFramePr>
        <p:xfrm>
          <a:off x="411480" y="1719071"/>
          <a:ext cx="3977640" cy="172821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41" name="Google Shape;341;p11"/>
          <p:cNvSpPr/>
          <p:nvPr/>
        </p:nvSpPr>
        <p:spPr>
          <a:xfrm>
            <a:off x="594360" y="3634323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Female AIR = 0.958 (above 0.80 threshold). SMD = −10.11. Statistically significant but not practically flagged under current guidelines.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0" y="1261872"/>
            <a:ext cx="41605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754880" y="1371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By Age Group (GBT Model — ref: 45-54)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p11"/>
          <p:cNvGraphicFramePr/>
          <p:nvPr/>
        </p:nvGraphicFramePr>
        <p:xfrm>
          <a:off x="4572000" y="1719072"/>
          <a:ext cx="4160520" cy="17830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45" name="Google Shape;345;p11"/>
          <p:cNvSpPr/>
          <p:nvPr/>
        </p:nvSpPr>
        <p:spPr>
          <a:xfrm>
            <a:off x="4754880" y="3588603"/>
            <a:ext cx="3794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Applicants aged &gt;74 have AIR = 0.898 and SMD = −23.8 (practically significant). ECOA protects against age discrimination — this warrants investigation.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11480" y="4206244"/>
            <a:ext cx="8321040" cy="656693"/>
          </a:xfrm>
          <a:prstGeom prst="rect">
            <a:avLst/>
          </a:prstGeom>
          <a:solidFill>
            <a:srgbClr val="EEF4FA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94360" y="4235610"/>
            <a:ext cx="7955280" cy="215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Intersectional Analysis (Race × Sex)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94360" y="4472525"/>
            <a:ext cx="7955280" cy="356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Intersectional audit confirmed disparities invisible in single-attribute analysis. Combined race and sex subgroups reveal concentrated harm for specific applicant profiles that aggregate metrics would mask.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 GEOGRAPHIC DISPARITY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State-Level Approval Rate Disparities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11480" y="1261872"/>
            <a:ext cx="416052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94360" y="1371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Highest Approval Rate States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" name="Google Shape;360;p12"/>
          <p:cNvGraphicFramePr/>
          <p:nvPr/>
        </p:nvGraphicFramePr>
        <p:xfrm>
          <a:off x="411480" y="1719072"/>
          <a:ext cx="4160520" cy="29260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61" name="Google Shape;361;p12"/>
          <p:cNvSpPr/>
          <p:nvPr/>
        </p:nvSpPr>
        <p:spPr>
          <a:xfrm>
            <a:off x="4663440" y="1261872"/>
            <a:ext cx="40690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846320" y="137160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Lowest Approval Rate States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2"/>
          <p:cNvGraphicFramePr/>
          <p:nvPr/>
        </p:nvGraphicFramePr>
        <p:xfrm>
          <a:off x="4663440" y="1719072"/>
          <a:ext cx="4069080" cy="29260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64" name="Google Shape;364;p12"/>
          <p:cNvSpPr/>
          <p:nvPr/>
        </p:nvSpPr>
        <p:spPr>
          <a:xfrm>
            <a:off x="186012" y="48280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20-point spread across states. MS (76.5%) and HI (77.8%) may reflect lending market structure or concentrated minority populations — warrants deeper geographic audit.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"/>
          <p:cNvSpPr/>
          <p:nvPr/>
        </p:nvSpPr>
        <p:spPr>
          <a:xfrm>
            <a:off x="411480" y="20116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 MODEL PERFORMANCE BY RACE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Three Models: FPR by Race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13"/>
          <p:cNvGraphicFramePr/>
          <p:nvPr/>
        </p:nvGraphicFramePr>
        <p:xfrm>
          <a:off x="411480" y="1298448"/>
          <a:ext cx="8321040" cy="3383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75" name="Google Shape;375;p13"/>
          <p:cNvSpPr/>
          <p:nvPr/>
        </p:nvSpPr>
        <p:spPr>
          <a:xfrm>
            <a:off x="411480" y="4709160"/>
            <a:ext cx="8321040" cy="347472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94360" y="4745736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GBT has the lowest FPR for Black/AA applicants (0.206) across all three models. RF has the lowest for Am. Indian (0.208). LR is highest across most groups.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"/>
          <p:cNvSpPr/>
          <p:nvPr/>
        </p:nvSpPr>
        <p:spPr>
          <a:xfrm>
            <a:off x="411480" y="20116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 ROBUSTNESS &amp; DRIFT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 Stability Under Stress and Drift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11480" y="1261872"/>
            <a:ext cx="1920240" cy="914400"/>
          </a:xfrm>
          <a:prstGeom prst="rect">
            <a:avLst/>
          </a:prstGeom>
          <a:solidFill>
            <a:srgbClr val="1A7A4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11480" y="13533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0.0006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11480" y="17922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GBT Gen Gap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(Train-Test AUC)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423160" y="1261872"/>
            <a:ext cx="1920240" cy="914400"/>
          </a:xfrm>
          <a:prstGeom prst="rect">
            <a:avLst/>
          </a:prstGeom>
          <a:solidFill>
            <a:srgbClr val="1B6CA8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2423160" y="13533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-0.0003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2423160" y="17922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 Gen Gap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434840" y="1261872"/>
            <a:ext cx="1920240" cy="914400"/>
          </a:xfrm>
          <a:prstGeom prst="rect">
            <a:avLst/>
          </a:prstGeom>
          <a:solidFill>
            <a:srgbClr val="4A60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4434840" y="13533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0.0008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434840" y="17922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 Gen Gap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(pending)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446520" y="1261872"/>
            <a:ext cx="1920240" cy="914400"/>
          </a:xfrm>
          <a:prstGeom prst="rect">
            <a:avLst/>
          </a:prstGeom>
          <a:solidFill>
            <a:srgbClr val="1A7A4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446520" y="13533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Stable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6446520" y="17922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PSI — Key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577840" y="2331720"/>
            <a:ext cx="315468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760720" y="242316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Drift Assessment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760720" y="28346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GBT and LR gen gaps near zero — no overfitting detected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5760720" y="3236976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All input features show PSI = 0.0 (Stable) — no covariate shift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5760720" y="363931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DTI most sensitive: avg prediction range 0.73 vs income 0.03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760720" y="4041648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Interest rate environment is primary post-2024 concept drift risk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760720" y="4443984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GBT Brier = 0.122, LR Brier = 0.145 — GBT better calibrated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0" y="2331725"/>
            <a:ext cx="4882479" cy="25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Google Shape;411;p15"/>
          <p:cNvGraphicFramePr/>
          <p:nvPr/>
        </p:nvGraphicFramePr>
        <p:xfrm>
          <a:off x="411480" y="11269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{775292EE-A3C3-4CF4-8DD4-33CBE9CB8450}</a:tableStyleId>
              </a:tblPr>
              <a:tblGrid>
                <a:gridCol w="2194550"/>
                <a:gridCol w="2194550"/>
                <a:gridCol w="2011675"/>
                <a:gridCol w="1920250"/>
              </a:tblGrid>
              <a:tr h="61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Risk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Mitigation Attempted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Outcome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Accepted Residual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6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Racial FPR disparity (GBT Black FPR = 0.206 vs White 0.184)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 selection (GBT outperforms LR/RF on Black FPR); threshold tuning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GBT lowest Black FPR of three models. Gap reduced but not eliminated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Small residual gap accepted. Monitor post-deployment monthly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Proxy discrimination (tract_minority_population_percent)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Feature documented; governance flag added to audit record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Feature retained — predictive value vs harm under review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Requires business necessity justification before deployment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Age disparity &gt;74 (AIR below 0.80 threshold)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Flagged in audit. No model change — ECOA compliance under review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Practically significant. Intersectional worst group AIR = 0.490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Cannot accept — requires legal review before deployment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Concept drift post-2024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PSI and KS monitoring plan; retraining triggers defined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 current drift detected. All PSI = 0.0 (Stable). Forward-looking risk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Accepted with quarterly recalibration schedule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Label-flip poisoning vulnerability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Subgroup FPR monitoring added; data provenance controls recommended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Attack confirmed invisible to AUC (delta = 0.0004 at 5% poison rate)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Residual insider threat — data access controls required</a:t>
                      </a:r>
                      <a:endParaRPr sz="1000"/>
                    </a:p>
                  </a:txBody>
                  <a:tcPr marT="91425" marB="91425" marR="91425" marL="91425">
                    <a:lnL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15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 RESIDUAL RISKS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Remains After Mitigation?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Q4/Q5  MONITORING PLAN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Post-Deployment Monitoring Framework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" name="Google Shape;425;p16"/>
          <p:cNvGraphicFramePr/>
          <p:nvPr/>
        </p:nvGraphicFramePr>
        <p:xfrm>
          <a:off x="41148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{775292EE-A3C3-4CF4-8DD4-33CBE9CB8450}</a:tableStyleId>
              </a:tblPr>
              <a:tblGrid>
                <a:gridCol w="1280150"/>
                <a:gridCol w="2560325"/>
                <a:gridCol w="2560325"/>
                <a:gridCol w="12801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Area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Alert Trigger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</a:rPr>
                        <a:t>Fairness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AIR by race and sex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AIR &lt; 0.80 or &gt; 1.25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Monthly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</a:rPr>
                        <a:t>Fairness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FPR disparity by race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FPR gap &gt; 5pp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Monthly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CA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6CA8"/>
                          </a:solidFill>
                        </a:rPr>
                        <a:t>Performance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Test AUC and log loss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AUC drops &gt; 2pp from baseline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Monthly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86C8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A86C8"/>
                          </a:solidFill>
                        </a:rPr>
                        <a:t>Calibration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Brier score by subgroup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Subgroup Brier &gt; 0.20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Quarterly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8A020"/>
                          </a:solidFill>
                        </a:rPr>
                        <a:t>Drift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PSI on income, DTI, property value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PSI &gt; 0.25 on any feature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Monthly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07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A6070"/>
                          </a:solidFill>
                        </a:rPr>
                        <a:t>Security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Subgroup FPR post-retrain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Any &gt; 10% shift from prior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</a:rPr>
                        <a:t>Each retrain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6" name="Google Shape;426;p16"/>
          <p:cNvSpPr/>
          <p:nvPr/>
        </p:nvSpPr>
        <p:spPr>
          <a:xfrm>
            <a:off x="411480" y="4716073"/>
            <a:ext cx="7680960" cy="347471"/>
          </a:xfrm>
          <a:prstGeom prst="rect">
            <a:avLst/>
          </a:prstGeom>
          <a:solidFill>
            <a:srgbClr val="E8F5EC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594360" y="4716072"/>
            <a:ext cx="7452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83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836"/>
                </a:solidFill>
                <a:latin typeface="Calibri"/>
                <a:ea typeface="Calibri"/>
                <a:cs typeface="Calibri"/>
                <a:sym typeface="Calibri"/>
              </a:rPr>
              <a:t>Escalation policy: any fairness alert triggers a 30-day remediation review. Unresolved AIR violations pause deployment. GitHub repo maintained as the audit record.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836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/>
          <p:nvPr/>
        </p:nvSpPr>
        <p:spPr>
          <a:xfrm>
            <a:off x="411480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11480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  DEPLOYMENT DEFENSIBILITY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Deployment Defensible?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17 /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11480" y="1417320"/>
            <a:ext cx="8321040" cy="68580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94360" y="1481328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Recommendation: CONDITIONAL DEPLOYMENT — GBT Model with Active Monitoring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411480" y="2240280"/>
            <a:ext cx="3977640" cy="2606040"/>
          </a:xfrm>
          <a:prstGeom prst="rect">
            <a:avLst/>
          </a:prstGeom>
          <a:solidFill>
            <a:srgbClr val="0D2A1A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94360" y="233172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Defensible — Yes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594360" y="274320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Optimization objective documented with business rationale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94360" y="303580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Failure mode table with trigger conditions and severity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594360" y="332841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AIR, SMD, FPR disparity computed across race, sex, age, state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94360" y="362102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Intersectional analysis completed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594360" y="391363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Robustness and drift testing conducted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594360" y="42062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Monitoring plan with defined alert thresholds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594360" y="449884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8D4B0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98D4B0"/>
                </a:solidFill>
                <a:latin typeface="Calibri"/>
                <a:ea typeface="Calibri"/>
                <a:cs typeface="Calibri"/>
                <a:sym typeface="Calibri"/>
              </a:rPr>
              <a:t>Reproducible GitHub codebase as audit record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4572000" y="2240280"/>
            <a:ext cx="4160520" cy="2606040"/>
          </a:xfrm>
          <a:prstGeom prst="rect">
            <a:avLst/>
          </a:prstGeom>
          <a:solidFill>
            <a:srgbClr val="2A1A0D"/>
          </a:solidFill>
          <a:ln cap="flat" cmpd="sng" w="12700">
            <a:solidFill>
              <a:srgbClr val="D8E4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754880" y="233172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Conditions Required Before Full Deployment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754880" y="274320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C38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F4C38A"/>
                </a:solidFill>
                <a:latin typeface="Calibri"/>
                <a:ea typeface="Calibri"/>
                <a:cs typeface="Calibri"/>
                <a:sym typeface="Calibri"/>
              </a:rPr>
              <a:t>Legal review of &gt;74 female AIR below 0.80 under ECOA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4754880" y="312724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C38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F4C38A"/>
                </a:solidFill>
                <a:latin typeface="Calibri"/>
                <a:ea typeface="Calibri"/>
                <a:cs typeface="Calibri"/>
                <a:sym typeface="Calibri"/>
              </a:rPr>
              <a:t>Business necessity justification for tract_minority_population_percent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4754880" y="3511296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C38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F4C38A"/>
                </a:solidFill>
                <a:latin typeface="Calibri"/>
                <a:ea typeface="Calibri"/>
                <a:cs typeface="Calibri"/>
                <a:sym typeface="Calibri"/>
              </a:rPr>
              <a:t>Data access controls to prevent insider label-flip poisoning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4754880" y="3895344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C38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F4C38A"/>
                </a:solidFill>
                <a:latin typeface="Calibri"/>
                <a:ea typeface="Calibri"/>
                <a:cs typeface="Calibri"/>
                <a:sym typeface="Calibri"/>
              </a:rPr>
              <a:t>RF challenger results documented, but GBT retained due to lower Black FPR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4754880" y="427939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C38A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F4C38A"/>
                </a:solidFill>
                <a:latin typeface="Calibri"/>
                <a:ea typeface="Calibri"/>
                <a:cs typeface="Calibri"/>
                <a:sym typeface="Calibri"/>
              </a:rPr>
              <a:t>Threshold 0.80 validated against lender's risk appetite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Pause deployment if: AIR falls below 0.80  |  Age disparity legal review unresolved  |  Any poisoning attack detected post-launch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8"/>
          <p:cNvCxnSpPr/>
          <p:nvPr/>
        </p:nvCxnSpPr>
        <p:spPr>
          <a:xfrm>
            <a:off x="2286000" y="192024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Group 6  |  DNSC 6330 Responsible Machine Learning  |  GWU  |  May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GitHub Repository: </a:t>
            </a:r>
            <a:r>
              <a:rPr lang="en-US" sz="1200">
                <a:solidFill>
                  <a:srgbClr val="3A86C8"/>
                </a:solidFill>
                <a:latin typeface="Calibri"/>
                <a:ea typeface="Calibri"/>
                <a:cs typeface="Calibri"/>
                <a:sym typeface="Calibri"/>
              </a:rPr>
              <a:t>https://github.com/bek-92/hmda-responsible-ml-audit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57200" y="3108960"/>
            <a:ext cx="1508760" cy="14630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457200" y="3108960"/>
            <a:ext cx="1508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 Optimization Objective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121408" y="3108960"/>
            <a:ext cx="1508760" cy="1463040"/>
          </a:xfrm>
          <a:prstGeom prst="rect">
            <a:avLst/>
          </a:prstGeom>
          <a:solidFill>
            <a:srgbClr val="3A86C8"/>
          </a:solidFill>
          <a:ln cap="flat" cmpd="sng" w="12700">
            <a:solidFill>
              <a:srgbClr val="3A8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121408" y="3108960"/>
            <a:ext cx="1508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 Known Failure Modes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3785616" y="3108960"/>
            <a:ext cx="1508760" cy="146304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3785616" y="3108960"/>
            <a:ext cx="1508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 Subgroup Error Measurement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5449824" y="3108960"/>
            <a:ext cx="1508760" cy="14630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5449824" y="3108960"/>
            <a:ext cx="1508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 Residual Risks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7114032" y="3108960"/>
            <a:ext cx="1508760" cy="146304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7114032" y="3108960"/>
            <a:ext cx="1508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  Is Deployment Defensible?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A good audit is not a perfect model. It is a justified model with documented risks.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ef50e1049_3_51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ef50e1049_3_51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def50e1049_3_51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Sex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ef50e1049_3_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6" name="Google Shape;486;g3def50e1049_3_51"/>
          <p:cNvGraphicFramePr/>
          <p:nvPr/>
        </p:nvGraphicFramePr>
        <p:xfrm>
          <a:off x="141050" y="14970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{775292EE-A3C3-4CF4-8DD4-33CBE9CB8450}</a:tableStyleId>
              </a:tblPr>
              <a:tblGrid>
                <a:gridCol w="729125"/>
                <a:gridCol w="692925"/>
                <a:gridCol w="626700"/>
                <a:gridCol w="878050"/>
                <a:gridCol w="557925"/>
                <a:gridCol w="530475"/>
                <a:gridCol w="676825"/>
                <a:gridCol w="676825"/>
                <a:gridCol w="722550"/>
                <a:gridCol w="567075"/>
                <a:gridCol w="750000"/>
                <a:gridCol w="740850"/>
                <a:gridCol w="612800"/>
              </a:tblGrid>
              <a:tr h="66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Group</a:t>
                      </a:r>
                      <a:endParaRPr sz="13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Reference Group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Group Category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Observations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Percent Missing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Total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Favorable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Percent Favorable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Percent Difference Favorable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AIR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P-Values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Practically Significant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Shortfall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56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is_Female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is_Male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sex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319170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170150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0.533101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0.034952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0.93847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6.015546e-207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900">
                          <a:highlight>
                            <a:srgbClr val="FFFFFF"/>
                          </a:highlight>
                        </a:rPr>
                        <a:t>is_Male</a:t>
                      </a:r>
                      <a:endParaRPr b="1"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sex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473323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268873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0.568054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9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ef50e1049_3_72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def50e1049_3_72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ef50e1049_3_72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Age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def50e1049_3_7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6" name="Google Shape;496;g3def50e1049_3_72"/>
          <p:cNvGraphicFramePr/>
          <p:nvPr/>
        </p:nvGraphicFramePr>
        <p:xfrm>
          <a:off x="82575" y="13023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{775292EE-A3C3-4CF4-8DD4-33CBE9CB8450}</a:tableStyleId>
              </a:tblPr>
              <a:tblGrid>
                <a:gridCol w="651000"/>
                <a:gridCol w="742775"/>
                <a:gridCol w="699600"/>
                <a:gridCol w="683725"/>
                <a:gridCol w="626300"/>
                <a:gridCol w="515200"/>
                <a:gridCol w="665575"/>
                <a:gridCol w="677900"/>
                <a:gridCol w="711800"/>
                <a:gridCol w="748975"/>
                <a:gridCol w="874950"/>
                <a:gridCol w="731350"/>
                <a:gridCol w="732300"/>
              </a:tblGrid>
              <a:tr h="68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Group</a:t>
                      </a:r>
                      <a:endParaRPr b="1" sz="8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Reference Group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Group Category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Observations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Percent Missing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Total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Favorable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Percent Favorable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Percent Difference Favorable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AIR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P-Values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Practically Significant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Shortfall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is_25-34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160916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115592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0.718338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-0.209808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1.412579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is_35-44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191809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114297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0.595890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-0.087361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1.171791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is_55-64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132772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59394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0.447338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0.061191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0.879671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1.626504e-245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is_65-74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73170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28070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0.383627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0.124902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0.754386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9139.073106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is_&lt;25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33130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24977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0.753909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-0.245380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1.482528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is_&gt;74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29986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9882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0.329554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0.178975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0.648053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5366.753125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3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is_45-54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age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170710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86811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0.508529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sp>
        <p:nvSpPr>
          <p:cNvPr id="497" name="Google Shape;497;g3def50e1049_3_72"/>
          <p:cNvSpPr txBox="1"/>
          <p:nvPr/>
        </p:nvSpPr>
        <p:spPr>
          <a:xfrm>
            <a:off x="430900" y="4286250"/>
            <a:ext cx="60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ef50e1049_3_86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ef50e1049_3_86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ef50e1049_3_86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Race and Sex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def50e1049_3_8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def50e1049_3_86"/>
          <p:cNvSpPr txBox="1"/>
          <p:nvPr/>
        </p:nvSpPr>
        <p:spPr>
          <a:xfrm>
            <a:off x="280150" y="4099325"/>
            <a:ext cx="5478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 intersectional group (n&gt;=30) with the worst GBT Model AIR is is_Native Hawaiian or Other Pacific Islander / Female at 0.803.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08" name="Google Shape;508;g3def50e1049_3_86"/>
          <p:cNvGraphicFramePr/>
          <p:nvPr/>
        </p:nvGraphicFramePr>
        <p:xfrm>
          <a:off x="38" y="11888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{775292EE-A3C3-4CF4-8DD4-33CBE9CB8450}</a:tableStyleId>
              </a:tblPr>
              <a:tblGrid>
                <a:gridCol w="1416000"/>
                <a:gridCol w="667175"/>
                <a:gridCol w="801900"/>
                <a:gridCol w="531575"/>
                <a:gridCol w="552025"/>
                <a:gridCol w="533225"/>
                <a:gridCol w="616300"/>
                <a:gridCol w="908800"/>
                <a:gridCol w="645300"/>
                <a:gridCol w="558650"/>
                <a:gridCol w="815725"/>
                <a:gridCol w="685850"/>
                <a:gridCol w="411450"/>
              </a:tblGrid>
              <a:tr h="29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Group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Reference Group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Group Category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Observations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Missing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Total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Favorable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Favorable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Difference Favorable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AIR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P-Values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Practically Significant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Shortfall</a:t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is_Native Hawaiian or Other Pacific Islander / Female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is_White (Non-Hispanic) / 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1034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458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0.442940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0.108365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0.803439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3.352622e-12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is_Native Hawaiian or Other Pacific Islander / 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is_White (Non-Hispanic) / 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1799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831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0.461923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0.089382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0.837873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3.596517e-14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is_American Indian or Alaska Native / Female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is_White (Non-Hispanic) / 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3598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1682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0.467482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0.083823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0.847955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1.128493e-23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is_American Indian or Alaska Native / 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is_White (Non-Hispanic) / 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5834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2839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0.486630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0.064675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0.882688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9.207491e-23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is_Black or African American / Female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is_White (Non-Hispanic) / 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56156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28205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0.502262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0.049043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0.911041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1.572744e-101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No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NaN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ef50e1049_3_103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def50e1049_3_103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def50e1049_3_103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Age and Sex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def50e1049_3_10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g3def50e1049_3_103"/>
          <p:cNvGraphicFramePr/>
          <p:nvPr/>
        </p:nvGraphicFramePr>
        <p:xfrm>
          <a:off x="-4775" y="14061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{775292EE-A3C3-4CF4-8DD4-33CBE9CB8450}</a:tableStyleId>
              </a:tblPr>
              <a:tblGrid>
                <a:gridCol w="981075"/>
                <a:gridCol w="638175"/>
                <a:gridCol w="866775"/>
                <a:gridCol w="552450"/>
                <a:gridCol w="567275"/>
                <a:gridCol w="490000"/>
                <a:gridCol w="666750"/>
                <a:gridCol w="714375"/>
                <a:gridCol w="695325"/>
                <a:gridCol w="638175"/>
                <a:gridCol w="884925"/>
                <a:gridCol w="707800"/>
                <a:gridCol w="750425"/>
              </a:tblGrid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Group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Reference Group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Group Category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Observations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Missing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Total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Favorable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Favorable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Percent Difference Favorable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AIR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P-Values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Practically Significant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Shortfall</a:t>
                      </a:r>
                      <a:endParaRPr b="1"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is_&gt;74_Female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is_45-54_Male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16178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5180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0.320188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0.193709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0.623058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3133.828175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is_&gt;74_Male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is_45-54_Male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13808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4702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0.340527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0.173370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0.662637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2393.891918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is_65-74_Female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is_45-54_Male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36291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13922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0.383621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0.130276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0.746494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4727.841656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800">
                          <a:highlight>
                            <a:srgbClr val="FFFFFF"/>
                          </a:highlight>
                        </a:rPr>
                        <a:t>is_65-74_Male</a:t>
                      </a:r>
                      <a:endParaRPr b="1"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is_45-54_Male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subgroup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792493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36879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14148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0.383633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0.130264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0.746517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0.000000e+00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Yes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highlight>
                            <a:srgbClr val="FFFFFF"/>
                          </a:highlight>
                        </a:rPr>
                        <a:t>4804.013183</a:t>
                      </a:r>
                      <a:endParaRPr sz="8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ef50e1049_3_126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def50e1049_3_126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def50e1049_3_126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Disparate Impact Audit: Generalization Gap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def50e1049_3_12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8" name="Google Shape;528;g3def50e1049_3_126"/>
          <p:cNvGraphicFramePr/>
          <p:nvPr/>
        </p:nvGraphicFramePr>
        <p:xfrm>
          <a:off x="3005138" y="17081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{775292EE-A3C3-4CF4-8DD4-33CBE9CB8450}</a:tableStyleId>
              </a:tblPr>
              <a:tblGrid>
                <a:gridCol w="209550"/>
                <a:gridCol w="1047750"/>
                <a:gridCol w="685800"/>
                <a:gridCol w="542925"/>
                <a:gridCol w="647700"/>
              </a:tblGrid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dataset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accuracy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auc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log_loss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0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Train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0.7087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0.8383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0.3942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1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Test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0.7080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0.8377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0.3950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1000">
                          <a:highlight>
                            <a:srgbClr val="FFFFFF"/>
                          </a:highlight>
                        </a:rPr>
                        <a:t>2</a:t>
                      </a:r>
                      <a:endParaRPr b="1"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Train - Test Gap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0.0006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0.0006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highlight>
                            <a:srgbClr val="FFFFFF"/>
                          </a:highlight>
                        </a:rPr>
                        <a:t>0.0007</a:t>
                      </a:r>
                      <a:endParaRPr sz="1000"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ef50e1049_3_115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def50e1049_3_115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ef50e1049_3_115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def50e1049_3_1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g3def50e1049_3_115" title="Screenshot 2026-05-06 at 8.00.45 PM.png"/>
          <p:cNvPicPr preferRelativeResize="0"/>
          <p:nvPr/>
        </p:nvPicPr>
        <p:blipFill rotWithShape="1">
          <a:blip r:embed="rId3">
            <a:alphaModFix/>
          </a:blip>
          <a:srcRect b="14741" l="0" r="0" t="0"/>
          <a:stretch/>
        </p:blipFill>
        <p:spPr>
          <a:xfrm>
            <a:off x="70875" y="1440050"/>
            <a:ext cx="4309400" cy="30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g3def50e1049_3_115" title="Screenshot 2026-05-06 at 8.01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9153" y="1406625"/>
            <a:ext cx="4309397" cy="32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ef50e1049_3_140"/>
          <p:cNvSpPr/>
          <p:nvPr/>
        </p:nvSpPr>
        <p:spPr>
          <a:xfrm>
            <a:off x="411480" y="201168"/>
            <a:ext cx="2011800" cy="292500"/>
          </a:xfrm>
          <a:prstGeom prst="roundRect">
            <a:avLst>
              <a:gd fmla="val 15625" name="adj"/>
            </a:avLst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def50e1049_3_140"/>
          <p:cNvSpPr/>
          <p:nvPr/>
        </p:nvSpPr>
        <p:spPr>
          <a:xfrm>
            <a:off x="411480" y="201168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def50e1049_3_140"/>
          <p:cNvSpPr/>
          <p:nvPr/>
        </p:nvSpPr>
        <p:spPr>
          <a:xfrm>
            <a:off x="411480" y="56692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ICE Curves</a:t>
            </a: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(GBT Model)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ef50e1049_3_14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96A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096A8"/>
                </a:solidFill>
                <a:latin typeface="Calibri"/>
                <a:ea typeface="Calibri"/>
                <a:cs typeface="Calibri"/>
                <a:sym typeface="Calibri"/>
              </a:rPr>
              <a:t>1  18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g3def50e1049_3_140" title="Screenshot 2026-05-06 at 8.02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38" y="1637775"/>
            <a:ext cx="3940149" cy="24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def50e1049_3_140" title="Screenshot 2026-05-06 at 8.03.4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212" y="1637775"/>
            <a:ext cx="3701844" cy="24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2026-05-05T20:42:42Z</dcterms:created>
  <dc:creator>PptxGenJS</dc:creator>
</cp:coreProperties>
</file>